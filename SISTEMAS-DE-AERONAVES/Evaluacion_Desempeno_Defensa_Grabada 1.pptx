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14"/>
  </p:notesMasterIdLst>
  <p:sldIdLst>
    <p:sldId id="268" r:id="rId2"/>
    <p:sldId id="257" r:id="rId3"/>
    <p:sldId id="269" r:id="rId4"/>
    <p:sldId id="259" r:id="rId5"/>
    <p:sldId id="260" r:id="rId6"/>
    <p:sldId id="261" r:id="rId7"/>
    <p:sldId id="262" r:id="rId8"/>
    <p:sldId id="270" r:id="rId9"/>
    <p:sldId id="264" r:id="rId10"/>
    <p:sldId id="265" r:id="rId11"/>
    <p:sldId id="266" r:id="rId12"/>
    <p:sldId id="271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EBFA"/>
    <a:srgbClr val="5CA2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867106-870C-F04E-095B-AB9B75D5208C}" v="596" dt="2026-06-30T17:59:06.977"/>
    <p1510:client id="{782F9C05-79D7-C8E8-CBB5-87915A94D200}" v="37" dt="2026-06-30T17:43:33.0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25565-F5D1-44D6-B1F9-9AB926E7873F}" type="datetimeFigureOut">
              <a:t>30/06/2026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886AC0-DBBD-469D-A3F2-68DCE7A26A7D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87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47831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14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01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15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432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38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632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1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180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226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039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6178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995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xto&#10;&#10;El contenido generado por IA puede ser incorrecto.">
            <a:extLst>
              <a:ext uri="{FF2B5EF4-FFF2-40B4-BE49-F238E27FC236}">
                <a16:creationId xmlns:a16="http://schemas.microsoft.com/office/drawing/2014/main" id="{0718A195-99CE-CFA6-9900-0BBCBBF991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487782" y="334397"/>
            <a:ext cx="4333966" cy="1989352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D348B6C4-F4FF-FABE-CD4E-6E135BF6492E}"/>
              </a:ext>
            </a:extLst>
          </p:cNvPr>
          <p:cNvSpPr/>
          <p:nvPr/>
        </p:nvSpPr>
        <p:spPr>
          <a:xfrm>
            <a:off x="640080" y="2331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DE DESEMPEÑO</a:t>
            </a:r>
            <a:endParaRPr lang="en-US" sz="4000" dirty="0">
              <a:solidFill>
                <a:srgbClr val="000000"/>
              </a:solidFill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7CA72EF-7A42-6732-D87C-B48DCD97013A}"/>
              </a:ext>
            </a:extLst>
          </p:cNvPr>
          <p:cNvSpPr/>
          <p:nvPr/>
        </p:nvSpPr>
        <p:spPr>
          <a:xfrm>
            <a:off x="64008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Grabada Asincrónica (Formato Video)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B992F9E6-FB40-D10C-D1F1-E8AF50FC6067}"/>
              </a:ext>
            </a:extLst>
          </p:cNvPr>
          <p:cNvSpPr/>
          <p:nvPr/>
        </p:nvSpPr>
        <p:spPr>
          <a:xfrm>
            <a:off x="64008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en Aeronaves - Ingeniería Aeronáutica  •  Grabación individual de 18 minutos máximo</a:t>
            </a:r>
            <a:endParaRPr lang="en-US" sz="1500" dirty="0">
              <a:solidFill>
                <a:srgbClr val="000000"/>
              </a:solidFill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574604F6-C704-A4B1-93E2-4924731540C7}"/>
              </a:ext>
            </a:extLst>
          </p:cNvPr>
          <p:cNvSpPr/>
          <p:nvPr/>
        </p:nvSpPr>
        <p:spPr>
          <a:xfrm>
            <a:off x="640080" y="5166360"/>
            <a:ext cx="341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min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97F7D7D2-5EDC-5199-B9BD-9BD6DC7AB610}"/>
              </a:ext>
            </a:extLst>
          </p:cNvPr>
          <p:cNvSpPr/>
          <p:nvPr/>
        </p:nvSpPr>
        <p:spPr>
          <a:xfrm>
            <a:off x="640080" y="5669280"/>
            <a:ext cx="341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máxima del video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BE78710B-9399-9FE2-01E4-A3CA56085ECB}"/>
              </a:ext>
            </a:extLst>
          </p:cNvPr>
          <p:cNvSpPr/>
          <p:nvPr/>
        </p:nvSpPr>
        <p:spPr>
          <a:xfrm>
            <a:off x="4373880" y="5166360"/>
            <a:ext cx="341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+ 1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39C6CD1-1372-A2DB-63CD-10470173C332}"/>
              </a:ext>
            </a:extLst>
          </p:cNvPr>
          <p:cNvSpPr/>
          <p:nvPr/>
        </p:nvSpPr>
        <p:spPr>
          <a:xfrm>
            <a:off x="4373880" y="5669280"/>
            <a:ext cx="341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personalizadas + Bomba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55728A8-7140-8AFF-B252-DA5943058CA5}"/>
              </a:ext>
            </a:extLst>
          </p:cNvPr>
          <p:cNvSpPr/>
          <p:nvPr/>
        </p:nvSpPr>
        <p:spPr>
          <a:xfrm>
            <a:off x="8107680" y="5166360"/>
            <a:ext cx="341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pts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CFE737D-B898-7526-A8C3-535D2BF5C587}"/>
              </a:ext>
            </a:extLst>
          </p:cNvPr>
          <p:cNvSpPr/>
          <p:nvPr/>
        </p:nvSpPr>
        <p:spPr>
          <a:xfrm>
            <a:off x="8107680" y="5669280"/>
            <a:ext cx="341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Desempeño en video</a:t>
            </a:r>
            <a:endParaRPr lang="en-US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540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xto&#10;&#10;El contenido generado por IA puede ser incorrecto.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31480" y="182880"/>
            <a:ext cx="1556960" cy="713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técnica de la actividad (No presencial)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2 — Evaluación de Desempeño (Grabación asincrónica)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BEEBFA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" y="1801368"/>
            <a:ext cx="512064" cy="512064"/>
          </a:xfrm>
          <a:prstGeom prst="ellipse">
            <a:avLst/>
          </a:prstGeom>
          <a:solidFill>
            <a:srgbClr val="BEEBF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08" y="1965228"/>
            <a:ext cx="184343" cy="1843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719072"/>
            <a:ext cx="4206240" cy="320040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Duración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508760" y="2020824"/>
            <a:ext cx="4206240" cy="438912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minutos máximo por estudiante (video MP4)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263640" y="160020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BEEBFA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64808" y="1801368"/>
            <a:ext cx="512064" cy="512064"/>
          </a:xfrm>
          <a:prstGeom prst="ellipse">
            <a:avLst/>
          </a:prstGeom>
          <a:solidFill>
            <a:srgbClr val="BEEBF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668" y="1965228"/>
            <a:ext cx="184343" cy="184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32320" y="1719072"/>
            <a:ext cx="4206240" cy="320040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Modalidad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7132320" y="2020824"/>
            <a:ext cx="4206240" cy="438912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— grabación en casa o espacio académico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40080" y="2807208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BEEBFA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41248" y="3008376"/>
            <a:ext cx="512064" cy="512064"/>
          </a:xfrm>
          <a:prstGeom prst="ellipse">
            <a:avLst/>
          </a:prstGeom>
          <a:solidFill>
            <a:srgbClr val="BEEBFA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108" y="3172236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2926080"/>
            <a:ext cx="4206240" cy="320040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Insumo previo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1508760" y="3227832"/>
            <a:ext cx="4206240" cy="438912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de Resolución Integral entregado (Actividad 1)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263640" y="2807208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BEEBFA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64808" y="3008376"/>
            <a:ext cx="512064" cy="512064"/>
          </a:xfrm>
          <a:prstGeom prst="ellipse">
            <a:avLst/>
          </a:prstGeom>
          <a:solidFill>
            <a:srgbClr val="BEEBFA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8668" y="3172236"/>
            <a:ext cx="184343" cy="18434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32320" y="2926080"/>
            <a:ext cx="4206240" cy="320040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evalúa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7132320" y="3227832"/>
            <a:ext cx="4206240" cy="438912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 aplicado, fluidez verbal y conexión entre unidades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640080" y="4014216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BEEBFA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41248" y="4215384"/>
            <a:ext cx="512064" cy="512064"/>
          </a:xfrm>
          <a:prstGeom prst="ellipse">
            <a:avLst/>
          </a:prstGeom>
          <a:solidFill>
            <a:srgbClr val="BEEBFA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108" y="4379244"/>
            <a:ext cx="184343" cy="18434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08760" y="4133088"/>
            <a:ext cx="4206240" cy="320040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Apoyos visuales</a:t>
            </a:r>
            <a:endParaRPr lang="en-US" sz="2000" dirty="0"/>
          </a:p>
        </p:txBody>
      </p:sp>
      <p:sp>
        <p:nvSpPr>
          <p:cNvPr id="29" name="Text 21"/>
          <p:cNvSpPr/>
          <p:nvPr/>
        </p:nvSpPr>
        <p:spPr>
          <a:xfrm>
            <a:off x="1508760" y="4434840"/>
            <a:ext cx="4206240" cy="438912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permiten notas ni lectura; solo una hoja en blanco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6263640" y="4014216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BEEBFA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464808" y="4215384"/>
            <a:ext cx="512064" cy="512064"/>
          </a:xfrm>
          <a:prstGeom prst="ellipse">
            <a:avLst/>
          </a:prstGeom>
          <a:solidFill>
            <a:srgbClr val="BEEBFA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8668" y="4379244"/>
            <a:ext cx="184343" cy="184343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132320" y="4133088"/>
            <a:ext cx="4206240" cy="320040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crítico</a:t>
            </a:r>
            <a:endParaRPr lang="en-US" sz="2000" dirty="0"/>
          </a:p>
        </p:txBody>
      </p:sp>
      <p:sp>
        <p:nvSpPr>
          <p:cNvPr id="34" name="Text 25"/>
          <p:cNvSpPr/>
          <p:nvPr/>
        </p:nvSpPr>
        <p:spPr>
          <a:xfrm>
            <a:off x="7132320" y="4434840"/>
            <a:ext cx="4206240" cy="438912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responder a las preguntas "¿qué pasaría si?" integradas en la presentación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462B84F-F933-6479-AE35-DAF1162935A1}"/>
              </a:ext>
            </a:extLst>
          </p:cNvPr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/>
                <a:ea typeface="Cambria"/>
                <a:cs typeface="Cambria" pitchFamily="34" charset="-120"/>
              </a:rPr>
              <a:t>La </a:t>
            </a:r>
            <a:r>
              <a:rPr lang="en-US" sz="3000" b="1" dirty="0" err="1">
                <a:solidFill>
                  <a:srgbClr val="000000"/>
                </a:solidFill>
                <a:latin typeface="Cambria"/>
                <a:ea typeface="Cambria"/>
                <a:cs typeface="Cambria" pitchFamily="34" charset="-120"/>
              </a:rPr>
              <a:t>dinámica</a:t>
            </a:r>
            <a:r>
              <a:rPr lang="en-US" sz="3000" b="1" dirty="0">
                <a:solidFill>
                  <a:srgbClr val="000000"/>
                </a:solidFill>
                <a:latin typeface="Cambria"/>
                <a:ea typeface="Cambria"/>
                <a:cs typeface="Cambria" pitchFamily="34" charset="-120"/>
              </a:rPr>
              <a:t>: </a:t>
            </a:r>
            <a:r>
              <a:rPr lang="en-US" sz="3000" b="1" dirty="0" err="1">
                <a:solidFill>
                  <a:srgbClr val="000000"/>
                </a:solidFill>
                <a:latin typeface="Cambria"/>
                <a:ea typeface="Cambria"/>
                <a:cs typeface="Cambria" pitchFamily="34" charset="-120"/>
              </a:rPr>
              <a:t>grabar</a:t>
            </a:r>
            <a:r>
              <a:rPr lang="en-US" sz="3000" b="1" dirty="0">
                <a:solidFill>
                  <a:srgbClr val="000000"/>
                </a:solidFill>
                <a:latin typeface="Cambria"/>
                <a:ea typeface="Cambria"/>
                <a:cs typeface="Cambria" pitchFamily="34" charset="-120"/>
              </a:rPr>
              <a:t>, no leer</a:t>
            </a:r>
            <a:endParaRPr lang="en-US" sz="3000" dirty="0">
              <a:solidFill>
                <a:srgbClr val="000000"/>
              </a:solidFill>
              <a:latin typeface="Cambria"/>
              <a:ea typeface="Cambria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FEC2608F-0ED5-2CC6-7C72-3E2F7DDE6BB2}"/>
              </a:ext>
            </a:extLst>
          </p:cNvPr>
          <p:cNvSpPr/>
          <p:nvPr/>
        </p:nvSpPr>
        <p:spPr>
          <a:xfrm>
            <a:off x="640080" y="137160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BEEBFA"/>
          </a:solidFill>
          <a:ln/>
        </p:spPr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293BF49D-4432-17A6-2A5D-7A0FCAA366F3}"/>
              </a:ext>
            </a:extLst>
          </p:cNvPr>
          <p:cNvSpPr/>
          <p:nvPr/>
        </p:nvSpPr>
        <p:spPr>
          <a:xfrm>
            <a:off x="914400" y="1700784"/>
            <a:ext cx="914400" cy="914400"/>
          </a:xfrm>
          <a:prstGeom prst="ellipse">
            <a:avLst/>
          </a:prstGeom>
          <a:solidFill>
            <a:srgbClr val="BEEBFA"/>
          </a:solidFill>
          <a:ln/>
        </p:spPr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359B3AA9-5FA7-A340-1AE9-00CBD3AA6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1938528"/>
            <a:ext cx="438912" cy="438912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0B79C5E7-2B6E-1581-7DC3-1EA0F051E19D}"/>
              </a:ext>
            </a:extLst>
          </p:cNvPr>
          <p:cNvSpPr/>
          <p:nvPr/>
        </p:nvSpPr>
        <p:spPr>
          <a:xfrm>
            <a:off x="2011680" y="1517904"/>
            <a:ext cx="9235440" cy="1280160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trata de leer el expediente frente a la cámara.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debe simular una defensa ante un jurado, respondiendo a escenarios hipotéticos planteados en esta presentación, demostrando que domina las 4 unidades como un sistema.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5C88CD37-EA5B-482E-5B12-F2F60296679B}"/>
              </a:ext>
            </a:extLst>
          </p:cNvPr>
          <p:cNvSpPr/>
          <p:nvPr/>
        </p:nvSpPr>
        <p:spPr>
          <a:xfrm>
            <a:off x="640080" y="3246120"/>
            <a:ext cx="3410712" cy="2606040"/>
          </a:xfrm>
          <a:prstGeom prst="roundRect">
            <a:avLst>
              <a:gd name="adj" fmla="val 2807"/>
            </a:avLst>
          </a:prstGeom>
          <a:solidFill>
            <a:srgbClr val="BEEBFA"/>
          </a:solidFill>
          <a:ln/>
        </p:spPr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B297C4E8-A15A-63D8-8358-61ABD429AFDF}"/>
              </a:ext>
            </a:extLst>
          </p:cNvPr>
          <p:cNvSpPr/>
          <p:nvPr/>
        </p:nvSpPr>
        <p:spPr>
          <a:xfrm>
            <a:off x="2025396" y="3520440"/>
            <a:ext cx="640080" cy="640080"/>
          </a:xfrm>
          <a:prstGeom prst="ellipse">
            <a:avLst/>
          </a:prstGeom>
          <a:solidFill>
            <a:srgbClr val="BEEBFA"/>
          </a:solidFill>
          <a:ln/>
        </p:spPr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FB4EBFB0-28C4-4CCF-1001-A45F114E5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218" y="3693262"/>
            <a:ext cx="294437" cy="294437"/>
          </a:xfrm>
          <a:prstGeom prst="rect">
            <a:avLst/>
          </a:prstGeom>
        </p:spPr>
      </p:pic>
      <p:sp>
        <p:nvSpPr>
          <p:cNvPr id="19" name="Text 6">
            <a:extLst>
              <a:ext uri="{FF2B5EF4-FFF2-40B4-BE49-F238E27FC236}">
                <a16:creationId xmlns:a16="http://schemas.microsoft.com/office/drawing/2014/main" id="{9E05DA29-685C-6B6D-3E74-138983715019}"/>
              </a:ext>
            </a:extLst>
          </p:cNvPr>
          <p:cNvSpPr/>
          <p:nvPr/>
        </p:nvSpPr>
        <p:spPr>
          <a:xfrm>
            <a:off x="868680" y="4343400"/>
            <a:ext cx="2953512" cy="548640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apuntes en cámara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AC39B1B9-669C-D67D-9740-595F2151F583}"/>
              </a:ext>
            </a:extLst>
          </p:cNvPr>
          <p:cNvSpPr/>
          <p:nvPr/>
        </p:nvSpPr>
        <p:spPr>
          <a:xfrm>
            <a:off x="914400" y="4892040"/>
            <a:ext cx="2862072" cy="868680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video debe mostrar al estudiante sin leer (mirada a cámara).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EDD962BB-9500-5322-A278-366C0D41A132}"/>
              </a:ext>
            </a:extLst>
          </p:cNvPr>
          <p:cNvSpPr/>
          <p:nvPr/>
        </p:nvSpPr>
        <p:spPr>
          <a:xfrm>
            <a:off x="4379976" y="3246120"/>
            <a:ext cx="3410712" cy="2606040"/>
          </a:xfrm>
          <a:prstGeom prst="roundRect">
            <a:avLst>
              <a:gd name="adj" fmla="val 2807"/>
            </a:avLst>
          </a:prstGeom>
          <a:solidFill>
            <a:srgbClr val="BEEBFA"/>
          </a:solidFill>
          <a:ln/>
        </p:spPr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04B3BD90-F8BB-7447-8C71-E905DDF6A54D}"/>
              </a:ext>
            </a:extLst>
          </p:cNvPr>
          <p:cNvSpPr/>
          <p:nvPr/>
        </p:nvSpPr>
        <p:spPr>
          <a:xfrm>
            <a:off x="5765292" y="3520440"/>
            <a:ext cx="640080" cy="640080"/>
          </a:xfrm>
          <a:prstGeom prst="ellipse">
            <a:avLst/>
          </a:prstGeom>
          <a:solidFill>
            <a:srgbClr val="BEEBFA"/>
          </a:solidFill>
          <a:ln/>
        </p:spPr>
      </p:sp>
      <p:pic>
        <p:nvPicPr>
          <p:cNvPr id="27" name="Image 2" descr="preencoded.png">
            <a:extLst>
              <a:ext uri="{FF2B5EF4-FFF2-40B4-BE49-F238E27FC236}">
                <a16:creationId xmlns:a16="http://schemas.microsoft.com/office/drawing/2014/main" id="{6FBCA5FA-300B-D38A-70D0-3A6AEA1AD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114" y="3693262"/>
            <a:ext cx="294437" cy="294437"/>
          </a:xfrm>
          <a:prstGeom prst="rect">
            <a:avLst/>
          </a:prstGeom>
        </p:spPr>
      </p:pic>
      <p:sp>
        <p:nvSpPr>
          <p:cNvPr id="29" name="Text 10">
            <a:extLst>
              <a:ext uri="{FF2B5EF4-FFF2-40B4-BE49-F238E27FC236}">
                <a16:creationId xmlns:a16="http://schemas.microsoft.com/office/drawing/2014/main" id="{6A91FB52-5F9A-18D1-306F-B4E93A991EDB}"/>
              </a:ext>
            </a:extLst>
          </p:cNvPr>
          <p:cNvSpPr/>
          <p:nvPr/>
        </p:nvSpPr>
        <p:spPr>
          <a:xfrm>
            <a:off x="4608576" y="4343400"/>
            <a:ext cx="2953512" cy="548640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personalizadas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3B9AE437-65EA-C548-9DF0-0832CF09A49C}"/>
              </a:ext>
            </a:extLst>
          </p:cNvPr>
          <p:cNvSpPr/>
          <p:nvPr/>
        </p:nvSpPr>
        <p:spPr>
          <a:xfrm>
            <a:off x="4654296" y="4892040"/>
            <a:ext cx="2862072" cy="868680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alumno recibe preguntas únicas basadas en su expediente.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7FA12A50-772D-6DBF-F3AA-7E8478F3E0EB}"/>
              </a:ext>
            </a:extLst>
          </p:cNvPr>
          <p:cNvSpPr/>
          <p:nvPr/>
        </p:nvSpPr>
        <p:spPr>
          <a:xfrm>
            <a:off x="8119872" y="3246120"/>
            <a:ext cx="3410712" cy="2606040"/>
          </a:xfrm>
          <a:prstGeom prst="roundRect">
            <a:avLst>
              <a:gd name="adj" fmla="val 2807"/>
            </a:avLst>
          </a:prstGeom>
          <a:solidFill>
            <a:srgbClr val="BEEBFA"/>
          </a:solidFill>
          <a:ln/>
        </p:spPr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E461DF41-D0F5-D5F8-740D-BF60E19B27A5}"/>
              </a:ext>
            </a:extLst>
          </p:cNvPr>
          <p:cNvSpPr/>
          <p:nvPr/>
        </p:nvSpPr>
        <p:spPr>
          <a:xfrm>
            <a:off x="9505188" y="3520440"/>
            <a:ext cx="640080" cy="640080"/>
          </a:xfrm>
          <a:prstGeom prst="ellipse">
            <a:avLst/>
          </a:prstGeom>
          <a:solidFill>
            <a:srgbClr val="BEEBFA"/>
          </a:solidFill>
          <a:ln/>
        </p:spPr>
      </p:sp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951F837D-5C5A-B714-9C4E-3BF9D7E0A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8010" y="3693262"/>
            <a:ext cx="294437" cy="294437"/>
          </a:xfrm>
          <a:prstGeom prst="rect">
            <a:avLst/>
          </a:prstGeom>
        </p:spPr>
      </p:pic>
      <p:sp>
        <p:nvSpPr>
          <p:cNvPr id="39" name="Text 14">
            <a:extLst>
              <a:ext uri="{FF2B5EF4-FFF2-40B4-BE49-F238E27FC236}">
                <a16:creationId xmlns:a16="http://schemas.microsoft.com/office/drawing/2014/main" id="{3A33682B-5E79-028A-864F-572F92DCB063}"/>
              </a:ext>
            </a:extLst>
          </p:cNvPr>
          <p:cNvSpPr/>
          <p:nvPr/>
        </p:nvSpPr>
        <p:spPr>
          <a:xfrm>
            <a:off x="8348472" y="4343400"/>
            <a:ext cx="2953512" cy="548640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integrador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E1D8A70C-0E8A-2B22-BA6F-C4A6D69D246A}"/>
              </a:ext>
            </a:extLst>
          </p:cNvPr>
          <p:cNvSpPr/>
          <p:nvPr/>
        </p:nvSpPr>
        <p:spPr>
          <a:xfrm>
            <a:off x="8394192" y="4892040"/>
            <a:ext cx="2862072" cy="868680"/>
          </a:xfrm>
          <a:prstGeom prst="rect">
            <a:avLst/>
          </a:prstGeom>
          <a:solidFill>
            <a:srgbClr val="BEEB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bomba exige conectar el principio (U1) con la conclusión (U4).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43" name="Image 0" descr="Texto&#10;&#10;El contenido generado por IA puede ser incorrecto.">
            <a:extLst>
              <a:ext uri="{FF2B5EF4-FFF2-40B4-BE49-F238E27FC236}">
                <a16:creationId xmlns:a16="http://schemas.microsoft.com/office/drawing/2014/main" id="{5E9CB6F3-1DA2-13E5-57BA-13F5B57C4C2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331480" y="182880"/>
            <a:ext cx="1556960" cy="7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37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114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video (18 minutos)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05840" y="2148840"/>
            <a:ext cx="10149840" cy="0"/>
          </a:xfrm>
          <a:prstGeom prst="line">
            <a:avLst/>
          </a:prstGeom>
          <a:noFill/>
          <a:ln w="38100">
            <a:solidFill>
              <a:srgbClr val="C9D6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23544" y="2066544"/>
            <a:ext cx="164592" cy="164592"/>
          </a:xfrm>
          <a:prstGeom prst="ellipse">
            <a:avLst/>
          </a:prstGeom>
          <a:solidFill>
            <a:srgbClr val="152C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2313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grabación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765499" y="2066544"/>
            <a:ext cx="164592" cy="164592"/>
          </a:xfrm>
          <a:prstGeom prst="ellipse">
            <a:avLst/>
          </a:prstGeom>
          <a:solidFill>
            <a:srgbClr val="152C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9155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161995" y="2313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resumen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72991" y="2066544"/>
            <a:ext cx="164592" cy="164592"/>
          </a:xfrm>
          <a:prstGeom prst="ellipse">
            <a:avLst/>
          </a:prstGeom>
          <a:solidFill>
            <a:srgbClr val="152C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06647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6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55716" y="2313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preguntas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347911" y="2066544"/>
            <a:ext cx="164592" cy="164592"/>
          </a:xfrm>
          <a:prstGeom prst="ellipse">
            <a:avLst/>
          </a:prstGeom>
          <a:solidFill>
            <a:srgbClr val="152C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81567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15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744407" y="2313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preguntas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1073384" y="2066544"/>
            <a:ext cx="164592" cy="164592"/>
          </a:xfrm>
          <a:prstGeom prst="ellipse">
            <a:avLst/>
          </a:prstGeom>
          <a:solidFill>
            <a:srgbClr val="152C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0704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18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469880" y="2313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+ Bomba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" y="2926080"/>
            <a:ext cx="5166360" cy="3291840"/>
          </a:xfrm>
          <a:prstGeom prst="roundRect">
            <a:avLst>
              <a:gd name="adj" fmla="val 2778"/>
            </a:avLst>
          </a:prstGeom>
          <a:solidFill>
            <a:srgbClr val="EAF2F6"/>
          </a:solidFill>
          <a:ln/>
        </p:spPr>
      </p:sp>
      <p:sp>
        <p:nvSpPr>
          <p:cNvPr id="21" name="Shape 18"/>
          <p:cNvSpPr/>
          <p:nvPr/>
        </p:nvSpPr>
        <p:spPr>
          <a:xfrm>
            <a:off x="914400" y="3200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3232404"/>
            <a:ext cx="576072" cy="576072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914400" y="3200400"/>
            <a:ext cx="640080" cy="64008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3374136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91640" y="3246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5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 ·  Minutos 0–5</a:t>
            </a: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1691640" y="3520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sin apoyos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914400" y="3977640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fijamente a la cámara (simula contacto con el jurado).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diapositivas, sin notas, sin el documento abierto.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reconstruir la secuencia lógica de la U1 a la U4.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6080760" y="292608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EAF2F6"/>
          </a:solidFill>
          <a:ln/>
        </p:spPr>
      </p:sp>
      <p:sp>
        <p:nvSpPr>
          <p:cNvPr id="29" name="Shape 24"/>
          <p:cNvSpPr/>
          <p:nvPr/>
        </p:nvSpPr>
        <p:spPr>
          <a:xfrm>
            <a:off x="6355080" y="3200400"/>
            <a:ext cx="640080" cy="640080"/>
          </a:xfrm>
          <a:prstGeom prst="ellipse">
            <a:avLst/>
          </a:prstGeom>
          <a:solidFill>
            <a:srgbClr val="8DBA35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3374136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132320" y="3246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DB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 ·  Minutos 6–18</a:t>
            </a: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7132320" y="3520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preguntas grabadas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6355080" y="397764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 las 4 preguntas personalizadas (U1 a U4).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respuesta debe ser fluida y sin cortes de edición.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Concluye con la pregunta bomba integradora (U1↔U4).</a:t>
            </a:r>
            <a:endParaRPr lang="en-US" sz="1600" dirty="0"/>
          </a:p>
        </p:txBody>
      </p:sp>
      <p:pic>
        <p:nvPicPr>
          <p:cNvPr id="35" name="Image 0" descr="Texto&#10;&#10;El contenido generado por IA puede ser incorrecto.">
            <a:extLst>
              <a:ext uri="{FF2B5EF4-FFF2-40B4-BE49-F238E27FC236}">
                <a16:creationId xmlns:a16="http://schemas.microsoft.com/office/drawing/2014/main" id="{2CE5A9E9-047C-86CB-B325-8D56F99CB78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331480" y="182880"/>
            <a:ext cx="1556960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822960"/>
            <a:ext cx="1280160" cy="12801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803" y="1168603"/>
            <a:ext cx="588874" cy="5888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i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apoyos visuales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0 – 5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2976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debe lograr el estudiante (en cámara)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297680" y="1143000"/>
            <a:ext cx="384048" cy="384048"/>
          </a:xfrm>
          <a:prstGeom prst="ellipse">
            <a:avLst/>
          </a:prstGeom>
          <a:solidFill>
            <a:srgbClr val="EAF2F6"/>
          </a:solidFill>
          <a:ln w="15875">
            <a:solidFill>
              <a:srgbClr val="152C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9768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46320" y="1106424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su rostro y voz: sin diapositivas, sin expediente, sin notas en mano.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97680" y="2103120"/>
            <a:ext cx="384048" cy="384048"/>
          </a:xfrm>
          <a:prstGeom prst="ellipse">
            <a:avLst/>
          </a:prstGeom>
          <a:solidFill>
            <a:srgbClr val="EAF2F6"/>
          </a:solidFill>
          <a:ln w="15875">
            <a:solidFill>
              <a:srgbClr val="152C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9768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46320" y="2066544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la secuencia lógica completa: U1 (marco) → U2 (cálculo) → U3 (diseño) → U4 (evaluación).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7680" y="3063240"/>
            <a:ext cx="384048" cy="384048"/>
          </a:xfrm>
          <a:prstGeom prst="ellipse">
            <a:avLst/>
          </a:prstGeom>
          <a:solidFill>
            <a:srgbClr val="EAF2F6"/>
          </a:solidFill>
          <a:ln w="15875">
            <a:solidFill>
              <a:srgbClr val="152C5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976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46320" y="3026664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el hilo conductor del proyecto: por qué cada unidad llevó a la siguiente.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297680" y="4023360"/>
            <a:ext cx="384048" cy="384048"/>
          </a:xfrm>
          <a:prstGeom prst="ellipse">
            <a:avLst/>
          </a:prstGeom>
          <a:solidFill>
            <a:srgbClr val="EAF2F6"/>
          </a:solidFill>
          <a:ln w="15875">
            <a:solidFill>
              <a:srgbClr val="152C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9768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846320" y="3986784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un tiempo controlado de 5 minutos; la concisión es clave.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297680" y="5074920"/>
            <a:ext cx="7223760" cy="1234440"/>
          </a:xfrm>
          <a:prstGeom prst="roundRect">
            <a:avLst>
              <a:gd name="adj" fmla="val 5926"/>
            </a:avLst>
          </a:prstGeom>
          <a:solidFill>
            <a:srgbClr val="FCEFE3"/>
          </a:solidFill>
          <a:ln/>
        </p:spPr>
      </p:sp>
      <p:sp>
        <p:nvSpPr>
          <p:cNvPr id="22" name="Shape 19"/>
          <p:cNvSpPr/>
          <p:nvPr/>
        </p:nvSpPr>
        <p:spPr>
          <a:xfrm>
            <a:off x="4526280" y="5285232"/>
            <a:ext cx="502920" cy="502920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922" y="5395874"/>
            <a:ext cx="281635" cy="28163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66360" y="5193792"/>
            <a:ext cx="6172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estudiante desvía la mirada constantemente o hace pausas largas, </a:t>
            </a: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señal de que está leyendo un guion oculto</a:t>
            </a: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 penaliza.</a:t>
            </a:r>
            <a:endParaRPr lang="en-US" sz="1400" dirty="0"/>
          </a:p>
        </p:txBody>
      </p:sp>
      <p:pic>
        <p:nvPicPr>
          <p:cNvPr id="26" name="Image 0" descr="Texto&#10;&#10;El contenido generado por IA puede ser incorrecto.">
            <a:extLst>
              <a:ext uri="{FF2B5EF4-FFF2-40B4-BE49-F238E27FC236}">
                <a16:creationId xmlns:a16="http://schemas.microsoft.com/office/drawing/2014/main" id="{41636D69-8BFC-EFC2-DA65-39CDAE1EA7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331480" y="182880"/>
            <a:ext cx="1556960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114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2: preguntas personalizadas integradas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debe responder a 4 preguntas únicas (una por unidad) presentadas en este documento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CEAEA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19604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9019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debe hacer el alumno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914400" y="246888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textualmente la respuesta preparada.</a:t>
            </a:r>
            <a:endParaRPr lang="en-US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la grabación entre pregunta y pregunta (edición).</a:t>
            </a:r>
            <a:endParaRPr lang="en-US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apuntes fuera del encuadre de la cámara.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6309360" y="155448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E7F4EC"/>
          </a:solidFill>
          <a:ln/>
        </p:spPr>
      </p:sp>
      <p:sp>
        <p:nvSpPr>
          <p:cNvPr id="11" name="Shape 7"/>
          <p:cNvSpPr/>
          <p:nvPr/>
        </p:nvSpPr>
        <p:spPr>
          <a:xfrm>
            <a:off x="6583680" y="18288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4" y="196047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69480" y="19019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SÍ debe hacer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6583680" y="246888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pregunta en voz alta, pensar 5 segundos y responder.</a:t>
            </a:r>
            <a:endParaRPr lang="en-US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Grabar la sesión entera en un solo take (sin pausas).</a:t>
            </a:r>
            <a:endParaRPr lang="en-US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Apoyarse en el razonamiento, no en la memoria textual.</a:t>
            </a: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640080" y="452628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EAF2F6"/>
          </a:solidFill>
          <a:ln/>
        </p:spPr>
      </p:sp>
      <p:sp>
        <p:nvSpPr>
          <p:cNvPr id="16" name="Shape 11"/>
          <p:cNvSpPr/>
          <p:nvPr/>
        </p:nvSpPr>
        <p:spPr>
          <a:xfrm>
            <a:off x="914400" y="48006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4832604"/>
            <a:ext cx="576072" cy="57607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914400" y="4800600"/>
            <a:ext cx="640080" cy="640080"/>
          </a:xfrm>
          <a:prstGeom prst="ellipse">
            <a:avLst/>
          </a:prstGeom>
          <a:solidFill>
            <a:srgbClr val="8DBA35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4974336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91640" y="46634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de las preguntas (ejemplo)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1691640" y="507492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“¿Qué pasaría si...?”   ·   “¿Cómo modificaría su solución de la U3 si el dato de la U2 cambiara en un 20%?”   ·   “¿Qué haría diferente si...?”</a:t>
            </a:r>
            <a:endParaRPr lang="en-US" dirty="0"/>
          </a:p>
        </p:txBody>
      </p:sp>
      <p:pic>
        <p:nvPicPr>
          <p:cNvPr id="23" name="Image 0" descr="Texto&#10;&#10;El contenido generado por IA puede ser incorrecto.">
            <a:extLst>
              <a:ext uri="{FF2B5EF4-FFF2-40B4-BE49-F238E27FC236}">
                <a16:creationId xmlns:a16="http://schemas.microsoft.com/office/drawing/2014/main" id="{83D69908-6CB7-2DEE-A100-D6B9A089259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331480" y="182880"/>
            <a:ext cx="1556960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114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integradas — una por unidad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alumno debe responder TODAS estas preguntas en su video de defensa.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E2EEF4"/>
          </a:solidFill>
          <a:ln/>
        </p:spPr>
      </p:sp>
      <p:sp>
        <p:nvSpPr>
          <p:cNvPr id="6" name="Shape 3"/>
          <p:cNvSpPr/>
          <p:nvPr/>
        </p:nvSpPr>
        <p:spPr>
          <a:xfrm>
            <a:off x="1554480" y="1737360"/>
            <a:ext cx="777240" cy="777240"/>
          </a:xfrm>
          <a:prstGeom prst="ellipse">
            <a:avLst/>
          </a:prstGeom>
          <a:solidFill>
            <a:srgbClr val="152C5B"/>
          </a:solidFill>
          <a:ln/>
        </p:spPr>
      </p:sp>
      <p:sp>
        <p:nvSpPr>
          <p:cNvPr id="7" name="Text 4"/>
          <p:cNvSpPr/>
          <p:nvPr/>
        </p:nvSpPr>
        <p:spPr>
          <a:xfrm>
            <a:off x="155448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2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Teórico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097280" y="3291840"/>
            <a:ext cx="1691640" cy="0"/>
          </a:xfrm>
          <a:prstGeom prst="line">
            <a:avLst/>
          </a:prstGeom>
          <a:noFill/>
          <a:ln w="12700">
            <a:solidFill>
              <a:srgbClr val="152C5B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804672" y="342900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pregunta: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" y="3703320"/>
            <a:ext cx="2276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probabilidad de fallo exigida por FAR/CS cambiara de 10⁻⁹ a 10⁻⁶, ¿qué tipo de fallo dejaría de exigir esa certificación en su diseño?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493008" y="14630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E7F4EC"/>
          </a:solidFill>
          <a:ln/>
        </p:spPr>
      </p:sp>
      <p:sp>
        <p:nvSpPr>
          <p:cNvPr id="13" name="Shape 10"/>
          <p:cNvSpPr/>
          <p:nvPr/>
        </p:nvSpPr>
        <p:spPr>
          <a:xfrm>
            <a:off x="4407408" y="1737360"/>
            <a:ext cx="777240" cy="7772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1"/>
          <p:cNvSpPr/>
          <p:nvPr/>
        </p:nvSpPr>
        <p:spPr>
          <a:xfrm>
            <a:off x="4407408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U2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3630168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Termodinámico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3950208" y="3291840"/>
            <a:ext cx="169164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3657600" y="342900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pregunta: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657600" y="3703320"/>
            <a:ext cx="2276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cambiaría su validación de la ACM si la temperatura de entrada del aire de sangrado subiera un 20%?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345936" y="14630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BEADB"/>
          </a:solidFill>
          <a:ln/>
        </p:spPr>
      </p:sp>
      <p:sp>
        <p:nvSpPr>
          <p:cNvPr id="20" name="Shape 17"/>
          <p:cNvSpPr/>
          <p:nvPr/>
        </p:nvSpPr>
        <p:spPr>
          <a:xfrm>
            <a:off x="7260336" y="1737360"/>
            <a:ext cx="777240" cy="77724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1" name="Text 18"/>
          <p:cNvSpPr/>
          <p:nvPr/>
        </p:nvSpPr>
        <p:spPr>
          <a:xfrm>
            <a:off x="7260336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U3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6483096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FBW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803136" y="3291840"/>
            <a:ext cx="1691640" cy="0"/>
          </a:xfrm>
          <a:prstGeom prst="line">
            <a:avLst/>
          </a:prstGeom>
          <a:noFill/>
          <a:ln w="12700">
            <a:solidFill>
              <a:srgbClr val="B5651D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6510528" y="342900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pregunta: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510528" y="3703320"/>
            <a:ext cx="2276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sensor de ángulo de ataque fallara durante la maniobra que describió, ¿qué ley de control tomaría el mando?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198864" y="14630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CEAEA"/>
          </a:solidFill>
          <a:ln/>
        </p:spPr>
      </p:sp>
      <p:sp>
        <p:nvSpPr>
          <p:cNvPr id="27" name="Shape 24"/>
          <p:cNvSpPr/>
          <p:nvPr/>
        </p:nvSpPr>
        <p:spPr>
          <a:xfrm>
            <a:off x="10113264" y="1737360"/>
            <a:ext cx="777240" cy="7772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113264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U4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9336024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y Mejora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9656064" y="3291840"/>
            <a:ext cx="169164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9363456" y="3429000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pregunta: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363456" y="3703320"/>
            <a:ext cx="22768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cambiaría su estrategia de protección si la temperatura exterior bajara de -20°C a -35°C?</a:t>
            </a:r>
            <a:endParaRPr lang="en-US" sz="1600" dirty="0"/>
          </a:p>
        </p:txBody>
      </p:sp>
      <p:pic>
        <p:nvPicPr>
          <p:cNvPr id="34" name="Image 0" descr="Texto&#10;&#10;El contenido generado por IA puede ser incorrecto.">
            <a:extLst>
              <a:ext uri="{FF2B5EF4-FFF2-40B4-BE49-F238E27FC236}">
                <a16:creationId xmlns:a16="http://schemas.microsoft.com/office/drawing/2014/main" id="{AD37DF2D-EDE7-89C1-7BA0-B3875659D8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31480" y="182880"/>
            <a:ext cx="1556960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>
            <a:extLst>
              <a:ext uri="{FF2B5EF4-FFF2-40B4-BE49-F238E27FC236}">
                <a16:creationId xmlns:a16="http://schemas.microsoft.com/office/drawing/2014/main" id="{2DA046E1-2716-CADC-F672-53D437AE4E70}"/>
              </a:ext>
            </a:extLst>
          </p:cNvPr>
          <p:cNvSpPr/>
          <p:nvPr/>
        </p:nvSpPr>
        <p:spPr>
          <a:xfrm>
            <a:off x="822960" y="914400"/>
            <a:ext cx="1463040" cy="14630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12C6D2ED-900E-3F1E-E532-F9A3D6D41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280160"/>
            <a:ext cx="731520" cy="731520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6F8E8C47-C3AE-0765-3F5C-A39F5B9761DD}"/>
              </a:ext>
            </a:extLst>
          </p:cNvPr>
          <p:cNvSpPr/>
          <p:nvPr/>
        </p:nvSpPr>
        <p:spPr>
          <a:xfrm>
            <a:off x="2651760" y="10515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BOMBA (Integradora)</a:t>
            </a:r>
            <a:endParaRPr lang="en-US" sz="3000" dirty="0">
              <a:solidFill>
                <a:srgbClr val="000000"/>
              </a:solidFill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0AD512F-F094-288F-0354-A16D32B37E54}"/>
              </a:ext>
            </a:extLst>
          </p:cNvPr>
          <p:cNvSpPr/>
          <p:nvPr/>
        </p:nvSpPr>
        <p:spPr>
          <a:xfrm>
            <a:off x="2651760" y="160020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Obligatoria al final del video (minutos 15-18)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95429C70-422B-247D-706F-CC855FE55796}"/>
              </a:ext>
            </a:extLst>
          </p:cNvPr>
          <p:cNvSpPr/>
          <p:nvPr/>
        </p:nvSpPr>
        <p:spPr>
          <a:xfrm>
            <a:off x="640080" y="2651760"/>
            <a:ext cx="10881360" cy="1783080"/>
          </a:xfrm>
          <a:prstGeom prst="roundRect">
            <a:avLst>
              <a:gd name="adj" fmla="val 5128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9A9A90C-2036-903C-1F6B-E161827F33C7}"/>
              </a:ext>
            </a:extLst>
          </p:cNvPr>
          <p:cNvSpPr/>
          <p:nvPr/>
        </p:nvSpPr>
        <p:spPr>
          <a:xfrm>
            <a:off x="1005840" y="28346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forzar la conexión entre el principio de apertura (Unidad 1) y la conclusión de cierre (Unidad 4).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77129168-D063-587C-F785-18F1C2D5A860}"/>
              </a:ext>
            </a:extLst>
          </p:cNvPr>
          <p:cNvSpPr/>
          <p:nvPr/>
        </p:nvSpPr>
        <p:spPr>
          <a:xfrm>
            <a:off x="1005840" y="33832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Retomando el concepto base de la U1 (probabilidad de fallo catastrófico), ¿cómo valida usted que su conclusión de la U4 sobre la estrategia anti-hielo no contradice ese principio?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898B7739-5557-4894-99A1-B2FA0B12CA9D}"/>
              </a:ext>
            </a:extLst>
          </p:cNvPr>
          <p:cNvSpPr/>
          <p:nvPr/>
        </p:nvSpPr>
        <p:spPr>
          <a:xfrm>
            <a:off x="822960" y="4846320"/>
            <a:ext cx="548640" cy="548640"/>
          </a:xfrm>
          <a:prstGeom prst="ellipse">
            <a:avLst/>
          </a:prstGeom>
          <a:solidFill>
            <a:srgbClr val="8DBA35"/>
          </a:solidFill>
          <a:ln/>
        </p:spPr>
      </p:sp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EC0A2A20-CD27-841B-856B-46722CF25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4977994"/>
            <a:ext cx="285293" cy="285293"/>
          </a:xfrm>
          <a:prstGeom prst="rect">
            <a:avLst/>
          </a:prstGeom>
        </p:spPr>
      </p:pic>
      <p:sp>
        <p:nvSpPr>
          <p:cNvPr id="23" name="Text 8">
            <a:extLst>
              <a:ext uri="{FF2B5EF4-FFF2-40B4-BE49-F238E27FC236}">
                <a16:creationId xmlns:a16="http://schemas.microsoft.com/office/drawing/2014/main" id="{C34F5331-02AD-4AC9-E00E-3239C0FC1211}"/>
              </a:ext>
            </a:extLst>
          </p:cNvPr>
          <p:cNvSpPr/>
          <p:nvPr/>
        </p:nvSpPr>
        <p:spPr>
          <a:xfrm>
            <a:off x="1554480" y="480060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una buena respuesta demuestra que el estudiante entendió el expediente como un sistema, no como cuatro tareas sueltas. En el video, debe sonar natural y convincente.</a:t>
            </a: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5" name="Image 0" descr="Texto&#10;&#10;El contenido generado por IA puede ser incorrecto.">
            <a:extLst>
              <a:ext uri="{FF2B5EF4-FFF2-40B4-BE49-F238E27FC236}">
                <a16:creationId xmlns:a16="http://schemas.microsoft.com/office/drawing/2014/main" id="{3A71BD80-22CD-B530-0030-1E868374C8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331480" y="182880"/>
            <a:ext cx="1556960" cy="7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510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Rúbrica de evaluación — Desempeño en video (100 puntos)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467329"/>
              </p:ext>
            </p:extLst>
          </p:nvPr>
        </p:nvGraphicFramePr>
        <p:xfrm>
          <a:off x="502920" y="1051560"/>
          <a:ext cx="11247120" cy="521208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</a:rPr>
                        <a:t>Criterio</a:t>
                      </a:r>
                      <a:endParaRPr lang="en-US" sz="1800"/>
                    </a:p>
                  </a:txBody>
                  <a:tcPr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</a:rPr>
                        <a:t>Excelente</a:t>
                      </a:r>
                      <a:endParaRPr lang="en-US" sz="1800"/>
                    </a:p>
                  </a:txBody>
                  <a:tcPr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Bueno</a:t>
                      </a:r>
                      <a:endParaRPr lang="en-US" sz="1800"/>
                    </a:p>
                  </a:txBody>
                  <a:tcPr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</a:rPr>
                        <a:t>Suficiente</a:t>
                      </a:r>
                      <a:endParaRPr lang="en-US" sz="1800"/>
                    </a:p>
                  </a:txBody>
                  <a:tcPr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</a:rPr>
                        <a:t>Insuficiente</a:t>
                      </a:r>
                      <a:endParaRPr lang="en-US" sz="1800"/>
                    </a:p>
                  </a:txBody>
                  <a:tcPr anchor="ctr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 err="1">
                          <a:solidFill>
                            <a:srgbClr val="0F1F40"/>
                          </a:solidFill>
                        </a:rPr>
                        <a:t>Resumen</a:t>
                      </a:r>
                      <a:r>
                        <a:rPr lang="en-US" sz="1200" b="1" dirty="0">
                          <a:solidFill>
                            <a:srgbClr val="0F1F40"/>
                          </a:solid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0F1F40"/>
                          </a:solidFill>
                        </a:rPr>
                        <a:t>ejecutivo</a:t>
                      </a:r>
                      <a:endParaRPr lang="en-US" sz="1200"/>
                    </a:p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F40"/>
                          </a:solidFill>
                        </a:rPr>
                        <a:t>(Fase 1) — 20 pts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18-20.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Secuencia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completa U1→U4, sin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apoyos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,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fluida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y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en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tiempo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.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14-17.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Secuencia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correcta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con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pausas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o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mirada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a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notas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.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10-13.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Secuencia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incompleta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o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desordenada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.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0-9. No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logra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reconstruir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la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secuencia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sin el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documento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.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 err="1">
                          <a:solidFill>
                            <a:srgbClr val="0F1F40"/>
                          </a:solidFill>
                        </a:rPr>
                        <a:t>Respuestas</a:t>
                      </a:r>
                      <a:r>
                        <a:rPr lang="en-US" sz="1200" b="1" dirty="0">
                          <a:solidFill>
                            <a:srgbClr val="0F1F40"/>
                          </a:solidFill>
                        </a:rPr>
                        <a:t> U1-U4</a:t>
                      </a:r>
                      <a:endParaRPr lang="en-US" sz="1200"/>
                    </a:p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F40"/>
                          </a:solidFill>
                        </a:rPr>
                        <a:t>(Fase 2) — 50 pts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45-50.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Responde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las 4 con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razonamiento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aplicado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y sin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lectura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.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35-44.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Responde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3 de 4 bien,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alguna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pausa para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recordar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.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25-34.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Responde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2 de 4 o se nota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que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lee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textualmente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.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0-24.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Responde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0-1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correctamente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o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usa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guion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visible.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 err="1">
                          <a:solidFill>
                            <a:srgbClr val="0F1F40"/>
                          </a:solidFill>
                        </a:rPr>
                        <a:t>Pregunta</a:t>
                      </a:r>
                      <a:r>
                        <a:rPr lang="en-US" sz="1200" b="1" dirty="0">
                          <a:solidFill>
                            <a:srgbClr val="0F1F40"/>
                          </a:solid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0F1F40"/>
                          </a:solidFill>
                        </a:rPr>
                        <a:t>bomba</a:t>
                      </a:r>
                      <a:endParaRPr lang="en-US" sz="1200"/>
                    </a:p>
                    <a:p>
                      <a:pPr marL="0" indent="0" algn="l">
                        <a:buNone/>
                      </a:pPr>
                      <a:r>
                        <a:rPr lang="en-US" sz="1200" b="1" dirty="0" err="1">
                          <a:solidFill>
                            <a:srgbClr val="0F1F40"/>
                          </a:solidFill>
                        </a:rPr>
                        <a:t>integradora</a:t>
                      </a:r>
                      <a:r>
                        <a:rPr lang="en-US" sz="1200" b="1" dirty="0">
                          <a:solidFill>
                            <a:srgbClr val="0F1F40"/>
                          </a:solidFill>
                        </a:rPr>
                        <a:t> — 20 pts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18-20.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Conecta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U1 y U4 con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argumento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sólido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y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coherente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.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14-17.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Conecta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ambas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unidades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con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argumento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parcial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.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10-13.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Menciona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ambas sin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conectarlas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realmente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.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0-9. No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logra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relacionar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U1 con U4.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F40"/>
                          </a:solidFill>
                        </a:rPr>
                        <a:t>Calidad </a:t>
                      </a:r>
                      <a:r>
                        <a:rPr lang="en-US" sz="1200" b="1" dirty="0" err="1">
                          <a:solidFill>
                            <a:srgbClr val="0F1F40"/>
                          </a:solidFill>
                        </a:rPr>
                        <a:t>técnica</a:t>
                      </a:r>
                      <a:endParaRPr lang="en-US" sz="1200"/>
                    </a:p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F1F40"/>
                          </a:solidFill>
                        </a:rPr>
                        <a:t>y </a:t>
                      </a:r>
                      <a:r>
                        <a:rPr lang="en-US" sz="1200" b="1" dirty="0" err="1">
                          <a:solidFill>
                            <a:srgbClr val="0F1F40"/>
                          </a:solidFill>
                        </a:rPr>
                        <a:t>tiempo</a:t>
                      </a:r>
                      <a:r>
                        <a:rPr lang="en-US" sz="1200" b="1" dirty="0">
                          <a:solidFill>
                            <a:srgbClr val="0F1F40"/>
                          </a:solidFill>
                        </a:rPr>
                        <a:t> — 10 pts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9-10. Audio claro,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encuadre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correcto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,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respeta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los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18 min.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7-8. Audio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aceptable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,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alguna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distracción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visual.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5-6.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Problemas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de audio o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exceso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de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tiempo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.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0-4.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Grabación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ininteligible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 o </a:t>
                      </a:r>
                      <a:r>
                        <a:rPr lang="en-US" sz="1200" dirty="0" err="1">
                          <a:solidFill>
                            <a:srgbClr val="1B2733"/>
                          </a:solidFill>
                        </a:rPr>
                        <a:t>incompleta</a:t>
                      </a: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.</a:t>
                      </a:r>
                      <a:endParaRPr lang="en-US" sz="1200"/>
                    </a:p>
                  </a:txBody>
                  <a:tcPr marL="63500" marR="63500" marT="50800" marB="50800">
                    <a:lnL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Image 0" descr="Texto&#10;&#10;El contenido generado por IA puede ser incorrecto.">
            <a:extLst>
              <a:ext uri="{FF2B5EF4-FFF2-40B4-BE49-F238E27FC236}">
                <a16:creationId xmlns:a16="http://schemas.microsoft.com/office/drawing/2014/main" id="{AF146B4B-1ECD-D0B2-3038-9CAEBE18BF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31480" y="182880"/>
            <a:ext cx="1556960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5720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Guía para la revisión del video (docente)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10881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60120" y="146304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la mirada del estudiante: si lee, suele desviarla a los lados o hacia abajo.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la duración total; debe ser ≤ 18 min. Si excede, penaliza en la rúbrica.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las respuestas con el expediente entregado (Actividad 1) para ver coherencia.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notas en la rúbrica mientras ves el video; no lo hagas de memoria.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640080" y="3794760"/>
            <a:ext cx="10881360" cy="2468880"/>
          </a:xfrm>
          <a:prstGeom prst="roundRect">
            <a:avLst>
              <a:gd name="adj" fmla="val 3704"/>
            </a:avLst>
          </a:prstGeom>
          <a:solidFill>
            <a:srgbClr val="FCEAEA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39776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de alerta (posible falta de autenticidad)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438912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 oculares que indican lectura de un guion fuera de cámara.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bruscos de edición entre pregunta y pregunta.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idénticas al texto literal del expediente (memorización).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coherencia entre la respuesta verbal y el análisis escrito.</a:t>
            </a:r>
            <a:endParaRPr lang="en-US" dirty="0"/>
          </a:p>
        </p:txBody>
      </p:sp>
      <p:pic>
        <p:nvPicPr>
          <p:cNvPr id="10" name="Image 0" descr="Texto&#10;&#10;El contenido generado por IA puede ser incorrecto.">
            <a:extLst>
              <a:ext uri="{FF2B5EF4-FFF2-40B4-BE49-F238E27FC236}">
                <a16:creationId xmlns:a16="http://schemas.microsoft.com/office/drawing/2014/main" id="{6910D799-D3D6-5736-C7EC-F03103159A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31480" y="182880"/>
            <a:ext cx="1556960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5720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técnicos para la grabación (alumno)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40080" y="128016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EAF2F6"/>
          </a:solidFill>
          <a:ln/>
        </p:spPr>
      </p:sp>
      <p:sp>
        <p:nvSpPr>
          <p:cNvPr id="5" name="Shape 2"/>
          <p:cNvSpPr/>
          <p:nvPr/>
        </p:nvSpPr>
        <p:spPr>
          <a:xfrm>
            <a:off x="868680" y="1737360"/>
            <a:ext cx="594360" cy="59436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83664"/>
            <a:ext cx="301752" cy="301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5920" y="14447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y duración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1645920" y="181051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o MOV. Máximo 18 minutos (pasa de los 18' y se descuenta).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309360" y="128016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EAF2F6"/>
          </a:solidFill>
          <a:ln/>
        </p:spPr>
      </p:sp>
      <p:sp>
        <p:nvSpPr>
          <p:cNvPr id="10" name="Shape 6"/>
          <p:cNvSpPr/>
          <p:nvPr/>
        </p:nvSpPr>
        <p:spPr>
          <a:xfrm>
            <a:off x="6537960" y="1737360"/>
            <a:ext cx="594360" cy="59436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1883664"/>
            <a:ext cx="301752" cy="3017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15200" y="14447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y entorno</a:t>
            </a: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7315200" y="181051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auriculares con micrófono. Busca un lugar sin ruido de fondo.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40080" y="315468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EAF2F6"/>
          </a:solidFill>
          <a:ln/>
        </p:spPr>
      </p:sp>
      <p:sp>
        <p:nvSpPr>
          <p:cNvPr id="15" name="Shape 10"/>
          <p:cNvSpPr/>
          <p:nvPr/>
        </p:nvSpPr>
        <p:spPr>
          <a:xfrm>
            <a:off x="868680" y="3611880"/>
            <a:ext cx="594360" cy="59436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3758184"/>
            <a:ext cx="301752" cy="3017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5920" y="33192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Cámara y encuadre</a:t>
            </a: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1645920" y="368503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a la altura de los ojos. Muestra tu rostro completo, sin sombras.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309360" y="315468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EAF2F6"/>
          </a:solidFill>
          <a:ln/>
        </p:spPr>
      </p:sp>
      <p:sp>
        <p:nvSpPr>
          <p:cNvPr id="20" name="Shape 14"/>
          <p:cNvSpPr/>
          <p:nvPr/>
        </p:nvSpPr>
        <p:spPr>
          <a:xfrm>
            <a:off x="6537960" y="3611880"/>
            <a:ext cx="594360" cy="59436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3758184"/>
            <a:ext cx="301752" cy="30175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15200" y="33192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Cronómetro</a:t>
            </a: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7315200" y="368503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un cronómetro visible (puede ser tu teléfono) para controlar el tiempo.</a:t>
            </a:r>
            <a:endParaRPr lang="en-US" sz="1600" dirty="0"/>
          </a:p>
        </p:txBody>
      </p:sp>
      <p:pic>
        <p:nvPicPr>
          <p:cNvPr id="25" name="Image 0" descr="Texto&#10;&#10;El contenido generado por IA puede ser incorrecto.">
            <a:extLst>
              <a:ext uri="{FF2B5EF4-FFF2-40B4-BE49-F238E27FC236}">
                <a16:creationId xmlns:a16="http://schemas.microsoft.com/office/drawing/2014/main" id="{97CAC370-3842-FD01-6D3D-7C987CEA113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331480" y="182880"/>
            <a:ext cx="1556960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>
            <a:extLst>
              <a:ext uri="{FF2B5EF4-FFF2-40B4-BE49-F238E27FC236}">
                <a16:creationId xmlns:a16="http://schemas.microsoft.com/office/drawing/2014/main" id="{A8D9969C-B2DB-0AF1-A4AC-AFEBA8DE23BC}"/>
              </a:ext>
            </a:extLst>
          </p:cNvPr>
          <p:cNvSpPr/>
          <p:nvPr/>
        </p:nvSpPr>
        <p:spPr>
          <a:xfrm>
            <a:off x="5408676" y="914400"/>
            <a:ext cx="1371600" cy="1371600"/>
          </a:xfrm>
          <a:prstGeom prst="ellipse">
            <a:avLst/>
          </a:prstGeom>
          <a:solidFill>
            <a:srgbClr val="8DBA35"/>
          </a:solidFill>
          <a:ln/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B5EA4161-45D2-B6CA-3817-EDD1322C5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292" y="1271016"/>
            <a:ext cx="658368" cy="658368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75AFBBDC-226E-BBDC-818A-7C9F8A488567}"/>
              </a:ext>
            </a:extLst>
          </p:cNvPr>
          <p:cNvSpPr/>
          <p:nvPr/>
        </p:nvSpPr>
        <p:spPr>
          <a:xfrm>
            <a:off x="1371600" y="260604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Dominar las cuatro unidades como un sistema integrado</a:t>
            </a:r>
            <a:endParaRPr lang="en-US" sz="2600" dirty="0">
              <a:solidFill>
                <a:srgbClr val="000000"/>
              </a:solidFill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0E8B179B-029D-C275-3942-EC297D2B9FB2}"/>
              </a:ext>
            </a:extLst>
          </p:cNvPr>
          <p:cNvSpPr/>
          <p:nvPr/>
        </p:nvSpPr>
        <p:spPr>
          <a:xfrm>
            <a:off x="1371600" y="342900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 cámara no miente; evalúa la auténtica capacidad de razonamiento técnico.</a:t>
            </a:r>
            <a:endParaRPr lang="en-US" sz="1500" dirty="0">
              <a:solidFill>
                <a:srgbClr val="000000"/>
              </a:solidFill>
            </a:endParaRPr>
          </a:p>
        </p:txBody>
      </p:sp>
      <p:pic>
        <p:nvPicPr>
          <p:cNvPr id="15" name="Image 0" descr="Texto&#10;&#10;El contenido generado por IA puede ser incorrecto.">
            <a:extLst>
              <a:ext uri="{FF2B5EF4-FFF2-40B4-BE49-F238E27FC236}">
                <a16:creationId xmlns:a16="http://schemas.microsoft.com/office/drawing/2014/main" id="{4B05F733-F5D2-8DBE-3F30-CC5039AE97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0468" y="4282282"/>
            <a:ext cx="4333966" cy="198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954152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12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AccentBoxVTI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EVALUACIÓN DE DESEMPEÑO</dc:title>
  <dc:subject>PptxGenJS Presentation</dc:subject>
  <dc:creator>UPCh</dc:creator>
  <cp:lastModifiedBy>UPCh</cp:lastModifiedBy>
  <cp:revision>88</cp:revision>
  <dcterms:created xsi:type="dcterms:W3CDTF">2026-06-30T17:37:12Z</dcterms:created>
  <dcterms:modified xsi:type="dcterms:W3CDTF">2026-06-30T17:59:57Z</dcterms:modified>
</cp:coreProperties>
</file>