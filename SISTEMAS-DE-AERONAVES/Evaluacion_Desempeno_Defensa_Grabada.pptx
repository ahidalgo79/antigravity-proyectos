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52C5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8DBA35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155448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DESEMPEÑO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Grabada Asincrónica (Formato Video)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en Aeronaves - Ingeniería Aeronáutica  •  Grabación individual de 18 minutos máximo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min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máxima del video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738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3738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personalizadas + Bomba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076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pts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1076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Desempeño en video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de la actividad (No presencial)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— Evaluación de Desempeño (Grabación asincrónica)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801368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08" y="1965228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08760" y="20208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minutos máximo por estudiante (video MP4)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64808" y="1801368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668" y="1965228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719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Modalidad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0" y="20208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grabación en casa o espacio académico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280720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" y="3008376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8" y="317223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previo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08760" y="32278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de Resolución Integral entregado (Actividad 1)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280720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64808" y="3008376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668" y="3172236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evalúa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132320" y="32278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aplicado, fluidez verbal y conexión entre unidades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401421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" y="4215384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08" y="4379244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133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Apoyos visuales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508760" y="44348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notas ni lectura; solo una hoja en blanco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63640" y="401421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64808" y="4215384"/>
            <a:ext cx="512064" cy="512064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668" y="4379244"/>
            <a:ext cx="184343" cy="184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4133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crítico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132320" y="44348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responder a las preguntas "¿qué pasaría si?" integradas en la presentación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dinámica: grabar, no leer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52C5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00784"/>
            <a:ext cx="914400" cy="914400"/>
          </a:xfrm>
          <a:prstGeom prst="ellipse">
            <a:avLst/>
          </a:prstGeom>
          <a:solidFill>
            <a:srgbClr val="0F1F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3852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517904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leer el expediente frente a la cámara.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debe simular una defensa ante un jurado, respondiendo a escenarios hipotéticos planteados en esta presentación, demostrando que domina las 4 unidades como un sistema.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152C5B"/>
          </a:solidFill>
          <a:ln/>
        </p:spPr>
      </p:sp>
      <p:sp>
        <p:nvSpPr>
          <p:cNvPr id="8" name="Shape 5"/>
          <p:cNvSpPr/>
          <p:nvPr/>
        </p:nvSpPr>
        <p:spPr>
          <a:xfrm>
            <a:off x="2025396" y="3520440"/>
            <a:ext cx="640080" cy="640080"/>
          </a:xfrm>
          <a:prstGeom prst="ellipse">
            <a:avLst/>
          </a:prstGeom>
          <a:solidFill>
            <a:srgbClr val="0F1F4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218" y="369326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4343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apuntes en cámara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debe mostrar al estudiante sin leer (mirada a cámara).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9976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152C5B"/>
          </a:solidFill>
          <a:ln/>
        </p:spPr>
      </p:sp>
      <p:sp>
        <p:nvSpPr>
          <p:cNvPr id="13" name="Shape 9"/>
          <p:cNvSpPr/>
          <p:nvPr/>
        </p:nvSpPr>
        <p:spPr>
          <a:xfrm>
            <a:off x="5765292" y="3520440"/>
            <a:ext cx="640080" cy="640080"/>
          </a:xfrm>
          <a:prstGeom prst="ellipse">
            <a:avLst/>
          </a:prstGeom>
          <a:solidFill>
            <a:srgbClr val="0F1F4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14" y="369326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08576" y="4343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personalizadas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54296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recibe preguntas únicas basadas en su expediente.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19872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152C5B"/>
          </a:solidFill>
          <a:ln/>
        </p:spPr>
      </p:sp>
      <p:sp>
        <p:nvSpPr>
          <p:cNvPr id="18" name="Shape 13"/>
          <p:cNvSpPr/>
          <p:nvPr/>
        </p:nvSpPr>
        <p:spPr>
          <a:xfrm>
            <a:off x="9505188" y="3520440"/>
            <a:ext cx="640080" cy="640080"/>
          </a:xfrm>
          <a:prstGeom prst="ellipse">
            <a:avLst/>
          </a:prstGeom>
          <a:solidFill>
            <a:srgbClr val="0F1F4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010" y="369326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8472" y="4343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integrador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4192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bomba exige conectar el principio (U1) con la conclusión (U4).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video (18 minutos)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5840" y="2148840"/>
            <a:ext cx="10149840" cy="0"/>
          </a:xfrm>
          <a:prstGeom prst="line">
            <a:avLst/>
          </a:prstGeom>
          <a:noFill/>
          <a:ln w="38100">
            <a:solidFill>
              <a:srgbClr val="C9D6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3544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grabación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65499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9155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61995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resumen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72991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06647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69487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preguntas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47911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81567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44407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preguntas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1073384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469880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+ Bomba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292608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3232404"/>
            <a:ext cx="576072" cy="5760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37413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 ·  Minutos 0–5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69164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sin apoyos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14400" y="39776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fijamente a la cámara (simula contacto con el jurado).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diapositivas, sin notas, sin el documento abierto.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reconstruir la secuencia lógica de la U1 a la U4.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080760" y="292608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29" name="Shape 24"/>
          <p:cNvSpPr/>
          <p:nvPr/>
        </p:nvSpPr>
        <p:spPr>
          <a:xfrm>
            <a:off x="6355080" y="3200400"/>
            <a:ext cx="640080" cy="64008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37413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B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 ·  Minutos 6–18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13232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preguntas grabadas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355080" y="39776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las 4 preguntas personalizadas (U1 a U4).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debe ser fluida y sin cortes de edición.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Concluye con la pregunta bomba integradora (U1↔U4).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52C5B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822960"/>
            <a:ext cx="1280160" cy="1280160"/>
          </a:xfrm>
          <a:prstGeom prst="ellipse">
            <a:avLst/>
          </a:prstGeom>
          <a:solidFill>
            <a:srgbClr val="0F1F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803" y="11686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apoyos visuales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0 – 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 lograr el estudiante (en cámara)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97680" y="114300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10642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 rostro y voz: sin diapositivas, sin expediente, sin notas en mano.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206654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 secuencia lógica completa: U1 (marco) → U2 (cálculo) → U3 (diseño) → U4 (evaluación).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297680" y="306324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46320" y="302666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hilo conductor del proyecto: por qué cada unidad llevó a la siguiente.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297680" y="402336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398678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 tiempo controlado de 5 minutos; la concisión es clave.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297680" y="5074920"/>
            <a:ext cx="7223760" cy="1234440"/>
          </a:xfrm>
          <a:prstGeom prst="roundRect">
            <a:avLst>
              <a:gd name="adj" fmla="val 5926"/>
            </a:avLst>
          </a:prstGeom>
          <a:solidFill>
            <a:srgbClr val="FCEFE3"/>
          </a:solidFill>
          <a:ln/>
        </p:spPr>
      </p:sp>
      <p:sp>
        <p:nvSpPr>
          <p:cNvPr id="22" name="Shape 19"/>
          <p:cNvSpPr/>
          <p:nvPr/>
        </p:nvSpPr>
        <p:spPr>
          <a:xfrm>
            <a:off x="4526280" y="5285232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5395874"/>
            <a:ext cx="281635" cy="28163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5193792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estudiante desvía la mirada constantemente o hace pausas largas, 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señal de que está leyendo un guion oculto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penaliza.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preguntas personalizadas integradas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debe responder a 4 preguntas únicas (una por unidad) presentadas en este documento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CEAEA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debe hacer el alumno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4688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textualmente la respuesta preparada.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la grabación entre pregunta y pregunta (edición).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apuntes fuera del encuadre de la cámara.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7F4EC"/>
          </a:solidFill>
          <a:ln/>
        </p:spPr>
      </p:sp>
      <p:sp>
        <p:nvSpPr>
          <p:cNvPr id="11" name="Shape 7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4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debe hacer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83680" y="24688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pregunta en voz alta, pensar 5 segundos y responder.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sesión entera en un solo take (sin pausas).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el razonamiento, no en la memoria textual.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EAF2F6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800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4832604"/>
            <a:ext cx="576072" cy="5760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4400" y="4800600"/>
            <a:ext cx="640080" cy="64008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97433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663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las preguntas (ejemplo)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691640" y="50749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pasaría si...?”   ·   “¿Cómo modificaría su solución de la U3 si el dato de la U2 cambiara en un 20%?”   ·   “¿Qué haría diferente si...?”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integradas — una por unidad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debe responder TODAS estas preguntas en su video de defensa.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2EEF4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1737360"/>
            <a:ext cx="777240" cy="777240"/>
          </a:xfrm>
          <a:prstGeom prst="ellipse">
            <a:avLst/>
          </a:prstGeom>
          <a:solidFill>
            <a:srgbClr val="152C5B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1691640" cy="0"/>
          </a:xfrm>
          <a:prstGeom prst="line">
            <a:avLst/>
          </a:prstGeom>
          <a:noFill/>
          <a:ln w="12700">
            <a:solidFill>
              <a:srgbClr val="152C5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04672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probabilidad de fallo exigida por FAR/CS cambiara de 10⁻⁹ a 10⁻⁶, ¿qué tipo de fallo dejaría de exigir esa certificación en su diseño?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93008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7F4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7408" y="1737360"/>
            <a:ext cx="777240" cy="7772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630168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Termodinámico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950208" y="3291840"/>
            <a:ext cx="169164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3657600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cambiaría su validación de la ACM si la temperatura de entrada del aire de sangrado subiera un 20%?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BEADB"/>
          </a:solidFill>
          <a:ln/>
        </p:spPr>
      </p:sp>
      <p:sp>
        <p:nvSpPr>
          <p:cNvPr id="20" name="Shape 17"/>
          <p:cNvSpPr/>
          <p:nvPr/>
        </p:nvSpPr>
        <p:spPr>
          <a:xfrm>
            <a:off x="7260336" y="1737360"/>
            <a:ext cx="777240" cy="7772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1" name="Text 18"/>
          <p:cNvSpPr/>
          <p:nvPr/>
        </p:nvSpPr>
        <p:spPr>
          <a:xfrm>
            <a:off x="726033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83096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FBW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03136" y="3291840"/>
            <a:ext cx="1691640" cy="0"/>
          </a:xfrm>
          <a:prstGeom prst="line">
            <a:avLst/>
          </a:prstGeom>
          <a:noFill/>
          <a:ln w="12700">
            <a:solidFill>
              <a:srgbClr val="B5651D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510528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0528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sensor de ángulo de ataque fallara durante la maniobra que describió, ¿qué ley de control tomaría el mando?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198864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CEAEA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13264" y="173736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113264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336024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y Mejora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656064" y="3291840"/>
            <a:ext cx="16916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9363456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363456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cambiaría su estrategia de protección si la temperatura exterior bajara de -20°C a -35°C?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0" cy="14630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0515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BOMBA (Integradora)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651760" y="16002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 al final del video (minutos 15-18)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152C5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834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forzar la conexión entre el principio de apertura (Unidad 1) y la conclusión de cierre (Unidad 4).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3832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Retomando el concepto base de la U1 (probabilidad de fallo catastrófico), ¿cómo valida usted que su conclusión de la U4 sobre la estrategia anti-hielo no contradice ese principio?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49779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48006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una buena respuesta demuestra que el estudiante entendió el expediente como un sistema, no como cuatro tareas sueltas. En el video, debe sonar natural y convincente.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 de evaluación — Desempeño en video (100 puntos)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9424"/>
                <a:gridCol w="2249424"/>
                <a:gridCol w="2249424"/>
                <a:gridCol w="22585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Excelente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C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Bueno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Suficiente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Insuficiente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Resumen ejecutivo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(Fase 1) — 20 pts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18-20. Secuencia completa U1→U4, sin apoyos, fluida y en tiempo.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14-17. Secuencia correcta con pausas o mirada a notas.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10-13. Secuencia incompleta o desordenada.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0-9. No logra reconstruir la secuencia sin el documento.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Respuestas U1-U4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(Fase 2) — 50 pts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45-50. Responde las 4 con razonamiento aplicado y sin lectura.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35-44. Responde 3 de 4 bien, alguna pausa para recordar.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25-34. Responde 2 de 4 o se nota que lee textualmente.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0-24. Responde 0-1 correctamente o usa guion visible.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Pregunta bomba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integradora — 20 pts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18-20. Conecta U1 y U4 con argumento sólido y coherente.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14-17. Conecta ambas unidades con argumento parcial.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10-13. Menciona ambas sin conectarlas realmente.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0-9. No logra relacionar U1 con U4.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Calidad técnica</a:t>
                      </a:r>
                      <a:endParaRPr lang="en-US" sz="950" dirty="0"/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F40"/>
                          </a:solidFill>
                        </a:rPr>
                        <a:t>y tiempo — 10 pts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9-10. Audio claro, encuadre correcto, respeta los 18 min.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7-8. Audio aceptable, alguna distracción visual.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5-6. Problemas de audio o exceso de tiempo.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</a:rPr>
                        <a:t>0-4. Grabación ininteligible o incompleta.</a:t>
                      </a:r>
                      <a:endParaRPr lang="en-US" sz="950" dirty="0"/>
                    </a:p>
                  </a:txBody>
                  <a:tcPr marL="63500" marR="63500" marT="50800" marB="50800" anchor="t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3716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para la revisión del video (docente)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14630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mirada del estudiante: si lee, suele desviarla a los lados o hacia abajo.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duración total; debe ser ≤ 18 min. Si excede, penaliza en la rúbrica.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respuestas con el expediente entregado (Actividad 1) para ver coherencia.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notas en la rúbrica mientras ves el video; no lo hagas de memoria.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379476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CEAE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 (posible falta de autenticidad)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4389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oculares que indican lectura de un guion fuera de cámara.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bruscos de edición entre pregunta y pregunta.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idénticas al texto literal del expediente (memorización).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coherencia entre la respuesta verbal y el análisis escrito.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182880"/>
            <a:ext cx="17373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técnicos para la grabación (alumno)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83664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1444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y duración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645920" y="18105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o MOV. Máximo 18 minutos (pasa de los 18' y se descuenta).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309360" y="12801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10" name="Shape 6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88366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1444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y entorno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315200" y="18105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auriculares con micrófono. Busca un lugar sin ruido de fondo.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31546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15" name="Shape 10"/>
          <p:cNvSpPr/>
          <p:nvPr/>
        </p:nvSpPr>
        <p:spPr>
          <a:xfrm>
            <a:off x="868680" y="3611880"/>
            <a:ext cx="594360" cy="594360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75818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Cámara y encuadre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645920" y="36850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a la altura de los ojos. Muestra tu rostro completo, sin sombras.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309360" y="31546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537960" y="3611880"/>
            <a:ext cx="594360" cy="594360"/>
          </a:xfrm>
          <a:prstGeom prst="ellipse">
            <a:avLst/>
          </a:prstGeom>
          <a:solidFill>
            <a:srgbClr val="152C5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375818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Cronómetro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315200" y="36850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un cronómetro visible (puede ser tu teléfono) para controlar el tiempo.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52C5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08676" y="914400"/>
            <a:ext cx="1371600" cy="137160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292" y="12710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6060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Dominar las cuatro unidades como un sistema integrado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1600" y="34290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cámara no miente; evalúa la auténtica capacidad de razonamiento técnico.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25796" y="5120640"/>
            <a:ext cx="1737360" cy="795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 DESEMPEÑO</dc:title>
  <dc:subject>PptxGenJS Presentation</dc:subject>
  <dc:creator>UPCh</dc:creator>
  <cp:lastModifiedBy>UPCh</cp:lastModifiedBy>
  <cp:revision>1</cp:revision>
  <dcterms:created xsi:type="dcterms:W3CDTF">2026-06-30T17:37:12Z</dcterms:created>
  <dcterms:modified xsi:type="dcterms:W3CDTF">2026-06-30T17:37:12Z</dcterms:modified>
</cp:coreProperties>
</file>