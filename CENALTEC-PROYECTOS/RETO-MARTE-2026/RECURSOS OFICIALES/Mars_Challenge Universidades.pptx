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Public Sans"/>
      <p:bold r:id="rId19"/>
      <p:boldItalic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j39e9LcO7dt5Dc4g3V+RHvUM+h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MontserratSemiBold-boldItalic.fntdata"/><Relationship Id="rId8" Type="http://schemas.openxmlformats.org/officeDocument/2006/relationships/slide" Target="slides/slide3.xml"/><Relationship Id="rId26" Type="http://schemas.openxmlformats.org/officeDocument/2006/relationships/customXml" Target="../customXml/item3.xml"/><Relationship Id="rId21" Type="http://schemas.openxmlformats.org/officeDocument/2006/relationships/font" Target="fonts/Oswald-regular.fntdata"/><Relationship Id="rId3" Type="http://schemas.openxmlformats.org/officeDocument/2006/relationships/presProps" Target="presProps.xml"/><Relationship Id="rId12" Type="http://schemas.openxmlformats.org/officeDocument/2006/relationships/slide" Target="slides/slide7.xml"/><Relationship Id="rId17" Type="http://schemas.openxmlformats.org/officeDocument/2006/relationships/font" Target="fonts/MontserratSemiBold-italic.fntdata"/><Relationship Id="rId7" Type="http://schemas.openxmlformats.org/officeDocument/2006/relationships/slide" Target="slides/slide2.xml"/><Relationship Id="rId25" Type="http://schemas.openxmlformats.org/officeDocument/2006/relationships/customXml" Target="../customXml/item2.xml"/><Relationship Id="rId20" Type="http://schemas.openxmlformats.org/officeDocument/2006/relationships/font" Target="fonts/PublicSans-boldItalic.fntdata"/><Relationship Id="rId2" Type="http://schemas.openxmlformats.org/officeDocument/2006/relationships/viewProps" Target="viewProps.xml"/><Relationship Id="rId16" Type="http://schemas.openxmlformats.org/officeDocument/2006/relationships/font" Target="fonts/MontserratSemiBold-bold.fntdata"/><Relationship Id="rId11" Type="http://schemas.openxmlformats.org/officeDocument/2006/relationships/slide" Target="slides/slide6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24" Type="http://schemas.openxmlformats.org/officeDocument/2006/relationships/customXml" Target="../customXml/item1.xml"/><Relationship Id="rId23" Type="http://customschemas.google.com/relationships/presentationmetadata" Target="metadata"/><Relationship Id="rId15" Type="http://schemas.openxmlformats.org/officeDocument/2006/relationships/font" Target="fonts/MontserratSemiBold-regular.fntdata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font" Target="fonts/PublicSans-bold.fntdata"/><Relationship Id="rId22" Type="http://schemas.openxmlformats.org/officeDocument/2006/relationships/font" Target="fonts/Oswald-bold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6" name="Google Shape;106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8" name="Google Shape;108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8" name="Google Shape;148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9" name="Google Shape;149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51" name="Google Shape;151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2" name="Google Shape;152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6" name="Google Shape;216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18" name="Google Shape;218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9" name="Google Shape;219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0" name="Google Shape;270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1" name="Google Shape;271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73" name="Google Shape;273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4" name="Google Shape;274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87111b807_0_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3" name="Google Shape;313;g3c87111b807_0_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4" name="Google Shape;314;g3c87111b807_0_7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c87111b807_0_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316" name="Google Shape;316;g3c87111b807_0_7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7" name="Google Shape;317;g3c87111b807_0_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1" name="Google Shape;401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2" name="Google Shape;402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04" name="Google Shape;404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5" name="Google Shape;405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7" name="Google Shape;447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48" name="Google Shape;448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450" name="Google Shape;450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1" name="Google Shape;451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1" name="Google Shape;491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2" name="Google Shape;492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</a:t>
            </a:r>
            <a:endParaRPr/>
          </a:p>
        </p:txBody>
      </p:sp>
      <p:sp>
        <p:nvSpPr>
          <p:cNvPr id="494" name="Google Shape;494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5" name="Google Shape;495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10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8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5120640"/>
          </a:xfrm>
          <a:custGeom>
            <a:rect b="b" l="l" r="r" t="t"/>
            <a:pathLst>
              <a:path extrusionOk="0" h="6827520" w="24384000">
                <a:moveTo>
                  <a:pt x="0" y="0"/>
                </a:moveTo>
                <a:lnTo>
                  <a:pt x="24384000" y="0"/>
                </a:lnTo>
                <a:lnTo>
                  <a:pt x="24384000" y="6827520"/>
                </a:lnTo>
                <a:lnTo>
                  <a:pt x="0" y="6827520"/>
                </a:lnTo>
                <a:close/>
              </a:path>
            </a:pathLst>
          </a:custGeom>
          <a:solidFill>
            <a:srgbClr val="1A3A8F">
              <a:alpha val="8627"/>
            </a:srgbClr>
          </a:solid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0" y="0"/>
            <a:ext cx="18288000" cy="109728"/>
          </a:xfrm>
          <a:custGeom>
            <a:rect b="b" l="l" r="r" t="t"/>
            <a:pathLst>
              <a:path extrusionOk="0" h="146304" w="24384000">
                <a:moveTo>
                  <a:pt x="0" y="0"/>
                </a:moveTo>
                <a:lnTo>
                  <a:pt x="24384000" y="0"/>
                </a:lnTo>
                <a:lnTo>
                  <a:pt x="24384000" y="146304"/>
                </a:lnTo>
                <a:lnTo>
                  <a:pt x="0" y="146304"/>
                </a:lnTo>
                <a:close/>
              </a:path>
            </a:pathLst>
          </a:custGeom>
          <a:solidFill>
            <a:srgbClr val="C42B2B"/>
          </a:solidFill>
          <a:ln>
            <a:noFill/>
          </a:ln>
        </p:spPr>
      </p:sp>
      <p:grpSp>
        <p:nvGrpSpPr>
          <p:cNvPr id="94" name="Google Shape;94;p1"/>
          <p:cNvGrpSpPr/>
          <p:nvPr/>
        </p:nvGrpSpPr>
        <p:grpSpPr>
          <a:xfrm>
            <a:off x="1463040" y="2377440"/>
            <a:ext cx="15361921" cy="2743200"/>
            <a:chOff x="0" y="0"/>
            <a:chExt cx="20482561" cy="3657600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20482561" cy="3657600"/>
            </a:xfrm>
            <a:custGeom>
              <a:rect b="b" l="l" r="r" t="t"/>
              <a:pathLst>
                <a:path extrusionOk="0" h="36576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657600"/>
                  </a:lnTo>
                  <a:lnTo>
                    <a:pt x="0" y="3657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9108" l="0" r="0" t="-59108"/>
              </a:stretch>
            </a:blip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0" y="66675"/>
              <a:ext cx="20482560" cy="3590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El programa que entrena</a:t>
              </a:r>
              <a:endParaRPr/>
            </a:p>
            <a:p>
              <a:pPr indent="0" lvl="0" marL="0" marR="0" rtl="0" algn="l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lo que la IA no puede sustituir</a:t>
              </a:r>
              <a:endParaRPr/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1463040" y="5675471"/>
            <a:ext cx="12801600" cy="921544"/>
            <a:chOff x="0" y="-9525"/>
            <a:chExt cx="17068800" cy="122872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7068800" cy="1219200"/>
            </a:xfrm>
            <a:custGeom>
              <a:rect b="b" l="l" r="r" t="t"/>
              <a:pathLst>
                <a:path extrusionOk="0"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776" l="0" r="0" t="-222776"/>
              </a:stretch>
            </a:blipFill>
            <a:ln>
              <a:noFill/>
            </a:ln>
          </p:spPr>
        </p:sp>
        <p:sp>
          <p:nvSpPr>
            <p:cNvPr id="99" name="Google Shape;99;p1"/>
            <p:cNvSpPr txBox="1"/>
            <p:nvPr/>
          </p:nvSpPr>
          <p:spPr>
            <a:xfrm>
              <a:off x="0" y="-9525"/>
              <a:ext cx="17068800" cy="1228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CBD5E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Criterio, decisión y colaboración bajo incertidumbre real</a:t>
              </a:r>
              <a:endParaRPr/>
            </a:p>
          </p:txBody>
        </p:sp>
      </p:grpSp>
      <p:sp>
        <p:nvSpPr>
          <p:cNvPr id="100" name="Google Shape;100;p1"/>
          <p:cNvSpPr/>
          <p:nvPr/>
        </p:nvSpPr>
        <p:spPr>
          <a:xfrm>
            <a:off x="723900" y="673939"/>
            <a:ext cx="10622003" cy="1376273"/>
          </a:xfrm>
          <a:custGeom>
            <a:rect b="b" l="l" r="r" t="t"/>
            <a:pathLst>
              <a:path extrusionOk="0" h="1376273" w="10622003">
                <a:moveTo>
                  <a:pt x="0" y="0"/>
                </a:moveTo>
                <a:lnTo>
                  <a:pt x="10622003" y="0"/>
                </a:lnTo>
                <a:lnTo>
                  <a:pt x="10622003" y="1376272"/>
                </a:lnTo>
                <a:lnTo>
                  <a:pt x="0" y="1376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14286832" y="8481137"/>
            <a:ext cx="2972468" cy="1554327"/>
          </a:xfrm>
          <a:custGeom>
            <a:rect b="b" l="l" r="r" t="t"/>
            <a:pathLst>
              <a:path extrusionOk="0" h="1554327" w="2972468">
                <a:moveTo>
                  <a:pt x="0" y="0"/>
                </a:moveTo>
                <a:lnTo>
                  <a:pt x="2972468" y="0"/>
                </a:lnTo>
                <a:lnTo>
                  <a:pt x="2972468" y="1554326"/>
                </a:lnTo>
                <a:lnTo>
                  <a:pt x="0" y="1554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 txBox="1"/>
          <p:nvPr/>
        </p:nvSpPr>
        <p:spPr>
          <a:xfrm>
            <a:off x="15315222" y="8443037"/>
            <a:ext cx="2280659" cy="3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una iniciativa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"/>
          <p:cNvGrpSpPr/>
          <p:nvPr/>
        </p:nvGrpSpPr>
        <p:grpSpPr>
          <a:xfrm>
            <a:off x="1463040" y="548640"/>
            <a:ext cx="16459200" cy="1280160"/>
            <a:chOff x="0" y="0"/>
            <a:chExt cx="21945600" cy="1706880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21945600" cy="1706880"/>
            </a:xfrm>
            <a:custGeom>
              <a:rect b="b" l="l" r="r" t="t"/>
              <a:pathLst>
                <a:path extrusionOk="0"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0501" l="0" r="0" t="-200501"/>
              </a:stretch>
            </a:blip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0"/>
              <a:ext cx="21945600" cy="1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8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Lo que la ciencia está confirmando</a:t>
              </a: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1463040" y="2194560"/>
            <a:ext cx="15361921" cy="2103120"/>
          </a:xfrm>
          <a:custGeom>
            <a:rect b="b" l="l" r="r" t="t"/>
            <a:pathLst>
              <a:path extrusionOk="0" h="2804160" w="20482561">
                <a:moveTo>
                  <a:pt x="0" y="0"/>
                </a:moveTo>
                <a:lnTo>
                  <a:pt x="20482561" y="0"/>
                </a:lnTo>
                <a:lnTo>
                  <a:pt x="20482561" y="2804160"/>
                </a:lnTo>
                <a:lnTo>
                  <a:pt x="0" y="280416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1463040" y="2194560"/>
            <a:ext cx="2926080" cy="2103120"/>
          </a:xfrm>
          <a:custGeom>
            <a:rect b="b" l="l" r="r" t="t"/>
            <a:pathLst>
              <a:path extrusionOk="0" h="2804160" w="3901440">
                <a:moveTo>
                  <a:pt x="0" y="0"/>
                </a:moveTo>
                <a:lnTo>
                  <a:pt x="3901440" y="0"/>
                </a:lnTo>
                <a:lnTo>
                  <a:pt x="3901440" y="2804160"/>
                </a:lnTo>
                <a:lnTo>
                  <a:pt x="0" y="2804160"/>
                </a:lnTo>
                <a:close/>
              </a:path>
            </a:pathLst>
          </a:custGeom>
          <a:solidFill>
            <a:srgbClr val="1A3A8F"/>
          </a:solidFill>
          <a:ln>
            <a:noFill/>
          </a:ln>
        </p:spPr>
      </p:sp>
      <p:grpSp>
        <p:nvGrpSpPr>
          <p:cNvPr id="116" name="Google Shape;116;p2"/>
          <p:cNvGrpSpPr/>
          <p:nvPr/>
        </p:nvGrpSpPr>
        <p:grpSpPr>
          <a:xfrm>
            <a:off x="1463040" y="2377440"/>
            <a:ext cx="2926080" cy="1059028"/>
            <a:chOff x="0" y="0"/>
            <a:chExt cx="3901440" cy="1412037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3901440" cy="1412037"/>
            </a:xfrm>
            <a:custGeom>
              <a:rect b="b" l="l" r="r" t="t"/>
              <a:pathLst>
                <a:path extrusionOk="0" h="1412037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12037"/>
                  </a:lnTo>
                  <a:lnTo>
                    <a:pt x="0" y="14120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24" l="0" r="0" t="-6347"/>
              </a:stretch>
            </a:blip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0"/>
              <a:ext cx="3901440" cy="14120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r = -0.68</a:t>
              </a:r>
              <a:endParaRPr/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4846320" y="2397442"/>
            <a:ext cx="11521440" cy="1625918"/>
            <a:chOff x="0" y="-95250"/>
            <a:chExt cx="15361920" cy="2167890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5361920" cy="2072640"/>
            </a:xfrm>
            <a:custGeom>
              <a:rect b="b" l="l" r="r" t="t"/>
              <a:pathLst>
                <a:path extrusionOk="0" h="207264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2072640"/>
                  </a:lnTo>
                  <a:lnTo>
                    <a:pt x="0" y="2072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4416" l="0" r="0" t="-94416"/>
              </a:stretch>
            </a:blip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0" y="-95250"/>
              <a:ext cx="15361920" cy="2167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BD5E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Correlación negativa significativa entre uso frecuente de IA y pensamiento crítico. A mayor uso, menor capacidad de razonamiento analítico.</a:t>
              </a:r>
              <a:endParaRPr/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1463040" y="4663440"/>
            <a:ext cx="15361921" cy="2103120"/>
          </a:xfrm>
          <a:custGeom>
            <a:rect b="b" l="l" r="r" t="t"/>
            <a:pathLst>
              <a:path extrusionOk="0" h="2804160" w="20482561">
                <a:moveTo>
                  <a:pt x="0" y="0"/>
                </a:moveTo>
                <a:lnTo>
                  <a:pt x="20482561" y="0"/>
                </a:lnTo>
                <a:lnTo>
                  <a:pt x="20482561" y="2804160"/>
                </a:lnTo>
                <a:lnTo>
                  <a:pt x="0" y="280416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1463040" y="4663440"/>
            <a:ext cx="2926080" cy="2103120"/>
          </a:xfrm>
          <a:custGeom>
            <a:rect b="b" l="l" r="r" t="t"/>
            <a:pathLst>
              <a:path extrusionOk="0" h="2804160" w="3901440">
                <a:moveTo>
                  <a:pt x="0" y="0"/>
                </a:moveTo>
                <a:lnTo>
                  <a:pt x="3901440" y="0"/>
                </a:lnTo>
                <a:lnTo>
                  <a:pt x="3901440" y="2804160"/>
                </a:lnTo>
                <a:lnTo>
                  <a:pt x="0" y="2804160"/>
                </a:lnTo>
                <a:close/>
              </a:path>
            </a:pathLst>
          </a:custGeom>
          <a:solidFill>
            <a:srgbClr val="1A3A8F"/>
          </a:solidFill>
          <a:ln>
            <a:noFill/>
          </a:ln>
        </p:spPr>
      </p:sp>
      <p:grpSp>
        <p:nvGrpSpPr>
          <p:cNvPr id="124" name="Google Shape;124;p2"/>
          <p:cNvGrpSpPr/>
          <p:nvPr/>
        </p:nvGrpSpPr>
        <p:grpSpPr>
          <a:xfrm>
            <a:off x="1463040" y="4846320"/>
            <a:ext cx="2926080" cy="1059028"/>
            <a:chOff x="0" y="0"/>
            <a:chExt cx="3901440" cy="1412037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3901440" cy="1412037"/>
            </a:xfrm>
            <a:custGeom>
              <a:rect b="b" l="l" r="r" t="t"/>
              <a:pathLst>
                <a:path extrusionOk="0" h="1412037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12037"/>
                  </a:lnTo>
                  <a:lnTo>
                    <a:pt x="0" y="14120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24" l="0" r="0" t="-6347"/>
              </a:stretch>
            </a:blip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0"/>
              <a:ext cx="3901440" cy="14120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3.2%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4846320" y="4866323"/>
            <a:ext cx="11521440" cy="1625917"/>
            <a:chOff x="0" y="-95250"/>
            <a:chExt cx="15361920" cy="216789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5361920" cy="2072640"/>
            </a:xfrm>
            <a:custGeom>
              <a:rect b="b" l="l" r="r" t="t"/>
              <a:pathLst>
                <a:path extrusionOk="0" h="207264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2072640"/>
                  </a:lnTo>
                  <a:lnTo>
                    <a:pt x="0" y="2072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4416" l="0" r="0" t="-94416"/>
              </a:stretch>
            </a:blip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95250"/>
              <a:ext cx="15361920" cy="2167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BD5E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Tasa de discrepancia humana con algoritmos. Cuando la máquina decide, dejamos de cuestionar — incluso con evidencia contraria.</a:t>
              </a:r>
              <a:endParaRPr/>
            </a:p>
          </p:txBody>
        </p:sp>
      </p:grpSp>
      <p:sp>
        <p:nvSpPr>
          <p:cNvPr id="130" name="Google Shape;130;p2"/>
          <p:cNvSpPr/>
          <p:nvPr/>
        </p:nvSpPr>
        <p:spPr>
          <a:xfrm>
            <a:off x="1463040" y="7132320"/>
            <a:ext cx="15361921" cy="2103120"/>
          </a:xfrm>
          <a:custGeom>
            <a:rect b="b" l="l" r="r" t="t"/>
            <a:pathLst>
              <a:path extrusionOk="0" h="2804160" w="20482561">
                <a:moveTo>
                  <a:pt x="0" y="0"/>
                </a:moveTo>
                <a:lnTo>
                  <a:pt x="20482561" y="0"/>
                </a:lnTo>
                <a:lnTo>
                  <a:pt x="20482561" y="2804160"/>
                </a:lnTo>
                <a:lnTo>
                  <a:pt x="0" y="280416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id="131" name="Google Shape;131;p2"/>
          <p:cNvSpPr/>
          <p:nvPr/>
        </p:nvSpPr>
        <p:spPr>
          <a:xfrm>
            <a:off x="1463040" y="7132320"/>
            <a:ext cx="2926080" cy="2103120"/>
          </a:xfrm>
          <a:custGeom>
            <a:rect b="b" l="l" r="r" t="t"/>
            <a:pathLst>
              <a:path extrusionOk="0" h="2804160" w="3901440">
                <a:moveTo>
                  <a:pt x="0" y="0"/>
                </a:moveTo>
                <a:lnTo>
                  <a:pt x="3901440" y="0"/>
                </a:lnTo>
                <a:lnTo>
                  <a:pt x="3901440" y="2804160"/>
                </a:lnTo>
                <a:lnTo>
                  <a:pt x="0" y="2804160"/>
                </a:lnTo>
                <a:close/>
              </a:path>
            </a:pathLst>
          </a:custGeom>
          <a:solidFill>
            <a:srgbClr val="1A3A8F"/>
          </a:solidFill>
          <a:ln>
            <a:noFill/>
          </a:ln>
        </p:spPr>
      </p:sp>
      <p:grpSp>
        <p:nvGrpSpPr>
          <p:cNvPr id="132" name="Google Shape;132;p2"/>
          <p:cNvGrpSpPr/>
          <p:nvPr/>
        </p:nvGrpSpPr>
        <p:grpSpPr>
          <a:xfrm>
            <a:off x="1463040" y="7315200"/>
            <a:ext cx="2926080" cy="1059028"/>
            <a:chOff x="0" y="0"/>
            <a:chExt cx="3901440" cy="1412037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3901440" cy="1412037"/>
            </a:xfrm>
            <a:custGeom>
              <a:rect b="b" l="l" r="r" t="t"/>
              <a:pathLst>
                <a:path extrusionOk="0" h="1412037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412037"/>
                  </a:lnTo>
                  <a:lnTo>
                    <a:pt x="0" y="14120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24" l="0" r="0" t="-6347"/>
              </a:stretch>
            </a:blipFill>
            <a:ln>
              <a:noFill/>
            </a:ln>
          </p:spPr>
        </p:sp>
        <p:sp>
          <p:nvSpPr>
            <p:cNvPr id="134" name="Google Shape;134;p2"/>
            <p:cNvSpPr txBox="1"/>
            <p:nvPr/>
          </p:nvSpPr>
          <p:spPr>
            <a:xfrm>
              <a:off x="0" y="0"/>
              <a:ext cx="3901440" cy="14120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2x</a:t>
              </a:r>
              <a:endParaRPr/>
            </a:p>
          </p:txBody>
        </p:sp>
      </p:grpSp>
      <p:grpSp>
        <p:nvGrpSpPr>
          <p:cNvPr id="135" name="Google Shape;135;p2"/>
          <p:cNvGrpSpPr/>
          <p:nvPr/>
        </p:nvGrpSpPr>
        <p:grpSpPr>
          <a:xfrm>
            <a:off x="4846320" y="7335202"/>
            <a:ext cx="11521440" cy="1625918"/>
            <a:chOff x="0" y="-95250"/>
            <a:chExt cx="15361920" cy="2167890"/>
          </a:xfrm>
        </p:grpSpPr>
        <p:sp>
          <p:nvSpPr>
            <p:cNvPr id="136" name="Google Shape;136;p2"/>
            <p:cNvSpPr/>
            <p:nvPr/>
          </p:nvSpPr>
          <p:spPr>
            <a:xfrm>
              <a:off x="0" y="0"/>
              <a:ext cx="15361920" cy="2072640"/>
            </a:xfrm>
            <a:custGeom>
              <a:rect b="b" l="l" r="r" t="t"/>
              <a:pathLst>
                <a:path extrusionOk="0" h="207264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2072640"/>
                  </a:lnTo>
                  <a:lnTo>
                    <a:pt x="0" y="2072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4416" l="0" r="0" t="-94416"/>
              </a:stretch>
            </a:blipFill>
            <a:ln>
              <a:noFill/>
            </a:ln>
          </p:spPr>
        </p:sp>
        <p:sp>
          <p:nvSpPr>
            <p:cNvPr id="137" name="Google Shape;137;p2"/>
            <p:cNvSpPr txBox="1"/>
            <p:nvPr/>
          </p:nvSpPr>
          <p:spPr>
            <a:xfrm>
              <a:off x="0" y="-95250"/>
              <a:ext cx="15361920" cy="2167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BD5E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Estudiantes que generan respuestas aprenden el doble que los que las reciben. La fricción cognitiva no es el enemigo del aprendizaje — es su combustible.</a:t>
              </a:r>
              <a:endParaRPr/>
            </a:p>
          </p:txBody>
        </p:sp>
      </p:grpSp>
      <p:sp>
        <p:nvSpPr>
          <p:cNvPr id="138" name="Google Shape;138;p2"/>
          <p:cNvSpPr/>
          <p:nvPr/>
        </p:nvSpPr>
        <p:spPr>
          <a:xfrm>
            <a:off x="0" y="9144000"/>
            <a:ext cx="18288000" cy="1152144"/>
          </a:xfrm>
          <a:custGeom>
            <a:rect b="b" l="l" r="r" t="t"/>
            <a:pathLst>
              <a:path extrusionOk="0" h="1536192" w="24384000">
                <a:moveTo>
                  <a:pt x="0" y="0"/>
                </a:moveTo>
                <a:lnTo>
                  <a:pt x="24384000" y="0"/>
                </a:lnTo>
                <a:lnTo>
                  <a:pt x="24384000" y="1536192"/>
                </a:lnTo>
                <a:lnTo>
                  <a:pt x="0" y="1536192"/>
                </a:lnTo>
                <a:close/>
              </a:path>
            </a:pathLst>
          </a:custGeom>
          <a:solidFill>
            <a:srgbClr val="C42B2B"/>
          </a:solidFill>
          <a:ln>
            <a:noFill/>
          </a:ln>
        </p:spPr>
      </p:sp>
      <p:grpSp>
        <p:nvGrpSpPr>
          <p:cNvPr id="139" name="Google Shape;139;p2"/>
          <p:cNvGrpSpPr/>
          <p:nvPr/>
        </p:nvGrpSpPr>
        <p:grpSpPr>
          <a:xfrm>
            <a:off x="1463040" y="9221153"/>
            <a:ext cx="15361921" cy="928688"/>
            <a:chOff x="0" y="-19050"/>
            <a:chExt cx="20482561" cy="1238250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20482561" cy="1219200"/>
            </a:xfrm>
            <a:custGeom>
              <a:rect b="b" l="l" r="r" t="t"/>
              <a:pathLst>
                <a:path extrusionOk="0" h="12192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7310" l="0" r="0" t="-277310"/>
              </a:stretch>
            </a:blip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19050"/>
              <a:ext cx="20482560" cy="1238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2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Cuando la respuesta ya está dada, lo que queda por educar es el criterio para decidir cuándo esa respuesta no es suficiente.</a:t>
              </a:r>
              <a:endParaRPr/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13758889" y="388804"/>
            <a:ext cx="4938686" cy="639896"/>
          </a:xfrm>
          <a:custGeom>
            <a:rect b="b" l="l" r="r" t="t"/>
            <a:pathLst>
              <a:path extrusionOk="0" h="639896" w="4938686">
                <a:moveTo>
                  <a:pt x="0" y="0"/>
                </a:moveTo>
                <a:lnTo>
                  <a:pt x="4938686" y="0"/>
                </a:lnTo>
                <a:lnTo>
                  <a:pt x="4938686" y="639896"/>
                </a:lnTo>
                <a:lnTo>
                  <a:pt x="0" y="639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 txBox="1"/>
          <p:nvPr/>
        </p:nvSpPr>
        <p:spPr>
          <a:xfrm>
            <a:off x="1744163" y="3383280"/>
            <a:ext cx="236383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9" u="none" cap="none" strike="noStrike">
                <a:solidFill>
                  <a:srgbClr val="CBD5E1"/>
                </a:solidFill>
                <a:latin typeface="Public Sans"/>
                <a:ea typeface="Public Sans"/>
                <a:cs typeface="Public Sans"/>
                <a:sym typeface="Public Sans"/>
              </a:rPr>
              <a:t>Gerlich 2025, SBS Swiss Business School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1463040" y="5852160"/>
            <a:ext cx="292608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9" u="none" cap="none" strike="noStrike">
                <a:solidFill>
                  <a:srgbClr val="CBD5E1"/>
                </a:solidFill>
                <a:latin typeface="Public Sans"/>
                <a:ea typeface="Public Sans"/>
                <a:cs typeface="Public Sans"/>
                <a:sym typeface="Public Sans"/>
              </a:rPr>
              <a:t>Sistema RisCanvi, AI &amp; Society 2025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1463040" y="8321040"/>
            <a:ext cx="292608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9" u="none" cap="none" strike="noStrike">
                <a:solidFill>
                  <a:srgbClr val="CBD5E1"/>
                </a:solidFill>
                <a:latin typeface="Public Sans"/>
                <a:ea typeface="Public Sans"/>
                <a:cs typeface="Public Sans"/>
                <a:sym typeface="Public Sans"/>
              </a:rPr>
              <a:t>Carnegie Mellon, Bjork &amp; Bjork UCLA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/>
          <p:nvPr/>
        </p:nvSpPr>
        <p:spPr>
          <a:xfrm>
            <a:off x="0" y="0"/>
            <a:ext cx="18288000" cy="109728"/>
          </a:xfrm>
          <a:custGeom>
            <a:rect b="b" l="l" r="r" t="t"/>
            <a:pathLst>
              <a:path extrusionOk="0" h="146304" w="24384000">
                <a:moveTo>
                  <a:pt x="0" y="0"/>
                </a:moveTo>
                <a:lnTo>
                  <a:pt x="24384000" y="0"/>
                </a:lnTo>
                <a:lnTo>
                  <a:pt x="24384000" y="146304"/>
                </a:lnTo>
                <a:lnTo>
                  <a:pt x="0" y="146304"/>
                </a:lnTo>
                <a:close/>
              </a:path>
            </a:pathLst>
          </a:custGeom>
          <a:solidFill>
            <a:srgbClr val="C42B2B"/>
          </a:solidFill>
          <a:ln>
            <a:noFill/>
          </a:ln>
        </p:spPr>
      </p:sp>
      <p:grpSp>
        <p:nvGrpSpPr>
          <p:cNvPr id="155" name="Google Shape;155;p3"/>
          <p:cNvGrpSpPr/>
          <p:nvPr/>
        </p:nvGrpSpPr>
        <p:grpSpPr>
          <a:xfrm>
            <a:off x="914400" y="450056"/>
            <a:ext cx="14630400" cy="1287304"/>
            <a:chOff x="0" y="-9525"/>
            <a:chExt cx="19507200" cy="1716405"/>
          </a:xfrm>
        </p:grpSpPr>
        <p:sp>
          <p:nvSpPr>
            <p:cNvPr id="156" name="Google Shape;156;p3"/>
            <p:cNvSpPr/>
            <p:nvPr/>
          </p:nvSpPr>
          <p:spPr>
            <a:xfrm>
              <a:off x="0" y="0"/>
              <a:ext cx="19507200" cy="1706880"/>
            </a:xfrm>
            <a:custGeom>
              <a:rect b="b" l="l" r="r" t="t"/>
              <a:pathLst>
                <a:path extrusionOk="0"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2677" l="0" r="0" t="-172677"/>
              </a:stretch>
            </a:blipFill>
            <a:ln>
              <a:noFill/>
            </a:ln>
          </p:spPr>
        </p:sp>
        <p:sp>
          <p:nvSpPr>
            <p:cNvPr id="157" name="Google Shape;157;p3"/>
            <p:cNvSpPr txBox="1"/>
            <p:nvPr/>
          </p:nvSpPr>
          <p:spPr>
            <a:xfrm>
              <a:off x="0" y="-9525"/>
              <a:ext cx="19507200" cy="1716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99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Las competencias que IA no sustituye</a:t>
              </a:r>
              <a:endParaRPr/>
            </a:p>
          </p:txBody>
        </p:sp>
      </p:grpSp>
      <p:grpSp>
        <p:nvGrpSpPr>
          <p:cNvPr id="158" name="Google Shape;158;p3"/>
          <p:cNvGrpSpPr/>
          <p:nvPr/>
        </p:nvGrpSpPr>
        <p:grpSpPr>
          <a:xfrm>
            <a:off x="914400" y="1631633"/>
            <a:ext cx="14630400" cy="562927"/>
            <a:chOff x="0" y="-19050"/>
            <a:chExt cx="19507200" cy="750570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19507200" cy="731520"/>
            </a:xfrm>
            <a:custGeom>
              <a:rect b="b" l="l" r="r" t="t"/>
              <a:pathLst>
                <a:path extrusionOk="0"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534" l="0" r="0" t="-469534"/>
              </a:stretch>
            </a:blipFill>
            <a:ln>
              <a:noFill/>
            </a:ln>
          </p:spPr>
        </p:sp>
        <p:sp>
          <p:nvSpPr>
            <p:cNvPr id="160" name="Google Shape;160;p3"/>
            <p:cNvSpPr txBox="1"/>
            <p:nvPr/>
          </p:nvSpPr>
          <p:spPr>
            <a:xfrm>
              <a:off x="0" y="-19050"/>
              <a:ext cx="19507200" cy="750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Lo que Mars Challenge entrena deliberadamente</a:t>
              </a:r>
              <a:endParaRPr/>
            </a:p>
          </p:txBody>
        </p:sp>
      </p:grpSp>
      <p:sp>
        <p:nvSpPr>
          <p:cNvPr id="161" name="Google Shape;161;p3"/>
          <p:cNvSpPr/>
          <p:nvPr/>
        </p:nvSpPr>
        <p:spPr>
          <a:xfrm>
            <a:off x="914400" y="2651760"/>
            <a:ext cx="5303520" cy="2926080"/>
          </a:xfrm>
          <a:custGeom>
            <a:rect b="b" l="l" r="r" t="t"/>
            <a:pathLst>
              <a:path extrusionOk="0" h="3901440" w="7071360">
                <a:moveTo>
                  <a:pt x="0" y="0"/>
                </a:moveTo>
                <a:lnTo>
                  <a:pt x="7071360" y="0"/>
                </a:lnTo>
                <a:lnTo>
                  <a:pt x="7071360" y="3901440"/>
                </a:lnTo>
                <a:lnTo>
                  <a:pt x="0" y="390144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descr="preencoded.png" id="162" name="Google Shape;162;p3"/>
          <p:cNvSpPr/>
          <p:nvPr/>
        </p:nvSpPr>
        <p:spPr>
          <a:xfrm>
            <a:off x="1188720" y="2926080"/>
            <a:ext cx="640080" cy="640080"/>
          </a:xfrm>
          <a:custGeom>
            <a:rect b="b" l="l" r="r" t="t"/>
            <a:pathLst>
              <a:path extrusionOk="0" h="853440" w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3"/>
          <p:cNvGrpSpPr/>
          <p:nvPr/>
        </p:nvGrpSpPr>
        <p:grpSpPr>
          <a:xfrm>
            <a:off x="2011680" y="2926080"/>
            <a:ext cx="3931920" cy="640080"/>
            <a:chOff x="0" y="0"/>
            <a:chExt cx="5242560" cy="853440"/>
          </a:xfrm>
        </p:grpSpPr>
        <p:sp>
          <p:nvSpPr>
            <p:cNvPr id="164" name="Google Shape;164;p3"/>
            <p:cNvSpPr/>
            <p:nvPr/>
          </p:nvSpPr>
          <p:spPr>
            <a:xfrm>
              <a:off x="0" y="0"/>
              <a:ext cx="5242560" cy="853440"/>
            </a:xfrm>
            <a:custGeom>
              <a:rect b="b" l="l" r="r" t="t"/>
              <a:pathLst>
                <a:path extrusionOk="0" h="8534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9690" l="0" r="0" t="-69687"/>
              </a:stretch>
            </a:blipFill>
            <a:ln>
              <a:noFill/>
            </a:ln>
          </p:spPr>
        </p:sp>
        <p:sp>
          <p:nvSpPr>
            <p:cNvPr id="165" name="Google Shape;165;p3"/>
            <p:cNvSpPr txBox="1"/>
            <p:nvPr/>
          </p:nvSpPr>
          <p:spPr>
            <a:xfrm>
              <a:off x="0" y="0"/>
              <a:ext cx="524256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Decidir bajo incertidumbre</a:t>
              </a:r>
              <a:endParaRPr/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1188720" y="3699034"/>
            <a:ext cx="4754880" cy="1695926"/>
            <a:chOff x="0" y="-66675"/>
            <a:chExt cx="6339840" cy="2261235"/>
          </a:xfrm>
        </p:grpSpPr>
        <p:sp>
          <p:nvSpPr>
            <p:cNvPr id="167" name="Google Shape;167;p3"/>
            <p:cNvSpPr/>
            <p:nvPr/>
          </p:nvSpPr>
          <p:spPr>
            <a:xfrm>
              <a:off x="0" y="0"/>
              <a:ext cx="6339840" cy="2194560"/>
            </a:xfrm>
            <a:custGeom>
              <a:rect b="b" l="l" r="r" t="t"/>
              <a:pathLst>
                <a:path extrusionOk="0"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88" l="0" r="0" t="-6289"/>
              </a:stretch>
            </a:blipFill>
            <a:ln>
              <a:noFill/>
            </a:ln>
          </p:spPr>
        </p:sp>
        <p:sp>
          <p:nvSpPr>
            <p:cNvPr id="168" name="Google Shape;168;p3"/>
            <p:cNvSpPr txBox="1"/>
            <p:nvPr/>
          </p:nvSpPr>
          <p:spPr>
            <a:xfrm>
              <a:off x="0" y="-66675"/>
              <a:ext cx="6339840" cy="2261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Retos sin respuesta correcta. Solo trade-offs, dilemas y consecuencias. IA calcula opciones; el equipo elige y defiende.</a:t>
              </a:r>
              <a:endParaRPr/>
            </a:p>
          </p:txBody>
        </p:sp>
      </p:grpSp>
      <p:sp>
        <p:nvSpPr>
          <p:cNvPr id="169" name="Google Shape;169;p3"/>
          <p:cNvSpPr/>
          <p:nvPr/>
        </p:nvSpPr>
        <p:spPr>
          <a:xfrm>
            <a:off x="6583680" y="2651760"/>
            <a:ext cx="5303520" cy="2926080"/>
          </a:xfrm>
          <a:custGeom>
            <a:rect b="b" l="l" r="r" t="t"/>
            <a:pathLst>
              <a:path extrusionOk="0" h="3901440" w="7071360">
                <a:moveTo>
                  <a:pt x="0" y="0"/>
                </a:moveTo>
                <a:lnTo>
                  <a:pt x="7071360" y="0"/>
                </a:lnTo>
                <a:lnTo>
                  <a:pt x="7071360" y="3901440"/>
                </a:lnTo>
                <a:lnTo>
                  <a:pt x="0" y="390144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descr="preencoded.png" id="170" name="Google Shape;170;p3"/>
          <p:cNvSpPr/>
          <p:nvPr/>
        </p:nvSpPr>
        <p:spPr>
          <a:xfrm>
            <a:off x="6858000" y="2926080"/>
            <a:ext cx="640080" cy="640080"/>
          </a:xfrm>
          <a:custGeom>
            <a:rect b="b" l="l" r="r" t="t"/>
            <a:pathLst>
              <a:path extrusionOk="0" h="853440" w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1" name="Google Shape;171;p3"/>
          <p:cNvGrpSpPr/>
          <p:nvPr/>
        </p:nvGrpSpPr>
        <p:grpSpPr>
          <a:xfrm>
            <a:off x="7680960" y="2926080"/>
            <a:ext cx="3931920" cy="640080"/>
            <a:chOff x="0" y="0"/>
            <a:chExt cx="5242560" cy="853440"/>
          </a:xfrm>
        </p:grpSpPr>
        <p:sp>
          <p:nvSpPr>
            <p:cNvPr id="172" name="Google Shape;172;p3"/>
            <p:cNvSpPr/>
            <p:nvPr/>
          </p:nvSpPr>
          <p:spPr>
            <a:xfrm>
              <a:off x="0" y="0"/>
              <a:ext cx="5242560" cy="853440"/>
            </a:xfrm>
            <a:custGeom>
              <a:rect b="b" l="l" r="r" t="t"/>
              <a:pathLst>
                <a:path extrusionOk="0" h="8534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9690" l="0" r="0" t="-69687"/>
              </a:stretch>
            </a:blipFill>
            <a:ln>
              <a:noFill/>
            </a:ln>
          </p:spPr>
        </p:sp>
        <p:sp>
          <p:nvSpPr>
            <p:cNvPr id="173" name="Google Shape;173;p3"/>
            <p:cNvSpPr txBox="1"/>
            <p:nvPr/>
          </p:nvSpPr>
          <p:spPr>
            <a:xfrm>
              <a:off x="0" y="0"/>
              <a:ext cx="524256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Formular la pregunta</a:t>
              </a:r>
              <a:endParaRPr/>
            </a:p>
          </p:txBody>
        </p:sp>
      </p:grpSp>
      <p:grpSp>
        <p:nvGrpSpPr>
          <p:cNvPr id="174" name="Google Shape;174;p3"/>
          <p:cNvGrpSpPr/>
          <p:nvPr/>
        </p:nvGrpSpPr>
        <p:grpSpPr>
          <a:xfrm>
            <a:off x="6858000" y="3699034"/>
            <a:ext cx="4754880" cy="1695926"/>
            <a:chOff x="0" y="-66675"/>
            <a:chExt cx="6339840" cy="2261235"/>
          </a:xfrm>
        </p:grpSpPr>
        <p:sp>
          <p:nvSpPr>
            <p:cNvPr id="175" name="Google Shape;175;p3"/>
            <p:cNvSpPr/>
            <p:nvPr/>
          </p:nvSpPr>
          <p:spPr>
            <a:xfrm>
              <a:off x="0" y="0"/>
              <a:ext cx="6339840" cy="2194560"/>
            </a:xfrm>
            <a:custGeom>
              <a:rect b="b" l="l" r="r" t="t"/>
              <a:pathLst>
                <a:path extrusionOk="0"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88" l="0" r="0" t="-6289"/>
              </a:stretch>
            </a:blipFill>
            <a:ln>
              <a:noFill/>
            </a:ln>
          </p:spPr>
        </p:sp>
        <p:sp>
          <p:nvSpPr>
            <p:cNvPr id="176" name="Google Shape;176;p3"/>
            <p:cNvSpPr txBox="1"/>
            <p:nvPr/>
          </p:nvSpPr>
          <p:spPr>
            <a:xfrm>
              <a:off x="0" y="-66675"/>
              <a:ext cx="6339840" cy="2261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Earth-Back Thinking invierte el proceso: no buscar respuesta, diseñar el problema que merece resolverse.</a:t>
              </a:r>
              <a:endParaRPr/>
            </a:p>
          </p:txBody>
        </p:sp>
      </p:grpSp>
      <p:sp>
        <p:nvSpPr>
          <p:cNvPr id="177" name="Google Shape;177;p3"/>
          <p:cNvSpPr/>
          <p:nvPr/>
        </p:nvSpPr>
        <p:spPr>
          <a:xfrm>
            <a:off x="12252960" y="2651760"/>
            <a:ext cx="5303520" cy="2926080"/>
          </a:xfrm>
          <a:custGeom>
            <a:rect b="b" l="l" r="r" t="t"/>
            <a:pathLst>
              <a:path extrusionOk="0" h="3901440" w="7071360">
                <a:moveTo>
                  <a:pt x="0" y="0"/>
                </a:moveTo>
                <a:lnTo>
                  <a:pt x="7071360" y="0"/>
                </a:lnTo>
                <a:lnTo>
                  <a:pt x="7071360" y="3901440"/>
                </a:lnTo>
                <a:lnTo>
                  <a:pt x="0" y="390144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descr="preencoded.png" id="178" name="Google Shape;178;p3"/>
          <p:cNvSpPr/>
          <p:nvPr/>
        </p:nvSpPr>
        <p:spPr>
          <a:xfrm>
            <a:off x="12527280" y="2926080"/>
            <a:ext cx="640080" cy="640080"/>
          </a:xfrm>
          <a:custGeom>
            <a:rect b="b" l="l" r="r" t="t"/>
            <a:pathLst>
              <a:path extrusionOk="0" h="853440" w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9" name="Google Shape;179;p3"/>
          <p:cNvGrpSpPr/>
          <p:nvPr/>
        </p:nvGrpSpPr>
        <p:grpSpPr>
          <a:xfrm>
            <a:off x="13350240" y="2926080"/>
            <a:ext cx="3931920" cy="640080"/>
            <a:chOff x="0" y="0"/>
            <a:chExt cx="5242560" cy="85344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5242560" cy="853440"/>
            </a:xfrm>
            <a:custGeom>
              <a:rect b="b" l="l" r="r" t="t"/>
              <a:pathLst>
                <a:path extrusionOk="0" h="8534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9690" l="0" r="0" t="-69687"/>
              </a:stretch>
            </a:blipFill>
            <a:ln>
              <a:noFill/>
            </a:ln>
          </p:spPr>
        </p:sp>
        <p:sp>
          <p:nvSpPr>
            <p:cNvPr id="181" name="Google Shape;181;p3"/>
            <p:cNvSpPr txBox="1"/>
            <p:nvPr/>
          </p:nvSpPr>
          <p:spPr>
            <a:xfrm>
              <a:off x="0" y="0"/>
              <a:ext cx="524256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Integrar ética en diseño</a:t>
              </a:r>
              <a:endParaRPr/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12527280" y="3699034"/>
            <a:ext cx="4754880" cy="1695926"/>
            <a:chOff x="0" y="-66675"/>
            <a:chExt cx="6339840" cy="2261235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6339840" cy="2194560"/>
            </a:xfrm>
            <a:custGeom>
              <a:rect b="b" l="l" r="r" t="t"/>
              <a:pathLst>
                <a:path extrusionOk="0"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88" l="0" r="0" t="-6289"/>
              </a:stretch>
            </a:blipFill>
            <a:ln>
              <a:noFill/>
            </a:ln>
          </p:spPr>
        </p:sp>
        <p:sp>
          <p:nvSpPr>
            <p:cNvPr id="184" name="Google Shape;184;p3"/>
            <p:cNvSpPr txBox="1"/>
            <p:nvPr/>
          </p:nvSpPr>
          <p:spPr>
            <a:xfrm>
              <a:off x="0" y="-66675"/>
              <a:ext cx="6339840" cy="2261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¿A quién afecta? ¿Quién queda fuera? ¿Qué se sacrifica? Requiere juicio moral, no algoritmo.</a:t>
              </a:r>
              <a:endParaRPr/>
            </a:p>
          </p:txBody>
        </p:sp>
      </p:grpSp>
      <p:sp>
        <p:nvSpPr>
          <p:cNvPr id="185" name="Google Shape;185;p3"/>
          <p:cNvSpPr/>
          <p:nvPr/>
        </p:nvSpPr>
        <p:spPr>
          <a:xfrm>
            <a:off x="914400" y="6035040"/>
            <a:ext cx="5303520" cy="2926080"/>
          </a:xfrm>
          <a:custGeom>
            <a:rect b="b" l="l" r="r" t="t"/>
            <a:pathLst>
              <a:path extrusionOk="0" h="3901440" w="7071360">
                <a:moveTo>
                  <a:pt x="0" y="0"/>
                </a:moveTo>
                <a:lnTo>
                  <a:pt x="7071360" y="0"/>
                </a:lnTo>
                <a:lnTo>
                  <a:pt x="7071360" y="3901440"/>
                </a:lnTo>
                <a:lnTo>
                  <a:pt x="0" y="390144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descr="preencoded.png" id="186" name="Google Shape;186;p3"/>
          <p:cNvSpPr/>
          <p:nvPr/>
        </p:nvSpPr>
        <p:spPr>
          <a:xfrm>
            <a:off x="1188720" y="6309360"/>
            <a:ext cx="640080" cy="640080"/>
          </a:xfrm>
          <a:custGeom>
            <a:rect b="b" l="l" r="r" t="t"/>
            <a:pathLst>
              <a:path extrusionOk="0" h="853440" w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7" name="Google Shape;187;p3"/>
          <p:cNvGrpSpPr/>
          <p:nvPr/>
        </p:nvGrpSpPr>
        <p:grpSpPr>
          <a:xfrm>
            <a:off x="2011680" y="6309360"/>
            <a:ext cx="3931920" cy="640080"/>
            <a:chOff x="0" y="0"/>
            <a:chExt cx="5242560" cy="853440"/>
          </a:xfrm>
        </p:grpSpPr>
        <p:sp>
          <p:nvSpPr>
            <p:cNvPr id="188" name="Google Shape;188;p3"/>
            <p:cNvSpPr/>
            <p:nvPr/>
          </p:nvSpPr>
          <p:spPr>
            <a:xfrm>
              <a:off x="0" y="0"/>
              <a:ext cx="5242560" cy="853440"/>
            </a:xfrm>
            <a:custGeom>
              <a:rect b="b" l="l" r="r" t="t"/>
              <a:pathLst>
                <a:path extrusionOk="0" h="8534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9690" l="0" r="0" t="-69687"/>
              </a:stretch>
            </a:blipFill>
            <a:ln>
              <a:noFill/>
            </a:ln>
          </p:spPr>
        </p:sp>
        <p:sp>
          <p:nvSpPr>
            <p:cNvPr id="189" name="Google Shape;189;p3"/>
            <p:cNvSpPr txBox="1"/>
            <p:nvPr/>
          </p:nvSpPr>
          <p:spPr>
            <a:xfrm>
              <a:off x="0" y="0"/>
              <a:ext cx="524256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Colaborar entre cosmovisiones</a:t>
              </a:r>
              <a:endParaRPr/>
            </a:p>
          </p:txBody>
        </p:sp>
      </p:grpSp>
      <p:grpSp>
        <p:nvGrpSpPr>
          <p:cNvPr id="190" name="Google Shape;190;p3"/>
          <p:cNvGrpSpPr/>
          <p:nvPr/>
        </p:nvGrpSpPr>
        <p:grpSpPr>
          <a:xfrm>
            <a:off x="1188720" y="7082314"/>
            <a:ext cx="4754880" cy="1695926"/>
            <a:chOff x="0" y="-66675"/>
            <a:chExt cx="6339840" cy="226123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6339840" cy="2194560"/>
            </a:xfrm>
            <a:custGeom>
              <a:rect b="b" l="l" r="r" t="t"/>
              <a:pathLst>
                <a:path extrusionOk="0"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88" l="0" r="0" t="-6289"/>
              </a:stretch>
            </a:blipFill>
            <a:ln>
              <a:noFill/>
            </a:ln>
          </p:spPr>
        </p:sp>
        <p:sp>
          <p:nvSpPr>
            <p:cNvPr id="192" name="Google Shape;192;p3"/>
            <p:cNvSpPr txBox="1"/>
            <p:nvPr/>
          </p:nvSpPr>
          <p:spPr>
            <a:xfrm>
              <a:off x="0" y="-66675"/>
              <a:ext cx="6339840" cy="2261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Equipos multidisciplinarios que negocian entre perspectivas diversas. IA sintetiza; humanos integran.</a:t>
              </a:r>
              <a:endParaRPr/>
            </a:p>
          </p:txBody>
        </p:sp>
      </p:grpSp>
      <p:sp>
        <p:nvSpPr>
          <p:cNvPr id="193" name="Google Shape;193;p3"/>
          <p:cNvSpPr/>
          <p:nvPr/>
        </p:nvSpPr>
        <p:spPr>
          <a:xfrm>
            <a:off x="6583680" y="6035040"/>
            <a:ext cx="5303520" cy="2926080"/>
          </a:xfrm>
          <a:custGeom>
            <a:rect b="b" l="l" r="r" t="t"/>
            <a:pathLst>
              <a:path extrusionOk="0" h="3901440" w="7071360">
                <a:moveTo>
                  <a:pt x="0" y="0"/>
                </a:moveTo>
                <a:lnTo>
                  <a:pt x="7071360" y="0"/>
                </a:lnTo>
                <a:lnTo>
                  <a:pt x="7071360" y="3901440"/>
                </a:lnTo>
                <a:lnTo>
                  <a:pt x="0" y="390144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descr="preencoded.png" id="194" name="Google Shape;194;p3"/>
          <p:cNvSpPr/>
          <p:nvPr/>
        </p:nvSpPr>
        <p:spPr>
          <a:xfrm>
            <a:off x="6858000" y="6309360"/>
            <a:ext cx="640080" cy="640080"/>
          </a:xfrm>
          <a:custGeom>
            <a:rect b="b" l="l" r="r" t="t"/>
            <a:pathLst>
              <a:path extrusionOk="0" h="853440" w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3"/>
          <p:cNvGrpSpPr/>
          <p:nvPr/>
        </p:nvGrpSpPr>
        <p:grpSpPr>
          <a:xfrm>
            <a:off x="7680960" y="6309360"/>
            <a:ext cx="3931920" cy="640080"/>
            <a:chOff x="0" y="0"/>
            <a:chExt cx="5242560" cy="853440"/>
          </a:xfrm>
        </p:grpSpPr>
        <p:sp>
          <p:nvSpPr>
            <p:cNvPr id="196" name="Google Shape;196;p3"/>
            <p:cNvSpPr/>
            <p:nvPr/>
          </p:nvSpPr>
          <p:spPr>
            <a:xfrm>
              <a:off x="0" y="0"/>
              <a:ext cx="5242560" cy="853440"/>
            </a:xfrm>
            <a:custGeom>
              <a:rect b="b" l="l" r="r" t="t"/>
              <a:pathLst>
                <a:path extrusionOk="0" h="8534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9690" l="0" r="0" t="-69687"/>
              </a:stretch>
            </a:blipFill>
            <a:ln>
              <a:noFill/>
            </a:ln>
          </p:spPr>
        </p:sp>
        <p:sp>
          <p:nvSpPr>
            <p:cNvPr id="197" name="Google Shape;197;p3"/>
            <p:cNvSpPr txBox="1"/>
            <p:nvPr/>
          </p:nvSpPr>
          <p:spPr>
            <a:xfrm>
              <a:off x="0" y="0"/>
              <a:ext cx="524256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Asumir responsabilidad</a:t>
              </a:r>
              <a:endParaRPr/>
            </a:p>
          </p:txBody>
        </p:sp>
      </p:grpSp>
      <p:grpSp>
        <p:nvGrpSpPr>
          <p:cNvPr id="198" name="Google Shape;198;p3"/>
          <p:cNvGrpSpPr/>
          <p:nvPr/>
        </p:nvGrpSpPr>
        <p:grpSpPr>
          <a:xfrm>
            <a:off x="6858000" y="7082314"/>
            <a:ext cx="4754880" cy="1695926"/>
            <a:chOff x="0" y="-66675"/>
            <a:chExt cx="6339840" cy="2261235"/>
          </a:xfrm>
        </p:grpSpPr>
        <p:sp>
          <p:nvSpPr>
            <p:cNvPr id="199" name="Google Shape;199;p3"/>
            <p:cNvSpPr/>
            <p:nvPr/>
          </p:nvSpPr>
          <p:spPr>
            <a:xfrm>
              <a:off x="0" y="0"/>
              <a:ext cx="6339840" cy="2194560"/>
            </a:xfrm>
            <a:custGeom>
              <a:rect b="b" l="l" r="r" t="t"/>
              <a:pathLst>
                <a:path extrusionOk="0"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88" l="0" r="0" t="-6289"/>
              </a:stretch>
            </a:blipFill>
            <a:ln>
              <a:noFill/>
            </a:ln>
          </p:spPr>
        </p:sp>
        <p:sp>
          <p:nvSpPr>
            <p:cNvPr id="200" name="Google Shape;200;p3"/>
            <p:cNvSpPr txBox="1"/>
            <p:nvPr/>
          </p:nvSpPr>
          <p:spPr>
            <a:xfrm>
              <a:off x="0" y="-66675"/>
              <a:ext cx="6339840" cy="2261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Sistema cerrado marciano: cada decisión tiene impacto medible. No se delega responsabilidad a la máquina.</a:t>
              </a:r>
              <a:endParaRPr/>
            </a:p>
          </p:txBody>
        </p:sp>
      </p:grpSp>
      <p:sp>
        <p:nvSpPr>
          <p:cNvPr id="201" name="Google Shape;201;p3"/>
          <p:cNvSpPr/>
          <p:nvPr/>
        </p:nvSpPr>
        <p:spPr>
          <a:xfrm>
            <a:off x="12252960" y="6035040"/>
            <a:ext cx="5303520" cy="2926080"/>
          </a:xfrm>
          <a:custGeom>
            <a:rect b="b" l="l" r="r" t="t"/>
            <a:pathLst>
              <a:path extrusionOk="0" h="3901440" w="7071360">
                <a:moveTo>
                  <a:pt x="0" y="0"/>
                </a:moveTo>
                <a:lnTo>
                  <a:pt x="7071360" y="0"/>
                </a:lnTo>
                <a:lnTo>
                  <a:pt x="7071360" y="3901440"/>
                </a:lnTo>
                <a:lnTo>
                  <a:pt x="0" y="390144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descr="preencoded.png" id="202" name="Google Shape;202;p3"/>
          <p:cNvSpPr/>
          <p:nvPr/>
        </p:nvSpPr>
        <p:spPr>
          <a:xfrm>
            <a:off x="12527280" y="6309360"/>
            <a:ext cx="640080" cy="640080"/>
          </a:xfrm>
          <a:custGeom>
            <a:rect b="b" l="l" r="r" t="t"/>
            <a:pathLst>
              <a:path extrusionOk="0" h="853440" w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3"/>
          <p:cNvGrpSpPr/>
          <p:nvPr/>
        </p:nvGrpSpPr>
        <p:grpSpPr>
          <a:xfrm>
            <a:off x="13350240" y="6309360"/>
            <a:ext cx="3931920" cy="640080"/>
            <a:chOff x="0" y="0"/>
            <a:chExt cx="5242560" cy="853440"/>
          </a:xfrm>
        </p:grpSpPr>
        <p:sp>
          <p:nvSpPr>
            <p:cNvPr id="204" name="Google Shape;204;p3"/>
            <p:cNvSpPr/>
            <p:nvPr/>
          </p:nvSpPr>
          <p:spPr>
            <a:xfrm>
              <a:off x="0" y="0"/>
              <a:ext cx="5242560" cy="853440"/>
            </a:xfrm>
            <a:custGeom>
              <a:rect b="b" l="l" r="r" t="t"/>
              <a:pathLst>
                <a:path extrusionOk="0" h="8534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9690" l="0" r="0" t="-69687"/>
              </a:stretch>
            </a:blipFill>
            <a:ln>
              <a:noFill/>
            </a:ln>
          </p:spPr>
        </p:sp>
        <p:sp>
          <p:nvSpPr>
            <p:cNvPr id="205" name="Google Shape;205;p3"/>
            <p:cNvSpPr txBox="1"/>
            <p:nvPr/>
          </p:nvSpPr>
          <p:spPr>
            <a:xfrm>
              <a:off x="0" y="0"/>
              <a:ext cx="524256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Tolerar fricción y no-saber</a:t>
              </a:r>
              <a:endParaRPr/>
            </a:p>
          </p:txBody>
        </p:sp>
      </p:grpSp>
      <p:grpSp>
        <p:nvGrpSpPr>
          <p:cNvPr id="206" name="Google Shape;206;p3"/>
          <p:cNvGrpSpPr/>
          <p:nvPr/>
        </p:nvGrpSpPr>
        <p:grpSpPr>
          <a:xfrm>
            <a:off x="12527280" y="7082314"/>
            <a:ext cx="4754880" cy="1695926"/>
            <a:chOff x="0" y="-66675"/>
            <a:chExt cx="6339840" cy="2261235"/>
          </a:xfrm>
        </p:grpSpPr>
        <p:sp>
          <p:nvSpPr>
            <p:cNvPr id="207" name="Google Shape;207;p3"/>
            <p:cNvSpPr/>
            <p:nvPr/>
          </p:nvSpPr>
          <p:spPr>
            <a:xfrm>
              <a:off x="0" y="0"/>
              <a:ext cx="6339840" cy="2194560"/>
            </a:xfrm>
            <a:custGeom>
              <a:rect b="b" l="l" r="r" t="t"/>
              <a:pathLst>
                <a:path extrusionOk="0"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88" l="0" r="0" t="-6289"/>
              </a:stretch>
            </a:blipFill>
            <a:ln>
              <a:noFill/>
            </a:ln>
          </p:spPr>
        </p:sp>
        <p:sp>
          <p:nvSpPr>
            <p:cNvPr id="208" name="Google Shape;208;p3"/>
            <p:cNvSpPr txBox="1"/>
            <p:nvPr/>
          </p:nvSpPr>
          <p:spPr>
            <a:xfrm>
              <a:off x="0" y="-66675"/>
              <a:ext cx="6339840" cy="2261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En un mundo donde todo fluye sin esfuerzo, entrenar tolerancia a la dificultad es acto contracultural necesario.</a:t>
              </a:r>
              <a:endParaRPr/>
            </a:p>
          </p:txBody>
        </p:sp>
      </p:grpSp>
      <p:grpSp>
        <p:nvGrpSpPr>
          <p:cNvPr id="209" name="Google Shape;209;p3"/>
          <p:cNvGrpSpPr/>
          <p:nvPr/>
        </p:nvGrpSpPr>
        <p:grpSpPr>
          <a:xfrm>
            <a:off x="914400" y="9258300"/>
            <a:ext cx="16459200" cy="640080"/>
            <a:chOff x="0" y="0"/>
            <a:chExt cx="21945600" cy="853440"/>
          </a:xfrm>
        </p:grpSpPr>
        <p:sp>
          <p:nvSpPr>
            <p:cNvPr id="210" name="Google Shape;210;p3"/>
            <p:cNvSpPr/>
            <p:nvPr/>
          </p:nvSpPr>
          <p:spPr>
            <a:xfrm>
              <a:off x="0" y="0"/>
              <a:ext cx="21945600" cy="853440"/>
            </a:xfrm>
            <a:custGeom>
              <a:rect b="b" l="l" r="r" t="t"/>
              <a:pathLst>
                <a:path extrusionOk="0"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50901" l="0" r="0" t="-450901"/>
              </a:stretch>
            </a:blipFill>
            <a:ln>
              <a:noFill/>
            </a:ln>
          </p:spPr>
        </p:sp>
        <p:sp>
          <p:nvSpPr>
            <p:cNvPr id="211" name="Google Shape;211;p3"/>
            <p:cNvSpPr txBox="1"/>
            <p:nvPr/>
          </p:nvSpPr>
          <p:spPr>
            <a:xfrm>
              <a:off x="0" y="0"/>
              <a:ext cx="2194560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900" u="none" cap="none" strike="noStrike">
                  <a:solidFill>
                    <a:srgbClr val="F59E0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Capacity-forcing environment: no porque prohíba IA, sino porque diseña condiciones donde la respuesta no existe hasta que el equipo la construye.</a:t>
              </a:r>
              <a:endParaRPr/>
            </a:p>
          </p:txBody>
        </p:sp>
      </p:grpSp>
      <p:sp>
        <p:nvSpPr>
          <p:cNvPr id="212" name="Google Shape;212;p3"/>
          <p:cNvSpPr/>
          <p:nvPr/>
        </p:nvSpPr>
        <p:spPr>
          <a:xfrm>
            <a:off x="13758889" y="388804"/>
            <a:ext cx="4938686" cy="639896"/>
          </a:xfrm>
          <a:custGeom>
            <a:rect b="b" l="l" r="r" t="t"/>
            <a:pathLst>
              <a:path extrusionOk="0" h="639896" w="4938686">
                <a:moveTo>
                  <a:pt x="0" y="0"/>
                </a:moveTo>
                <a:lnTo>
                  <a:pt x="4938686" y="0"/>
                </a:lnTo>
                <a:lnTo>
                  <a:pt x="4938686" y="639896"/>
                </a:lnTo>
                <a:lnTo>
                  <a:pt x="0" y="639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/>
          <p:nvPr/>
        </p:nvSpPr>
        <p:spPr>
          <a:xfrm>
            <a:off x="0" y="0"/>
            <a:ext cx="18288000" cy="109728"/>
          </a:xfrm>
          <a:custGeom>
            <a:rect b="b" l="l" r="r" t="t"/>
            <a:pathLst>
              <a:path extrusionOk="0" h="146304" w="24384000">
                <a:moveTo>
                  <a:pt x="0" y="0"/>
                </a:moveTo>
                <a:lnTo>
                  <a:pt x="24384000" y="0"/>
                </a:lnTo>
                <a:lnTo>
                  <a:pt x="24384000" y="146304"/>
                </a:lnTo>
                <a:lnTo>
                  <a:pt x="0" y="146304"/>
                </a:lnTo>
                <a:close/>
              </a:path>
            </a:pathLst>
          </a:custGeom>
          <a:solidFill>
            <a:srgbClr val="C42B2B"/>
          </a:solidFill>
          <a:ln>
            <a:noFill/>
          </a:ln>
        </p:spPr>
      </p:sp>
      <p:grpSp>
        <p:nvGrpSpPr>
          <p:cNvPr id="222" name="Google Shape;222;p4"/>
          <p:cNvGrpSpPr/>
          <p:nvPr/>
        </p:nvGrpSpPr>
        <p:grpSpPr>
          <a:xfrm>
            <a:off x="1463040" y="625792"/>
            <a:ext cx="10972800" cy="1237298"/>
            <a:chOff x="0" y="-19050"/>
            <a:chExt cx="14630400" cy="1649730"/>
          </a:xfrm>
        </p:grpSpPr>
        <p:sp>
          <p:nvSpPr>
            <p:cNvPr id="223" name="Google Shape;223;p4"/>
            <p:cNvSpPr/>
            <p:nvPr/>
          </p:nvSpPr>
          <p:spPr>
            <a:xfrm>
              <a:off x="0" y="0"/>
              <a:ext cx="14630400" cy="1630680"/>
            </a:xfrm>
            <a:custGeom>
              <a:rect b="b" l="l" r="r" t="t"/>
              <a:pathLst>
                <a:path extrusionOk="0" h="1630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30680"/>
                  </a:lnTo>
                  <a:lnTo>
                    <a:pt x="0" y="16306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3406" l="0" r="0" t="-126207"/>
              </a:stretch>
            </a:blipFill>
            <a:ln>
              <a:noFill/>
            </a:ln>
          </p:spPr>
        </p:sp>
        <p:sp>
          <p:nvSpPr>
            <p:cNvPr id="224" name="Google Shape;224;p4"/>
            <p:cNvSpPr txBox="1"/>
            <p:nvPr/>
          </p:nvSpPr>
          <p:spPr>
            <a:xfrm>
              <a:off x="0" y="-19050"/>
              <a:ext cx="14630400" cy="1649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Earth-Back Thinking</a:t>
              </a:r>
              <a:endParaRPr/>
            </a:p>
          </p:txBody>
        </p:sp>
      </p:grpSp>
      <p:grpSp>
        <p:nvGrpSpPr>
          <p:cNvPr id="225" name="Google Shape;225;p4"/>
          <p:cNvGrpSpPr/>
          <p:nvPr/>
        </p:nvGrpSpPr>
        <p:grpSpPr>
          <a:xfrm>
            <a:off x="1463040" y="1821656"/>
            <a:ext cx="14630400" cy="647224"/>
            <a:chOff x="0" y="-9525"/>
            <a:chExt cx="19507200" cy="862965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19507200" cy="853440"/>
            </a:xfrm>
            <a:custGeom>
              <a:rect b="b" l="l" r="r" t="t"/>
              <a:pathLst>
                <a:path extrusionOk="0" h="8534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315" l="0" r="0" t="-395315"/>
              </a:stretch>
            </a:blipFill>
            <a:ln>
              <a:noFill/>
            </a:ln>
          </p:spPr>
        </p:sp>
        <p:sp>
          <p:nvSpPr>
            <p:cNvPr id="227" name="Google Shape;227;p4"/>
            <p:cNvSpPr txBox="1"/>
            <p:nvPr/>
          </p:nvSpPr>
          <p:spPr>
            <a:xfrm>
              <a:off x="0" y="-9525"/>
              <a:ext cx="19507200" cy="862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Marte como herramienta de diseño, no como destino</a:t>
              </a:r>
              <a:endParaRPr/>
            </a:p>
          </p:txBody>
        </p:sp>
      </p:grpSp>
      <p:sp>
        <p:nvSpPr>
          <p:cNvPr id="228" name="Google Shape;228;p4"/>
          <p:cNvSpPr/>
          <p:nvPr/>
        </p:nvSpPr>
        <p:spPr>
          <a:xfrm>
            <a:off x="1463040" y="2926080"/>
            <a:ext cx="7498080" cy="1828800"/>
          </a:xfrm>
          <a:custGeom>
            <a:rect b="b" l="l" r="r" t="t"/>
            <a:pathLst>
              <a:path extrusionOk="0" h="2438400" w="9997440">
                <a:moveTo>
                  <a:pt x="0" y="0"/>
                </a:moveTo>
                <a:lnTo>
                  <a:pt x="9997440" y="0"/>
                </a:lnTo>
                <a:lnTo>
                  <a:pt x="999744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id="229" name="Google Shape;229;p4"/>
          <p:cNvSpPr/>
          <p:nvPr/>
        </p:nvSpPr>
        <p:spPr>
          <a:xfrm>
            <a:off x="1463040" y="2926080"/>
            <a:ext cx="109728" cy="1828800"/>
          </a:xfrm>
          <a:custGeom>
            <a:rect b="b" l="l" r="r" t="t"/>
            <a:pathLst>
              <a:path extrusionOk="0" h="2438400" w="146304">
                <a:moveTo>
                  <a:pt x="0" y="0"/>
                </a:moveTo>
                <a:lnTo>
                  <a:pt x="146304" y="0"/>
                </a:lnTo>
                <a:lnTo>
                  <a:pt x="146304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grpSp>
        <p:nvGrpSpPr>
          <p:cNvPr id="230" name="Google Shape;230;p4"/>
          <p:cNvGrpSpPr/>
          <p:nvPr/>
        </p:nvGrpSpPr>
        <p:grpSpPr>
          <a:xfrm>
            <a:off x="1920240" y="3108960"/>
            <a:ext cx="6583680" cy="622325"/>
            <a:chOff x="0" y="0"/>
            <a:chExt cx="8778240" cy="829767"/>
          </a:xfrm>
        </p:grpSpPr>
        <p:sp>
          <p:nvSpPr>
            <p:cNvPr id="231" name="Google Shape;231;p4"/>
            <p:cNvSpPr/>
            <p:nvPr/>
          </p:nvSpPr>
          <p:spPr>
            <a:xfrm>
              <a:off x="0" y="0"/>
              <a:ext cx="8778240" cy="829767"/>
            </a:xfrm>
            <a:custGeom>
              <a:rect b="b" l="l" r="r" t="t"/>
              <a:pathLst>
                <a:path extrusionOk="0" h="82976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767"/>
                  </a:lnTo>
                  <a:lnTo>
                    <a:pt x="0" y="82976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0197" l="0" r="0" t="-162037"/>
              </a:stretch>
            </a:blipFill>
            <a:ln>
              <a:noFill/>
            </a:ln>
          </p:spPr>
        </p:sp>
        <p:sp>
          <p:nvSpPr>
            <p:cNvPr id="232" name="Google Shape;232;p4"/>
            <p:cNvSpPr txBox="1"/>
            <p:nvPr/>
          </p:nvSpPr>
          <p:spPr>
            <a:xfrm>
              <a:off x="0" y="0"/>
              <a:ext cx="8778240" cy="829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Recursos finitos</a:t>
              </a:r>
              <a:endParaRPr/>
            </a:p>
          </p:txBody>
        </p:sp>
      </p:grpSp>
      <p:grpSp>
        <p:nvGrpSpPr>
          <p:cNvPr id="233" name="Google Shape;233;p4"/>
          <p:cNvGrpSpPr/>
          <p:nvPr/>
        </p:nvGrpSpPr>
        <p:grpSpPr>
          <a:xfrm>
            <a:off x="1920240" y="3734753"/>
            <a:ext cx="6583680" cy="837247"/>
            <a:chOff x="0" y="-19050"/>
            <a:chExt cx="8778240" cy="1116330"/>
          </a:xfrm>
        </p:grpSpPr>
        <p:sp>
          <p:nvSpPr>
            <p:cNvPr id="234" name="Google Shape;234;p4"/>
            <p:cNvSpPr/>
            <p:nvPr/>
          </p:nvSpPr>
          <p:spPr>
            <a:xfrm>
              <a:off x="0" y="0"/>
              <a:ext cx="8778240" cy="1097280"/>
            </a:xfrm>
            <a:custGeom>
              <a:rect b="b" l="l" r="r" t="t"/>
              <a:pathLst>
                <a:path extrusionOk="0"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5873" l="0" r="0" t="-105876"/>
              </a:stretch>
            </a:blipFill>
            <a:ln>
              <a:noFill/>
            </a:ln>
          </p:spPr>
        </p:sp>
        <p:sp>
          <p:nvSpPr>
            <p:cNvPr id="235" name="Google Shape;235;p4"/>
            <p:cNvSpPr txBox="1"/>
            <p:nvPr/>
          </p:nvSpPr>
          <p:spPr>
            <a:xfrm>
              <a:off x="0" y="-19050"/>
              <a:ext cx="877824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Sistemas cerrados donde cada recurso importa. Como el planeta, pero más urgente.</a:t>
              </a:r>
              <a:endParaRPr/>
            </a:p>
          </p:txBody>
        </p:sp>
      </p:grpSp>
      <p:sp>
        <p:nvSpPr>
          <p:cNvPr id="236" name="Google Shape;236;p4"/>
          <p:cNvSpPr/>
          <p:nvPr/>
        </p:nvSpPr>
        <p:spPr>
          <a:xfrm>
            <a:off x="9509760" y="2926080"/>
            <a:ext cx="7498080" cy="1828800"/>
          </a:xfrm>
          <a:custGeom>
            <a:rect b="b" l="l" r="r" t="t"/>
            <a:pathLst>
              <a:path extrusionOk="0" h="2438400" w="9997440">
                <a:moveTo>
                  <a:pt x="0" y="0"/>
                </a:moveTo>
                <a:lnTo>
                  <a:pt x="9997440" y="0"/>
                </a:lnTo>
                <a:lnTo>
                  <a:pt x="999744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id="237" name="Google Shape;237;p4"/>
          <p:cNvSpPr/>
          <p:nvPr/>
        </p:nvSpPr>
        <p:spPr>
          <a:xfrm>
            <a:off x="9509760" y="2926080"/>
            <a:ext cx="109728" cy="1828800"/>
          </a:xfrm>
          <a:custGeom>
            <a:rect b="b" l="l" r="r" t="t"/>
            <a:pathLst>
              <a:path extrusionOk="0" h="2438400" w="146304">
                <a:moveTo>
                  <a:pt x="0" y="0"/>
                </a:moveTo>
                <a:lnTo>
                  <a:pt x="146304" y="0"/>
                </a:lnTo>
                <a:lnTo>
                  <a:pt x="146304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grpSp>
        <p:nvGrpSpPr>
          <p:cNvPr id="238" name="Google Shape;238;p4"/>
          <p:cNvGrpSpPr/>
          <p:nvPr/>
        </p:nvGrpSpPr>
        <p:grpSpPr>
          <a:xfrm>
            <a:off x="9966960" y="3108960"/>
            <a:ext cx="6583680" cy="622325"/>
            <a:chOff x="0" y="0"/>
            <a:chExt cx="8778240" cy="829767"/>
          </a:xfrm>
        </p:grpSpPr>
        <p:sp>
          <p:nvSpPr>
            <p:cNvPr id="239" name="Google Shape;239;p4"/>
            <p:cNvSpPr/>
            <p:nvPr/>
          </p:nvSpPr>
          <p:spPr>
            <a:xfrm>
              <a:off x="0" y="0"/>
              <a:ext cx="8778240" cy="829767"/>
            </a:xfrm>
            <a:custGeom>
              <a:rect b="b" l="l" r="r" t="t"/>
              <a:pathLst>
                <a:path extrusionOk="0" h="82976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767"/>
                  </a:lnTo>
                  <a:lnTo>
                    <a:pt x="0" y="82976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0197" l="0" r="0" t="-162037"/>
              </a:stretch>
            </a:blipFill>
            <a:ln>
              <a:noFill/>
            </a:ln>
          </p:spPr>
        </p:sp>
        <p:sp>
          <p:nvSpPr>
            <p:cNvPr id="240" name="Google Shape;240;p4"/>
            <p:cNvSpPr txBox="1"/>
            <p:nvPr/>
          </p:nvSpPr>
          <p:spPr>
            <a:xfrm>
              <a:off x="0" y="0"/>
              <a:ext cx="8778240" cy="829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Consecuencias reales</a:t>
              </a:r>
              <a:endParaRPr/>
            </a:p>
          </p:txBody>
        </p:sp>
      </p:grpSp>
      <p:grpSp>
        <p:nvGrpSpPr>
          <p:cNvPr id="241" name="Google Shape;241;p4"/>
          <p:cNvGrpSpPr/>
          <p:nvPr/>
        </p:nvGrpSpPr>
        <p:grpSpPr>
          <a:xfrm>
            <a:off x="9966960" y="3734753"/>
            <a:ext cx="6583680" cy="837247"/>
            <a:chOff x="0" y="-19050"/>
            <a:chExt cx="8778240" cy="1116330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8778240" cy="1097280"/>
            </a:xfrm>
            <a:custGeom>
              <a:rect b="b" l="l" r="r" t="t"/>
              <a:pathLst>
                <a:path extrusionOk="0"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5873" l="0" r="0" t="-105876"/>
              </a:stretch>
            </a:blipFill>
            <a:ln>
              <a:noFill/>
            </a:ln>
          </p:spPr>
        </p:sp>
        <p:sp>
          <p:nvSpPr>
            <p:cNvPr id="243" name="Google Shape;243;p4"/>
            <p:cNvSpPr txBox="1"/>
            <p:nvPr/>
          </p:nvSpPr>
          <p:spPr>
            <a:xfrm>
              <a:off x="0" y="-19050"/>
              <a:ext cx="877824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Las decisiones tienen impacto medible e inmediato. No hay simulacro.</a:t>
              </a:r>
              <a:endParaRPr/>
            </a:p>
          </p:txBody>
        </p:sp>
      </p:grpSp>
      <p:sp>
        <p:nvSpPr>
          <p:cNvPr id="244" name="Google Shape;244;p4"/>
          <p:cNvSpPr/>
          <p:nvPr/>
        </p:nvSpPr>
        <p:spPr>
          <a:xfrm>
            <a:off x="1463040" y="5212080"/>
            <a:ext cx="7498080" cy="1828800"/>
          </a:xfrm>
          <a:custGeom>
            <a:rect b="b" l="l" r="r" t="t"/>
            <a:pathLst>
              <a:path extrusionOk="0" h="2438400" w="9997440">
                <a:moveTo>
                  <a:pt x="0" y="0"/>
                </a:moveTo>
                <a:lnTo>
                  <a:pt x="9997440" y="0"/>
                </a:lnTo>
                <a:lnTo>
                  <a:pt x="999744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id="245" name="Google Shape;245;p4"/>
          <p:cNvSpPr/>
          <p:nvPr/>
        </p:nvSpPr>
        <p:spPr>
          <a:xfrm>
            <a:off x="1463040" y="5212080"/>
            <a:ext cx="109728" cy="1828800"/>
          </a:xfrm>
          <a:custGeom>
            <a:rect b="b" l="l" r="r" t="t"/>
            <a:pathLst>
              <a:path extrusionOk="0" h="2438400" w="146304">
                <a:moveTo>
                  <a:pt x="0" y="0"/>
                </a:moveTo>
                <a:lnTo>
                  <a:pt x="146304" y="0"/>
                </a:lnTo>
                <a:lnTo>
                  <a:pt x="146304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grpSp>
        <p:nvGrpSpPr>
          <p:cNvPr id="246" name="Google Shape;246;p4"/>
          <p:cNvGrpSpPr/>
          <p:nvPr/>
        </p:nvGrpSpPr>
        <p:grpSpPr>
          <a:xfrm>
            <a:off x="1920240" y="5394960"/>
            <a:ext cx="6583680" cy="622325"/>
            <a:chOff x="0" y="0"/>
            <a:chExt cx="8778240" cy="829767"/>
          </a:xfrm>
        </p:grpSpPr>
        <p:sp>
          <p:nvSpPr>
            <p:cNvPr id="247" name="Google Shape;247;p4"/>
            <p:cNvSpPr/>
            <p:nvPr/>
          </p:nvSpPr>
          <p:spPr>
            <a:xfrm>
              <a:off x="0" y="0"/>
              <a:ext cx="8778240" cy="829767"/>
            </a:xfrm>
            <a:custGeom>
              <a:rect b="b" l="l" r="r" t="t"/>
              <a:pathLst>
                <a:path extrusionOk="0" h="82976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767"/>
                  </a:lnTo>
                  <a:lnTo>
                    <a:pt x="0" y="82976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0197" l="0" r="0" t="-162037"/>
              </a:stretch>
            </a:blipFill>
            <a:ln>
              <a:noFill/>
            </a:ln>
          </p:spPr>
        </p:sp>
        <p:sp>
          <p:nvSpPr>
            <p:cNvPr id="248" name="Google Shape;248;p4"/>
            <p:cNvSpPr txBox="1"/>
            <p:nvPr/>
          </p:nvSpPr>
          <p:spPr>
            <a:xfrm>
              <a:off x="0" y="0"/>
              <a:ext cx="8778240" cy="829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Complejidad irreducible</a:t>
              </a:r>
              <a:endParaRPr/>
            </a:p>
          </p:txBody>
        </p:sp>
      </p:grpSp>
      <p:grpSp>
        <p:nvGrpSpPr>
          <p:cNvPr id="249" name="Google Shape;249;p4"/>
          <p:cNvGrpSpPr/>
          <p:nvPr/>
        </p:nvGrpSpPr>
        <p:grpSpPr>
          <a:xfrm>
            <a:off x="1920240" y="6020753"/>
            <a:ext cx="6583680" cy="837247"/>
            <a:chOff x="0" y="-19050"/>
            <a:chExt cx="8778240" cy="1116330"/>
          </a:xfrm>
        </p:grpSpPr>
        <p:sp>
          <p:nvSpPr>
            <p:cNvPr id="250" name="Google Shape;250;p4"/>
            <p:cNvSpPr/>
            <p:nvPr/>
          </p:nvSpPr>
          <p:spPr>
            <a:xfrm>
              <a:off x="0" y="0"/>
              <a:ext cx="8778240" cy="1097280"/>
            </a:xfrm>
            <a:custGeom>
              <a:rect b="b" l="l" r="r" t="t"/>
              <a:pathLst>
                <a:path extrusionOk="0"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5873" l="0" r="0" t="-105876"/>
              </a:stretch>
            </a:blipFill>
            <a:ln>
              <a:noFill/>
            </a:ln>
          </p:spPr>
        </p:sp>
        <p:sp>
          <p:nvSpPr>
            <p:cNvPr id="251" name="Google Shape;251;p4"/>
            <p:cNvSpPr txBox="1"/>
            <p:nvPr/>
          </p:nvSpPr>
          <p:spPr>
            <a:xfrm>
              <a:off x="0" y="-19050"/>
              <a:ext cx="877824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Incertidumbre, presión ética y trade-offs que no se resuelven con más datos.</a:t>
              </a:r>
              <a:endParaRPr/>
            </a:p>
          </p:txBody>
        </p:sp>
      </p:grpSp>
      <p:sp>
        <p:nvSpPr>
          <p:cNvPr id="252" name="Google Shape;252;p4"/>
          <p:cNvSpPr/>
          <p:nvPr/>
        </p:nvSpPr>
        <p:spPr>
          <a:xfrm>
            <a:off x="9509760" y="5212080"/>
            <a:ext cx="7498080" cy="1828800"/>
          </a:xfrm>
          <a:custGeom>
            <a:rect b="b" l="l" r="r" t="t"/>
            <a:pathLst>
              <a:path extrusionOk="0" h="2438400" w="9997440">
                <a:moveTo>
                  <a:pt x="0" y="0"/>
                </a:moveTo>
                <a:lnTo>
                  <a:pt x="9997440" y="0"/>
                </a:lnTo>
                <a:lnTo>
                  <a:pt x="999744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id="253" name="Google Shape;253;p4"/>
          <p:cNvSpPr/>
          <p:nvPr/>
        </p:nvSpPr>
        <p:spPr>
          <a:xfrm>
            <a:off x="9509760" y="5212080"/>
            <a:ext cx="109728" cy="1828800"/>
          </a:xfrm>
          <a:custGeom>
            <a:rect b="b" l="l" r="r" t="t"/>
            <a:pathLst>
              <a:path extrusionOk="0" h="2438400" w="146304">
                <a:moveTo>
                  <a:pt x="0" y="0"/>
                </a:moveTo>
                <a:lnTo>
                  <a:pt x="146304" y="0"/>
                </a:lnTo>
                <a:lnTo>
                  <a:pt x="146304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grpSp>
        <p:nvGrpSpPr>
          <p:cNvPr id="254" name="Google Shape;254;p4"/>
          <p:cNvGrpSpPr/>
          <p:nvPr/>
        </p:nvGrpSpPr>
        <p:grpSpPr>
          <a:xfrm>
            <a:off x="9966960" y="5394960"/>
            <a:ext cx="6583680" cy="622325"/>
            <a:chOff x="0" y="0"/>
            <a:chExt cx="8778240" cy="829767"/>
          </a:xfrm>
        </p:grpSpPr>
        <p:sp>
          <p:nvSpPr>
            <p:cNvPr id="255" name="Google Shape;255;p4"/>
            <p:cNvSpPr/>
            <p:nvPr/>
          </p:nvSpPr>
          <p:spPr>
            <a:xfrm>
              <a:off x="0" y="0"/>
              <a:ext cx="8778240" cy="829767"/>
            </a:xfrm>
            <a:custGeom>
              <a:rect b="b" l="l" r="r" t="t"/>
              <a:pathLst>
                <a:path extrusionOk="0" h="82976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767"/>
                  </a:lnTo>
                  <a:lnTo>
                    <a:pt x="0" y="82976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0197" l="0" r="0" t="-162037"/>
              </a:stretch>
            </a:blipFill>
            <a:ln>
              <a:noFill/>
            </a:ln>
          </p:spPr>
        </p:sp>
        <p:sp>
          <p:nvSpPr>
            <p:cNvPr id="256" name="Google Shape;256;p4"/>
            <p:cNvSpPr txBox="1"/>
            <p:nvPr/>
          </p:nvSpPr>
          <p:spPr>
            <a:xfrm>
              <a:off x="0" y="0"/>
              <a:ext cx="8778240" cy="829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Información incompleta</a:t>
              </a:r>
              <a:endParaRPr/>
            </a:p>
          </p:txBody>
        </p:sp>
      </p:grpSp>
      <p:grpSp>
        <p:nvGrpSpPr>
          <p:cNvPr id="257" name="Google Shape;257;p4"/>
          <p:cNvGrpSpPr/>
          <p:nvPr/>
        </p:nvGrpSpPr>
        <p:grpSpPr>
          <a:xfrm>
            <a:off x="9966960" y="6020753"/>
            <a:ext cx="6583680" cy="837247"/>
            <a:chOff x="0" y="-19050"/>
            <a:chExt cx="8778240" cy="1116330"/>
          </a:xfrm>
        </p:grpSpPr>
        <p:sp>
          <p:nvSpPr>
            <p:cNvPr id="258" name="Google Shape;258;p4"/>
            <p:cNvSpPr/>
            <p:nvPr/>
          </p:nvSpPr>
          <p:spPr>
            <a:xfrm>
              <a:off x="0" y="0"/>
              <a:ext cx="8778240" cy="1097280"/>
            </a:xfrm>
            <a:custGeom>
              <a:rect b="b" l="l" r="r" t="t"/>
              <a:pathLst>
                <a:path extrusionOk="0"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5873" l="0" r="0" t="-105876"/>
              </a:stretch>
            </a:blipFill>
            <a:ln>
              <a:noFill/>
            </a:ln>
          </p:spPr>
        </p:sp>
        <p:sp>
          <p:nvSpPr>
            <p:cNvPr id="259" name="Google Shape;259;p4"/>
            <p:cNvSpPr txBox="1"/>
            <p:nvPr/>
          </p:nvSpPr>
          <p:spPr>
            <a:xfrm>
              <a:off x="0" y="-19050"/>
              <a:ext cx="877824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Decidir sin saber todo. Exactamente como el mundo real fuera del aula.</a:t>
              </a:r>
              <a:endParaRPr/>
            </a:p>
          </p:txBody>
        </p:sp>
      </p:grpSp>
      <p:sp>
        <p:nvSpPr>
          <p:cNvPr id="260" name="Google Shape;260;p4"/>
          <p:cNvSpPr/>
          <p:nvPr/>
        </p:nvSpPr>
        <p:spPr>
          <a:xfrm>
            <a:off x="0" y="7680960"/>
            <a:ext cx="18288000" cy="2615184"/>
          </a:xfrm>
          <a:custGeom>
            <a:rect b="b" l="l" r="r" t="t"/>
            <a:pathLst>
              <a:path extrusionOk="0" h="3486912" w="24384000">
                <a:moveTo>
                  <a:pt x="0" y="0"/>
                </a:moveTo>
                <a:lnTo>
                  <a:pt x="24384000" y="0"/>
                </a:lnTo>
                <a:lnTo>
                  <a:pt x="24384000" y="3486912"/>
                </a:lnTo>
                <a:lnTo>
                  <a:pt x="0" y="3486912"/>
                </a:lnTo>
                <a:close/>
              </a:path>
            </a:pathLst>
          </a:custGeom>
          <a:solidFill>
            <a:srgbClr val="C42B2B"/>
          </a:solidFill>
          <a:ln>
            <a:noFill/>
          </a:ln>
        </p:spPr>
      </p:sp>
      <p:grpSp>
        <p:nvGrpSpPr>
          <p:cNvPr id="261" name="Google Shape;261;p4"/>
          <p:cNvGrpSpPr/>
          <p:nvPr/>
        </p:nvGrpSpPr>
        <p:grpSpPr>
          <a:xfrm>
            <a:off x="1463040" y="7940993"/>
            <a:ext cx="14630400" cy="745807"/>
            <a:chOff x="0" y="-19050"/>
            <a:chExt cx="19507200" cy="994410"/>
          </a:xfrm>
        </p:grpSpPr>
        <p:sp>
          <p:nvSpPr>
            <p:cNvPr id="262" name="Google Shape;262;p4"/>
            <p:cNvSpPr/>
            <p:nvPr/>
          </p:nvSpPr>
          <p:spPr>
            <a:xfrm>
              <a:off x="0" y="0"/>
              <a:ext cx="19507200" cy="975360"/>
            </a:xfrm>
            <a:custGeom>
              <a:rect b="b" l="l" r="r" t="t"/>
              <a:pathLst>
                <a:path extrusionOk="0"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650" l="0" r="0" t="-339650"/>
              </a:stretch>
            </a:blipFill>
            <a:ln>
              <a:noFill/>
            </a:ln>
          </p:spPr>
        </p:sp>
        <p:sp>
          <p:nvSpPr>
            <p:cNvPr id="263" name="Google Shape;263;p4"/>
            <p:cNvSpPr txBox="1"/>
            <p:nvPr/>
          </p:nvSpPr>
          <p:spPr>
            <a:xfrm>
              <a:off x="0" y="-19050"/>
              <a:ext cx="19507200" cy="994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Lo que no funciona en Marte no funcionará en la Tierra a largo plazo.</a:t>
              </a:r>
              <a:endParaRPr/>
            </a:p>
          </p:txBody>
        </p:sp>
      </p:grpSp>
      <p:grpSp>
        <p:nvGrpSpPr>
          <p:cNvPr id="264" name="Google Shape;264;p4"/>
          <p:cNvGrpSpPr/>
          <p:nvPr/>
        </p:nvGrpSpPr>
        <p:grpSpPr>
          <a:xfrm>
            <a:off x="1463040" y="8855393"/>
            <a:ext cx="15361921" cy="928688"/>
            <a:chOff x="0" y="-19050"/>
            <a:chExt cx="20482561" cy="1238250"/>
          </a:xfrm>
        </p:grpSpPr>
        <p:sp>
          <p:nvSpPr>
            <p:cNvPr id="265" name="Google Shape;265;p4"/>
            <p:cNvSpPr/>
            <p:nvPr/>
          </p:nvSpPr>
          <p:spPr>
            <a:xfrm>
              <a:off x="0" y="0"/>
              <a:ext cx="20482561" cy="1219200"/>
            </a:xfrm>
            <a:custGeom>
              <a:rect b="b" l="l" r="r" t="t"/>
              <a:pathLst>
                <a:path extrusionOk="0" h="12192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7310" l="0" r="0" t="-277310"/>
              </a:stretch>
            </a:blipFill>
            <a:ln>
              <a:noFill/>
            </a:ln>
          </p:spPr>
        </p:sp>
        <p:sp>
          <p:nvSpPr>
            <p:cNvPr id="266" name="Google Shape;266;p4"/>
            <p:cNvSpPr txBox="1"/>
            <p:nvPr/>
          </p:nvSpPr>
          <p:spPr>
            <a:xfrm>
              <a:off x="0" y="-19050"/>
              <a:ext cx="20482560" cy="1238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Cada año, un reto real: 2025 Fuego | 2026 Tierra: suelo como infraestructura viva | 2027 Agua | 2028 Aire</a:t>
              </a:r>
              <a:endParaRPr/>
            </a:p>
          </p:txBody>
        </p:sp>
      </p:grpSp>
      <p:sp>
        <p:nvSpPr>
          <p:cNvPr id="267" name="Google Shape;267;p4"/>
          <p:cNvSpPr/>
          <p:nvPr/>
        </p:nvSpPr>
        <p:spPr>
          <a:xfrm>
            <a:off x="13758889" y="388804"/>
            <a:ext cx="4938686" cy="639896"/>
          </a:xfrm>
          <a:custGeom>
            <a:rect b="b" l="l" r="r" t="t"/>
            <a:pathLst>
              <a:path extrusionOk="0" h="639896" w="4938686">
                <a:moveTo>
                  <a:pt x="0" y="0"/>
                </a:moveTo>
                <a:lnTo>
                  <a:pt x="4938686" y="0"/>
                </a:lnTo>
                <a:lnTo>
                  <a:pt x="4938686" y="639896"/>
                </a:lnTo>
                <a:lnTo>
                  <a:pt x="0" y="639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"/>
          <p:cNvSpPr/>
          <p:nvPr/>
        </p:nvSpPr>
        <p:spPr>
          <a:xfrm>
            <a:off x="0" y="0"/>
            <a:ext cx="18288000" cy="1645920"/>
          </a:xfrm>
          <a:custGeom>
            <a:rect b="b" l="l" r="r" t="t"/>
            <a:pathLst>
              <a:path extrusionOk="0" h="2194560" w="24384000">
                <a:moveTo>
                  <a:pt x="0" y="0"/>
                </a:moveTo>
                <a:lnTo>
                  <a:pt x="24384000" y="0"/>
                </a:lnTo>
                <a:lnTo>
                  <a:pt x="24384000" y="2194560"/>
                </a:lnTo>
                <a:lnTo>
                  <a:pt x="0" y="2194560"/>
                </a:lnTo>
                <a:close/>
              </a:path>
            </a:pathLst>
          </a:custGeom>
          <a:solidFill>
            <a:srgbClr val="0A1628"/>
          </a:solidFill>
          <a:ln>
            <a:noFill/>
          </a:ln>
        </p:spPr>
      </p:sp>
      <p:grpSp>
        <p:nvGrpSpPr>
          <p:cNvPr id="277" name="Google Shape;277;p5"/>
          <p:cNvGrpSpPr/>
          <p:nvPr/>
        </p:nvGrpSpPr>
        <p:grpSpPr>
          <a:xfrm>
            <a:off x="1463040" y="267176"/>
            <a:ext cx="14630400" cy="1104424"/>
            <a:chOff x="0" y="-9525"/>
            <a:chExt cx="19507200" cy="1472565"/>
          </a:xfrm>
        </p:grpSpPr>
        <p:sp>
          <p:nvSpPr>
            <p:cNvPr id="278" name="Google Shape;278;p5"/>
            <p:cNvSpPr/>
            <p:nvPr/>
          </p:nvSpPr>
          <p:spPr>
            <a:xfrm>
              <a:off x="0" y="0"/>
              <a:ext cx="19507200" cy="1463040"/>
            </a:xfrm>
            <a:custGeom>
              <a:rect b="b" l="l" r="r" t="t"/>
              <a:pathLst>
                <a:path extrusionOk="0" h="14630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794" l="0" r="0" t="-209794"/>
              </a:stretch>
            </a:blipFill>
            <a:ln>
              <a:noFill/>
            </a:ln>
          </p:spPr>
        </p:sp>
        <p:sp>
          <p:nvSpPr>
            <p:cNvPr id="279" name="Google Shape;279;p5"/>
            <p:cNvSpPr txBox="1"/>
            <p:nvPr/>
          </p:nvSpPr>
          <p:spPr>
            <a:xfrm>
              <a:off x="0" y="-9525"/>
              <a:ext cx="19507200" cy="1472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¿Qué es Mars Challenge?</a:t>
              </a:r>
              <a:endParaRPr/>
            </a:p>
          </p:txBody>
        </p:sp>
      </p:grpSp>
      <p:grpSp>
        <p:nvGrpSpPr>
          <p:cNvPr id="280" name="Google Shape;280;p5"/>
          <p:cNvGrpSpPr/>
          <p:nvPr/>
        </p:nvGrpSpPr>
        <p:grpSpPr>
          <a:xfrm>
            <a:off x="1463040" y="2010251"/>
            <a:ext cx="15361921" cy="1373029"/>
            <a:chOff x="0" y="-123825"/>
            <a:chExt cx="20482561" cy="1830705"/>
          </a:xfrm>
        </p:grpSpPr>
        <p:sp>
          <p:nvSpPr>
            <p:cNvPr id="281" name="Google Shape;281;p5"/>
            <p:cNvSpPr/>
            <p:nvPr/>
          </p:nvSpPr>
          <p:spPr>
            <a:xfrm>
              <a:off x="0" y="0"/>
              <a:ext cx="20482561" cy="1706880"/>
            </a:xfrm>
            <a:custGeom>
              <a:rect b="b" l="l" r="r" t="t"/>
              <a:pathLst>
                <a:path extrusionOk="0" h="17068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19" l="0" r="0" t="-183819"/>
              </a:stretch>
            </a:blipFill>
            <a:ln>
              <a:noFill/>
            </a:ln>
          </p:spPr>
        </p:sp>
        <p:sp>
          <p:nvSpPr>
            <p:cNvPr id="282" name="Google Shape;282;p5"/>
            <p:cNvSpPr txBox="1"/>
            <p:nvPr/>
          </p:nvSpPr>
          <p:spPr>
            <a:xfrm>
              <a:off x="0" y="-123825"/>
              <a:ext cx="20482560" cy="1830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0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1E293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Un programa internacional de aprendizaje basado en retos que entrena las competencias que la IA no puede sustituir: criterio, decisión y colaboración bajo incertidumbre real.</a:t>
              </a:r>
              <a:endParaRPr/>
            </a:p>
          </p:txBody>
        </p:sp>
      </p:grpSp>
      <p:sp>
        <p:nvSpPr>
          <p:cNvPr id="283" name="Google Shape;283;p5"/>
          <p:cNvSpPr/>
          <p:nvPr/>
        </p:nvSpPr>
        <p:spPr>
          <a:xfrm>
            <a:off x="1097280" y="3840480"/>
            <a:ext cx="5212080" cy="5303520"/>
          </a:xfrm>
          <a:custGeom>
            <a:rect b="b" l="l" r="r" t="t"/>
            <a:pathLst>
              <a:path extrusionOk="0" h="7071360" w="6949440">
                <a:moveTo>
                  <a:pt x="0" y="0"/>
                </a:moveTo>
                <a:lnTo>
                  <a:pt x="6949440" y="0"/>
                </a:lnTo>
                <a:lnTo>
                  <a:pt x="6949440" y="7071360"/>
                </a:lnTo>
                <a:lnTo>
                  <a:pt x="0" y="70713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preencoded.png" id="284" name="Google Shape;284;p5"/>
          <p:cNvSpPr/>
          <p:nvPr/>
        </p:nvSpPr>
        <p:spPr>
          <a:xfrm>
            <a:off x="1463040" y="4206240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0"/>
                </a:moveTo>
                <a:lnTo>
                  <a:pt x="975360" y="0"/>
                </a:lnTo>
                <a:lnTo>
                  <a:pt x="975360" y="975360"/>
                </a:lnTo>
                <a:lnTo>
                  <a:pt x="0" y="975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5" name="Google Shape;285;p5"/>
          <p:cNvGrpSpPr/>
          <p:nvPr/>
        </p:nvGrpSpPr>
        <p:grpSpPr>
          <a:xfrm>
            <a:off x="1463040" y="5120640"/>
            <a:ext cx="4480560" cy="640080"/>
            <a:chOff x="0" y="0"/>
            <a:chExt cx="5974080" cy="853440"/>
          </a:xfrm>
        </p:grpSpPr>
        <p:sp>
          <p:nvSpPr>
            <p:cNvPr id="286" name="Google Shape;286;p5"/>
            <p:cNvSpPr/>
            <p:nvPr/>
          </p:nvSpPr>
          <p:spPr>
            <a:xfrm>
              <a:off x="0" y="0"/>
              <a:ext cx="5974080" cy="853440"/>
            </a:xfrm>
            <a:custGeom>
              <a:rect b="b" l="l" r="r" t="t"/>
              <a:pathLst>
                <a:path extrusionOk="0"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88" l="0" r="0" t="-86388"/>
              </a:stretch>
            </a:blipFill>
            <a:ln>
              <a:noFill/>
            </a:ln>
          </p:spPr>
        </p:sp>
        <p:sp>
          <p:nvSpPr>
            <p:cNvPr id="287" name="Google Shape;287;p5"/>
            <p:cNvSpPr txBox="1"/>
            <p:nvPr/>
          </p:nvSpPr>
          <p:spPr>
            <a:xfrm>
              <a:off x="0" y="0"/>
              <a:ext cx="597408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Sistema formativo global</a:t>
              </a:r>
              <a:endParaRPr/>
            </a:p>
          </p:txBody>
        </p:sp>
      </p:grpSp>
      <p:grpSp>
        <p:nvGrpSpPr>
          <p:cNvPr id="288" name="Google Shape;288;p5"/>
          <p:cNvGrpSpPr/>
          <p:nvPr/>
        </p:nvGrpSpPr>
        <p:grpSpPr>
          <a:xfrm>
            <a:off x="1463040" y="5773579"/>
            <a:ext cx="4480560" cy="3004661"/>
            <a:chOff x="0" y="-104775"/>
            <a:chExt cx="5974080" cy="4006215"/>
          </a:xfrm>
        </p:grpSpPr>
        <p:sp>
          <p:nvSpPr>
            <p:cNvPr id="289" name="Google Shape;289;p5"/>
            <p:cNvSpPr/>
            <p:nvPr/>
          </p:nvSpPr>
          <p:spPr>
            <a:xfrm>
              <a:off x="0" y="0"/>
              <a:ext cx="5974080" cy="3901440"/>
            </a:xfrm>
            <a:custGeom>
              <a:rect b="b" l="l" r="r" t="t"/>
              <a:pathLst>
                <a:path extrusionOk="0" h="3901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3901440"/>
                  </a:lnTo>
                  <a:lnTo>
                    <a:pt x="0" y="3901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786" r="-33788" t="0"/>
              </a:stretch>
            </a:blipFill>
            <a:ln>
              <a:noFill/>
            </a:ln>
          </p:spPr>
        </p:sp>
        <p:sp>
          <p:nvSpPr>
            <p:cNvPr id="290" name="Google Shape;290;p5"/>
            <p:cNvSpPr txBox="1"/>
            <p:nvPr/>
          </p:nvSpPr>
          <p:spPr>
            <a:xfrm>
              <a:off x="0" y="-104775"/>
              <a:ext cx="5974080" cy="4006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50928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No es un evento. Es un proceso completo con metodología, plataforma, capacitación docente y proyección internacional.</a:t>
              </a:r>
              <a:endParaRPr/>
            </a:p>
          </p:txBody>
        </p:sp>
      </p:grpSp>
      <p:sp>
        <p:nvSpPr>
          <p:cNvPr id="291" name="Google Shape;291;p5"/>
          <p:cNvSpPr/>
          <p:nvPr/>
        </p:nvSpPr>
        <p:spPr>
          <a:xfrm>
            <a:off x="6766560" y="3840480"/>
            <a:ext cx="5212080" cy="5303520"/>
          </a:xfrm>
          <a:custGeom>
            <a:rect b="b" l="l" r="r" t="t"/>
            <a:pathLst>
              <a:path extrusionOk="0" h="7071360" w="6949440">
                <a:moveTo>
                  <a:pt x="0" y="0"/>
                </a:moveTo>
                <a:lnTo>
                  <a:pt x="6949440" y="0"/>
                </a:lnTo>
                <a:lnTo>
                  <a:pt x="6949440" y="7071360"/>
                </a:lnTo>
                <a:lnTo>
                  <a:pt x="0" y="70713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preencoded.png" id="292" name="Google Shape;292;p5"/>
          <p:cNvSpPr/>
          <p:nvPr/>
        </p:nvSpPr>
        <p:spPr>
          <a:xfrm>
            <a:off x="7132320" y="4206240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0"/>
                </a:moveTo>
                <a:lnTo>
                  <a:pt x="975360" y="0"/>
                </a:lnTo>
                <a:lnTo>
                  <a:pt x="975360" y="975360"/>
                </a:lnTo>
                <a:lnTo>
                  <a:pt x="0" y="975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3" name="Google Shape;293;p5"/>
          <p:cNvGrpSpPr/>
          <p:nvPr/>
        </p:nvGrpSpPr>
        <p:grpSpPr>
          <a:xfrm>
            <a:off x="7132320" y="5120640"/>
            <a:ext cx="4480560" cy="640080"/>
            <a:chOff x="0" y="0"/>
            <a:chExt cx="5974080" cy="853440"/>
          </a:xfrm>
        </p:grpSpPr>
        <p:sp>
          <p:nvSpPr>
            <p:cNvPr id="294" name="Google Shape;294;p5"/>
            <p:cNvSpPr/>
            <p:nvPr/>
          </p:nvSpPr>
          <p:spPr>
            <a:xfrm>
              <a:off x="0" y="0"/>
              <a:ext cx="5974080" cy="853440"/>
            </a:xfrm>
            <a:custGeom>
              <a:rect b="b" l="l" r="r" t="t"/>
              <a:pathLst>
                <a:path extrusionOk="0"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88" l="0" r="0" t="-86388"/>
              </a:stretch>
            </a:blipFill>
            <a:ln>
              <a:noFill/>
            </a:ln>
          </p:spPr>
        </p:sp>
        <p:sp>
          <p:nvSpPr>
            <p:cNvPr id="295" name="Google Shape;295;p5"/>
            <p:cNvSpPr txBox="1"/>
            <p:nvPr/>
          </p:nvSpPr>
          <p:spPr>
            <a:xfrm>
              <a:off x="0" y="0"/>
              <a:ext cx="597408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Competencias post-IA</a:t>
              </a:r>
              <a:endParaRPr/>
            </a:p>
          </p:txBody>
        </p:sp>
      </p:grpSp>
      <p:grpSp>
        <p:nvGrpSpPr>
          <p:cNvPr id="296" name="Google Shape;296;p5"/>
          <p:cNvGrpSpPr/>
          <p:nvPr/>
        </p:nvGrpSpPr>
        <p:grpSpPr>
          <a:xfrm>
            <a:off x="7132320" y="5773579"/>
            <a:ext cx="4480560" cy="3004661"/>
            <a:chOff x="0" y="-104775"/>
            <a:chExt cx="5974080" cy="4006215"/>
          </a:xfrm>
        </p:grpSpPr>
        <p:sp>
          <p:nvSpPr>
            <p:cNvPr id="297" name="Google Shape;297;p5"/>
            <p:cNvSpPr/>
            <p:nvPr/>
          </p:nvSpPr>
          <p:spPr>
            <a:xfrm>
              <a:off x="0" y="0"/>
              <a:ext cx="5974080" cy="3901440"/>
            </a:xfrm>
            <a:custGeom>
              <a:rect b="b" l="l" r="r" t="t"/>
              <a:pathLst>
                <a:path extrusionOk="0" h="3901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3901440"/>
                  </a:lnTo>
                  <a:lnTo>
                    <a:pt x="0" y="3901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786" r="-33788" t="0"/>
              </a:stretch>
            </a:blipFill>
            <a:ln>
              <a:noFill/>
            </a:ln>
          </p:spPr>
        </p:sp>
        <p:sp>
          <p:nvSpPr>
            <p:cNvPr id="298" name="Google Shape;298;p5"/>
            <p:cNvSpPr txBox="1"/>
            <p:nvPr/>
          </p:nvSpPr>
          <p:spPr>
            <a:xfrm>
              <a:off x="0" y="-104775"/>
              <a:ext cx="5974080" cy="4006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50928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Generation effect + desirable difficulties: los equipos generan soluciones, no las reciben. La fricción es el mecanismo, no el obstáculo.</a:t>
              </a:r>
              <a:endParaRPr/>
            </a:p>
          </p:txBody>
        </p:sp>
      </p:grpSp>
      <p:sp>
        <p:nvSpPr>
          <p:cNvPr id="299" name="Google Shape;299;p5"/>
          <p:cNvSpPr/>
          <p:nvPr/>
        </p:nvSpPr>
        <p:spPr>
          <a:xfrm>
            <a:off x="12435840" y="3840480"/>
            <a:ext cx="5212080" cy="5303520"/>
          </a:xfrm>
          <a:custGeom>
            <a:rect b="b" l="l" r="r" t="t"/>
            <a:pathLst>
              <a:path extrusionOk="0" h="7071360" w="6949440">
                <a:moveTo>
                  <a:pt x="0" y="0"/>
                </a:moveTo>
                <a:lnTo>
                  <a:pt x="6949440" y="0"/>
                </a:lnTo>
                <a:lnTo>
                  <a:pt x="6949440" y="7071360"/>
                </a:lnTo>
                <a:lnTo>
                  <a:pt x="0" y="70713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preencoded.png" id="300" name="Google Shape;300;p5"/>
          <p:cNvSpPr/>
          <p:nvPr/>
        </p:nvSpPr>
        <p:spPr>
          <a:xfrm>
            <a:off x="12801600" y="4206240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0"/>
                </a:moveTo>
                <a:lnTo>
                  <a:pt x="975360" y="0"/>
                </a:lnTo>
                <a:lnTo>
                  <a:pt x="975360" y="975360"/>
                </a:lnTo>
                <a:lnTo>
                  <a:pt x="0" y="975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1" name="Google Shape;301;p5"/>
          <p:cNvGrpSpPr/>
          <p:nvPr/>
        </p:nvGrpSpPr>
        <p:grpSpPr>
          <a:xfrm>
            <a:off x="12801600" y="5120640"/>
            <a:ext cx="4480560" cy="640080"/>
            <a:chOff x="0" y="0"/>
            <a:chExt cx="5974080" cy="853440"/>
          </a:xfrm>
        </p:grpSpPr>
        <p:sp>
          <p:nvSpPr>
            <p:cNvPr id="302" name="Google Shape;302;p5"/>
            <p:cNvSpPr/>
            <p:nvPr/>
          </p:nvSpPr>
          <p:spPr>
            <a:xfrm>
              <a:off x="0" y="0"/>
              <a:ext cx="5974080" cy="853440"/>
            </a:xfrm>
            <a:custGeom>
              <a:rect b="b" l="l" r="r" t="t"/>
              <a:pathLst>
                <a:path extrusionOk="0"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88" l="0" r="0" t="-86388"/>
              </a:stretch>
            </a:blipFill>
            <a:ln>
              <a:noFill/>
            </a:ln>
          </p:spPr>
        </p:sp>
        <p:sp>
          <p:nvSpPr>
            <p:cNvPr id="303" name="Google Shape;303;p5"/>
            <p:cNvSpPr txBox="1"/>
            <p:nvPr/>
          </p:nvSpPr>
          <p:spPr>
            <a:xfrm>
              <a:off x="0" y="0"/>
              <a:ext cx="5974080" cy="85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Capacitación docente</a:t>
              </a:r>
              <a:endParaRPr/>
            </a:p>
          </p:txBody>
        </p:sp>
      </p:grpSp>
      <p:grpSp>
        <p:nvGrpSpPr>
          <p:cNvPr id="304" name="Google Shape;304;p5"/>
          <p:cNvGrpSpPr/>
          <p:nvPr/>
        </p:nvGrpSpPr>
        <p:grpSpPr>
          <a:xfrm>
            <a:off x="12801600" y="5773579"/>
            <a:ext cx="4480560" cy="3004661"/>
            <a:chOff x="0" y="-104775"/>
            <a:chExt cx="5974080" cy="4006215"/>
          </a:xfrm>
        </p:grpSpPr>
        <p:sp>
          <p:nvSpPr>
            <p:cNvPr id="305" name="Google Shape;305;p5"/>
            <p:cNvSpPr/>
            <p:nvPr/>
          </p:nvSpPr>
          <p:spPr>
            <a:xfrm>
              <a:off x="0" y="0"/>
              <a:ext cx="5974080" cy="3901440"/>
            </a:xfrm>
            <a:custGeom>
              <a:rect b="b" l="l" r="r" t="t"/>
              <a:pathLst>
                <a:path extrusionOk="0" h="3901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3901440"/>
                  </a:lnTo>
                  <a:lnTo>
                    <a:pt x="0" y="3901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786" r="-33788" t="0"/>
              </a:stretch>
            </a:blipFill>
            <a:ln>
              <a:noFill/>
            </a:ln>
          </p:spPr>
        </p:sp>
        <p:sp>
          <p:nvSpPr>
            <p:cNvPr id="306" name="Google Shape;306;p5"/>
            <p:cNvSpPr txBox="1"/>
            <p:nvPr/>
          </p:nvSpPr>
          <p:spPr>
            <a:xfrm>
              <a:off x="0" y="-104775"/>
              <a:ext cx="5974080" cy="4006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050928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b="0" i="0" lang="en-US" sz="2100" u="none" cap="none" strike="noStrike">
                  <a:solidFill>
                    <a:srgbClr val="050928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utogestiva. 4 misiones que transforman al docente en mentor. Transferible a la práctica universitaria.</a:t>
              </a:r>
              <a:endParaRPr/>
            </a:p>
          </p:txBody>
        </p:sp>
      </p:grpSp>
      <p:grpSp>
        <p:nvGrpSpPr>
          <p:cNvPr id="307" name="Google Shape;307;p5"/>
          <p:cNvGrpSpPr/>
          <p:nvPr/>
        </p:nvGrpSpPr>
        <p:grpSpPr>
          <a:xfrm>
            <a:off x="1463040" y="9411176"/>
            <a:ext cx="14630400" cy="647224"/>
            <a:chOff x="0" y="-9525"/>
            <a:chExt cx="19507200" cy="862965"/>
          </a:xfrm>
        </p:grpSpPr>
        <p:sp>
          <p:nvSpPr>
            <p:cNvPr id="308" name="Google Shape;308;p5"/>
            <p:cNvSpPr/>
            <p:nvPr/>
          </p:nvSpPr>
          <p:spPr>
            <a:xfrm>
              <a:off x="0" y="0"/>
              <a:ext cx="19507200" cy="853440"/>
            </a:xfrm>
            <a:custGeom>
              <a:rect b="b" l="l" r="r" t="t"/>
              <a:pathLst>
                <a:path extrusionOk="0" h="8534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315" l="0" r="0" t="-395315"/>
              </a:stretch>
            </a:blipFill>
            <a:ln>
              <a:noFill/>
            </a:ln>
          </p:spPr>
        </p:sp>
        <p:sp>
          <p:nvSpPr>
            <p:cNvPr id="309" name="Google Shape;309;p5"/>
            <p:cNvSpPr txBox="1"/>
            <p:nvPr/>
          </p:nvSpPr>
          <p:spPr>
            <a:xfrm>
              <a:off x="0" y="-9525"/>
              <a:ext cx="19507200" cy="862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 u="none" cap="none" strike="noStrike">
                  <a:solidFill>
                    <a:srgbClr val="C42B2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No explica la ciencia. Democratiza su forma de pensar.</a:t>
              </a:r>
              <a:endParaRPr/>
            </a:p>
          </p:txBody>
        </p:sp>
      </p:grpSp>
      <p:sp>
        <p:nvSpPr>
          <p:cNvPr id="310" name="Google Shape;310;p5"/>
          <p:cNvSpPr/>
          <p:nvPr/>
        </p:nvSpPr>
        <p:spPr>
          <a:xfrm>
            <a:off x="13758889" y="388804"/>
            <a:ext cx="4938686" cy="639896"/>
          </a:xfrm>
          <a:custGeom>
            <a:rect b="b" l="l" r="r" t="t"/>
            <a:pathLst>
              <a:path extrusionOk="0" h="639896" w="4938686">
                <a:moveTo>
                  <a:pt x="0" y="0"/>
                </a:moveTo>
                <a:lnTo>
                  <a:pt x="4938686" y="0"/>
                </a:lnTo>
                <a:lnTo>
                  <a:pt x="4938686" y="639896"/>
                </a:lnTo>
                <a:lnTo>
                  <a:pt x="0" y="639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87111b807_0_7"/>
          <p:cNvSpPr/>
          <p:nvPr/>
        </p:nvSpPr>
        <p:spPr>
          <a:xfrm>
            <a:off x="0" y="0"/>
            <a:ext cx="18288000" cy="1645920"/>
          </a:xfrm>
          <a:custGeom>
            <a:rect b="b" l="l" r="r" t="t"/>
            <a:pathLst>
              <a:path extrusionOk="0" h="2194560" w="24384000">
                <a:moveTo>
                  <a:pt x="0" y="0"/>
                </a:moveTo>
                <a:lnTo>
                  <a:pt x="24384000" y="0"/>
                </a:lnTo>
                <a:lnTo>
                  <a:pt x="24384000" y="2194560"/>
                </a:lnTo>
                <a:lnTo>
                  <a:pt x="0" y="2194560"/>
                </a:lnTo>
                <a:close/>
              </a:path>
            </a:pathLst>
          </a:custGeom>
          <a:solidFill>
            <a:srgbClr val="0A1628"/>
          </a:solidFill>
          <a:ln>
            <a:noFill/>
          </a:ln>
        </p:spPr>
      </p:sp>
      <p:grpSp>
        <p:nvGrpSpPr>
          <p:cNvPr id="320" name="Google Shape;320;g3c87111b807_0_7"/>
          <p:cNvGrpSpPr/>
          <p:nvPr/>
        </p:nvGrpSpPr>
        <p:grpSpPr>
          <a:xfrm>
            <a:off x="1463040" y="267176"/>
            <a:ext cx="14630400" cy="1104525"/>
            <a:chOff x="0" y="-9525"/>
            <a:chExt cx="19507200" cy="1472700"/>
          </a:xfrm>
        </p:grpSpPr>
        <p:sp>
          <p:nvSpPr>
            <p:cNvPr id="321" name="Google Shape;321;g3c87111b807_0_7"/>
            <p:cNvSpPr/>
            <p:nvPr/>
          </p:nvSpPr>
          <p:spPr>
            <a:xfrm>
              <a:off x="0" y="0"/>
              <a:ext cx="19507200" cy="1463040"/>
            </a:xfrm>
            <a:custGeom>
              <a:rect b="b" l="l" r="r" t="t"/>
              <a:pathLst>
                <a:path extrusionOk="0" h="14630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783" l="0" r="0" t="-209778"/>
              </a:stretch>
            </a:blipFill>
            <a:ln>
              <a:noFill/>
            </a:ln>
          </p:spPr>
        </p:sp>
        <p:sp>
          <p:nvSpPr>
            <p:cNvPr id="322" name="Google Shape;322;g3c87111b807_0_7"/>
            <p:cNvSpPr txBox="1"/>
            <p:nvPr/>
          </p:nvSpPr>
          <p:spPr>
            <a:xfrm>
              <a:off x="0" y="-9525"/>
              <a:ext cx="19507200" cy="14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2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Capacitación Docente</a:t>
              </a:r>
              <a:endParaRPr/>
            </a:p>
          </p:txBody>
        </p:sp>
      </p:grpSp>
      <p:sp>
        <p:nvSpPr>
          <p:cNvPr id="323" name="Google Shape;323;g3c87111b807_0_7"/>
          <p:cNvSpPr/>
          <p:nvPr/>
        </p:nvSpPr>
        <p:spPr>
          <a:xfrm>
            <a:off x="1097280" y="2103120"/>
            <a:ext cx="16093440" cy="914400"/>
          </a:xfrm>
          <a:custGeom>
            <a:rect b="b" l="l" r="r" t="t"/>
            <a:pathLst>
              <a:path extrusionOk="0" h="1219200" w="21457920">
                <a:moveTo>
                  <a:pt x="0" y="0"/>
                </a:moveTo>
                <a:lnTo>
                  <a:pt x="21457920" y="0"/>
                </a:lnTo>
                <a:lnTo>
                  <a:pt x="21457920" y="1219200"/>
                </a:lnTo>
                <a:lnTo>
                  <a:pt x="0" y="12192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grpSp>
        <p:nvGrpSpPr>
          <p:cNvPr id="324" name="Google Shape;324;g3c87111b807_0_7"/>
          <p:cNvGrpSpPr/>
          <p:nvPr/>
        </p:nvGrpSpPr>
        <p:grpSpPr>
          <a:xfrm>
            <a:off x="1463040" y="2143696"/>
            <a:ext cx="15361921" cy="837248"/>
            <a:chOff x="0" y="-19050"/>
            <a:chExt cx="20482561" cy="1116330"/>
          </a:xfrm>
        </p:grpSpPr>
        <p:sp>
          <p:nvSpPr>
            <p:cNvPr id="325" name="Google Shape;325;g3c87111b807_0_7"/>
            <p:cNvSpPr/>
            <p:nvPr/>
          </p:nvSpPr>
          <p:spPr>
            <a:xfrm>
              <a:off x="0" y="0"/>
              <a:ext cx="20482561" cy="1097280"/>
            </a:xfrm>
            <a:custGeom>
              <a:rect b="b" l="l" r="r" t="t"/>
              <a:pathLst>
                <a:path extrusionOk="0"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3689" l="0" r="0" t="-313689"/>
              </a:stretch>
            </a:blipFill>
            <a:ln>
              <a:noFill/>
            </a:ln>
          </p:spPr>
        </p:sp>
        <p:sp>
          <p:nvSpPr>
            <p:cNvPr id="326" name="Google Shape;326;g3c87111b807_0_7"/>
            <p:cNvSpPr txBox="1"/>
            <p:nvPr/>
          </p:nvSpPr>
          <p:spPr>
            <a:xfrm>
              <a:off x="0" y="-19050"/>
              <a:ext cx="20482500" cy="11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10 horas  |  Autogestiva  |  Asincrónica  |  Digital  |  Sin sobrecarga docente</a:t>
              </a:r>
              <a:endParaRPr/>
            </a:p>
          </p:txBody>
        </p:sp>
      </p:grpSp>
      <p:sp>
        <p:nvSpPr>
          <p:cNvPr id="327" name="Google Shape;327;g3c87111b807_0_7"/>
          <p:cNvSpPr/>
          <p:nvPr/>
        </p:nvSpPr>
        <p:spPr>
          <a:xfrm>
            <a:off x="1097280" y="3474720"/>
            <a:ext cx="3749040" cy="3291840"/>
          </a:xfrm>
          <a:custGeom>
            <a:rect b="b" l="l" r="r" t="t"/>
            <a:pathLst>
              <a:path extrusionOk="0" h="4389120" w="4998720">
                <a:moveTo>
                  <a:pt x="0" y="0"/>
                </a:moveTo>
                <a:lnTo>
                  <a:pt x="4998720" y="0"/>
                </a:lnTo>
                <a:lnTo>
                  <a:pt x="4998720" y="4389120"/>
                </a:lnTo>
                <a:lnTo>
                  <a:pt x="0" y="43891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8" name="Google Shape;328;g3c87111b807_0_7"/>
          <p:cNvSpPr/>
          <p:nvPr/>
        </p:nvSpPr>
        <p:spPr>
          <a:xfrm>
            <a:off x="1371600" y="3749040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487680"/>
                </a:moveTo>
                <a:cubicBezTo>
                  <a:pt x="0" y="218313"/>
                  <a:pt x="218313" y="0"/>
                  <a:pt x="487680" y="0"/>
                </a:cubicBezTo>
                <a:cubicBezTo>
                  <a:pt x="757047" y="0"/>
                  <a:pt x="975360" y="218313"/>
                  <a:pt x="975360" y="487680"/>
                </a:cubicBezTo>
                <a:cubicBezTo>
                  <a:pt x="975360" y="757047"/>
                  <a:pt x="757047" y="975360"/>
                  <a:pt x="487680" y="975360"/>
                </a:cubicBezTo>
                <a:cubicBezTo>
                  <a:pt x="218313" y="975360"/>
                  <a:pt x="0" y="757047"/>
                  <a:pt x="0" y="487680"/>
                </a:cubicBezTo>
                <a:close/>
              </a:path>
            </a:pathLst>
          </a:custGeom>
          <a:solidFill>
            <a:srgbClr val="C4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g3c87111b807_0_7"/>
          <p:cNvGrpSpPr/>
          <p:nvPr/>
        </p:nvGrpSpPr>
        <p:grpSpPr>
          <a:xfrm>
            <a:off x="1371600" y="3741896"/>
            <a:ext cx="731520" cy="738675"/>
            <a:chOff x="0" y="-9525"/>
            <a:chExt cx="975360" cy="984900"/>
          </a:xfrm>
        </p:grpSpPr>
        <p:sp>
          <p:nvSpPr>
            <p:cNvPr id="330" name="Google Shape;330;g3c87111b807_0_7"/>
            <p:cNvSpPr/>
            <p:nvPr/>
          </p:nvSpPr>
          <p:spPr>
            <a:xfrm>
              <a:off x="0" y="0"/>
              <a:ext cx="975360" cy="975360"/>
            </a:xfrm>
            <a:custGeom>
              <a:rect b="b" l="l" r="r" t="t"/>
              <a:pathLst>
                <a:path extrusionOk="0"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295" r="-78285" t="0"/>
              </a:stretch>
            </a:blipFill>
            <a:ln>
              <a:noFill/>
            </a:ln>
          </p:spPr>
        </p:sp>
        <p:sp>
          <p:nvSpPr>
            <p:cNvPr id="331" name="Google Shape;331;g3c87111b807_0_7"/>
            <p:cNvSpPr txBox="1"/>
            <p:nvPr/>
          </p:nvSpPr>
          <p:spPr>
            <a:xfrm>
              <a:off x="0" y="-9525"/>
              <a:ext cx="975300" cy="9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</a:t>
              </a:r>
              <a:endParaRPr/>
            </a:p>
          </p:txBody>
        </p:sp>
      </p:grpSp>
      <p:grpSp>
        <p:nvGrpSpPr>
          <p:cNvPr id="332" name="Google Shape;332;g3c87111b807_0_7"/>
          <p:cNvGrpSpPr/>
          <p:nvPr/>
        </p:nvGrpSpPr>
        <p:grpSpPr>
          <a:xfrm>
            <a:off x="1371600" y="4663440"/>
            <a:ext cx="3200400" cy="640125"/>
            <a:chOff x="0" y="0"/>
            <a:chExt cx="4267200" cy="853500"/>
          </a:xfrm>
        </p:grpSpPr>
        <p:sp>
          <p:nvSpPr>
            <p:cNvPr id="333" name="Google Shape;333;g3c87111b807_0_7"/>
            <p:cNvSpPr/>
            <p:nvPr/>
          </p:nvSpPr>
          <p:spPr>
            <a:xfrm>
              <a:off x="0" y="0"/>
              <a:ext cx="4267200" cy="853440"/>
            </a:xfrm>
            <a:custGeom>
              <a:rect b="b" l="l" r="r" t="t"/>
              <a:pathLst>
                <a:path extrusionOk="0"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7427" l="0" r="0" t="-47417"/>
              </a:stretch>
            </a:blipFill>
            <a:ln>
              <a:noFill/>
            </a:ln>
          </p:spPr>
        </p:sp>
        <p:sp>
          <p:nvSpPr>
            <p:cNvPr id="334" name="Google Shape;334;g3c87111b807_0_7"/>
            <p:cNvSpPr txBox="1"/>
            <p:nvPr/>
          </p:nvSpPr>
          <p:spPr>
            <a:xfrm>
              <a:off x="0" y="0"/>
              <a:ext cx="4267200" cy="8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Entrar en la misión</a:t>
              </a:r>
              <a:endParaRPr/>
            </a:p>
          </p:txBody>
        </p:sp>
      </p:grpSp>
      <p:grpSp>
        <p:nvGrpSpPr>
          <p:cNvPr id="335" name="Google Shape;335;g3c87111b807_0_7"/>
          <p:cNvGrpSpPr/>
          <p:nvPr/>
        </p:nvGrpSpPr>
        <p:grpSpPr>
          <a:xfrm>
            <a:off x="1371600" y="5289233"/>
            <a:ext cx="3200400" cy="1203075"/>
            <a:chOff x="0" y="-19050"/>
            <a:chExt cx="4267200" cy="1604100"/>
          </a:xfrm>
        </p:grpSpPr>
        <p:sp>
          <p:nvSpPr>
            <p:cNvPr id="336" name="Google Shape;336;g3c87111b807_0_7"/>
            <p:cNvSpPr/>
            <p:nvPr/>
          </p:nvSpPr>
          <p:spPr>
            <a:xfrm>
              <a:off x="0" y="0"/>
              <a:ext cx="4267200" cy="1584960"/>
            </a:xfrm>
            <a:custGeom>
              <a:rect b="b" l="l" r="r" t="t"/>
              <a:pathLst>
                <a:path extrusionOk="0" h="15849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59" l="0" r="0" t="-2459"/>
              </a:stretch>
            </a:blipFill>
            <a:ln>
              <a:noFill/>
            </a:ln>
          </p:spPr>
        </p:sp>
        <p:sp>
          <p:nvSpPr>
            <p:cNvPr id="337" name="Google Shape;337;g3c87111b807_0_7"/>
            <p:cNvSpPr txBox="1"/>
            <p:nvPr/>
          </p:nvSpPr>
          <p:spPr>
            <a:xfrm>
              <a:off x="0" y="-19050"/>
              <a:ext cx="4267200" cy="16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94A3B8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Sentido, rol y visión global del programa y del ABR</a:t>
              </a:r>
              <a:endParaRPr/>
            </a:p>
          </p:txBody>
        </p:sp>
      </p:grpSp>
      <p:sp>
        <p:nvSpPr>
          <p:cNvPr id="338" name="Google Shape;338;g3c87111b807_0_7"/>
          <p:cNvSpPr/>
          <p:nvPr/>
        </p:nvSpPr>
        <p:spPr>
          <a:xfrm>
            <a:off x="5212080" y="3474720"/>
            <a:ext cx="3749040" cy="3291840"/>
          </a:xfrm>
          <a:custGeom>
            <a:rect b="b" l="l" r="r" t="t"/>
            <a:pathLst>
              <a:path extrusionOk="0" h="4389120" w="4998720">
                <a:moveTo>
                  <a:pt x="0" y="0"/>
                </a:moveTo>
                <a:lnTo>
                  <a:pt x="4998720" y="0"/>
                </a:lnTo>
                <a:lnTo>
                  <a:pt x="4998720" y="4389120"/>
                </a:lnTo>
                <a:lnTo>
                  <a:pt x="0" y="43891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9" name="Google Shape;339;g3c87111b807_0_7"/>
          <p:cNvSpPr/>
          <p:nvPr/>
        </p:nvSpPr>
        <p:spPr>
          <a:xfrm>
            <a:off x="5486400" y="3749040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487680"/>
                </a:moveTo>
                <a:cubicBezTo>
                  <a:pt x="0" y="218313"/>
                  <a:pt x="218313" y="0"/>
                  <a:pt x="487680" y="0"/>
                </a:cubicBezTo>
                <a:cubicBezTo>
                  <a:pt x="757047" y="0"/>
                  <a:pt x="975360" y="218313"/>
                  <a:pt x="975360" y="487680"/>
                </a:cubicBezTo>
                <a:cubicBezTo>
                  <a:pt x="975360" y="757047"/>
                  <a:pt x="757047" y="975360"/>
                  <a:pt x="487680" y="975360"/>
                </a:cubicBezTo>
                <a:cubicBezTo>
                  <a:pt x="218313" y="975360"/>
                  <a:pt x="0" y="757047"/>
                  <a:pt x="0" y="487680"/>
                </a:cubicBezTo>
                <a:close/>
              </a:path>
            </a:pathLst>
          </a:custGeom>
          <a:solidFill>
            <a:srgbClr val="C4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g3c87111b807_0_7"/>
          <p:cNvGrpSpPr/>
          <p:nvPr/>
        </p:nvGrpSpPr>
        <p:grpSpPr>
          <a:xfrm>
            <a:off x="5486400" y="3741896"/>
            <a:ext cx="731520" cy="738675"/>
            <a:chOff x="0" y="-9525"/>
            <a:chExt cx="975360" cy="984900"/>
          </a:xfrm>
        </p:grpSpPr>
        <p:sp>
          <p:nvSpPr>
            <p:cNvPr id="341" name="Google Shape;341;g3c87111b807_0_7"/>
            <p:cNvSpPr/>
            <p:nvPr/>
          </p:nvSpPr>
          <p:spPr>
            <a:xfrm>
              <a:off x="0" y="0"/>
              <a:ext cx="975360" cy="975360"/>
            </a:xfrm>
            <a:custGeom>
              <a:rect b="b" l="l" r="r" t="t"/>
              <a:pathLst>
                <a:path extrusionOk="0"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295" r="-78285" t="0"/>
              </a:stretch>
            </a:blipFill>
            <a:ln>
              <a:noFill/>
            </a:ln>
          </p:spPr>
        </p:sp>
        <p:sp>
          <p:nvSpPr>
            <p:cNvPr id="342" name="Google Shape;342;g3c87111b807_0_7"/>
            <p:cNvSpPr txBox="1"/>
            <p:nvPr/>
          </p:nvSpPr>
          <p:spPr>
            <a:xfrm>
              <a:off x="0" y="-9525"/>
              <a:ext cx="975300" cy="9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</a:t>
              </a:r>
              <a:endParaRPr/>
            </a:p>
          </p:txBody>
        </p:sp>
      </p:grpSp>
      <p:grpSp>
        <p:nvGrpSpPr>
          <p:cNvPr id="343" name="Google Shape;343;g3c87111b807_0_7"/>
          <p:cNvGrpSpPr/>
          <p:nvPr/>
        </p:nvGrpSpPr>
        <p:grpSpPr>
          <a:xfrm>
            <a:off x="5486400" y="4663440"/>
            <a:ext cx="3200400" cy="640125"/>
            <a:chOff x="0" y="0"/>
            <a:chExt cx="4267200" cy="853500"/>
          </a:xfrm>
        </p:grpSpPr>
        <p:sp>
          <p:nvSpPr>
            <p:cNvPr id="344" name="Google Shape;344;g3c87111b807_0_7"/>
            <p:cNvSpPr/>
            <p:nvPr/>
          </p:nvSpPr>
          <p:spPr>
            <a:xfrm>
              <a:off x="0" y="0"/>
              <a:ext cx="4267200" cy="853440"/>
            </a:xfrm>
            <a:custGeom>
              <a:rect b="b" l="l" r="r" t="t"/>
              <a:pathLst>
                <a:path extrusionOk="0"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7427" l="0" r="0" t="-47417"/>
              </a:stretch>
            </a:blipFill>
            <a:ln>
              <a:noFill/>
            </a:ln>
          </p:spPr>
        </p:sp>
        <p:sp>
          <p:nvSpPr>
            <p:cNvPr id="345" name="Google Shape;345;g3c87111b807_0_7"/>
            <p:cNvSpPr txBox="1"/>
            <p:nvPr/>
          </p:nvSpPr>
          <p:spPr>
            <a:xfrm>
              <a:off x="0" y="0"/>
              <a:ext cx="4267200" cy="8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Acompañar el viaje</a:t>
              </a:r>
              <a:endParaRPr/>
            </a:p>
          </p:txBody>
        </p:sp>
      </p:grpSp>
      <p:grpSp>
        <p:nvGrpSpPr>
          <p:cNvPr id="346" name="Google Shape;346;g3c87111b807_0_7"/>
          <p:cNvGrpSpPr/>
          <p:nvPr/>
        </p:nvGrpSpPr>
        <p:grpSpPr>
          <a:xfrm>
            <a:off x="5486400" y="5289233"/>
            <a:ext cx="3200400" cy="1203075"/>
            <a:chOff x="0" y="-19050"/>
            <a:chExt cx="4267200" cy="1604100"/>
          </a:xfrm>
        </p:grpSpPr>
        <p:sp>
          <p:nvSpPr>
            <p:cNvPr id="347" name="Google Shape;347;g3c87111b807_0_7"/>
            <p:cNvSpPr/>
            <p:nvPr/>
          </p:nvSpPr>
          <p:spPr>
            <a:xfrm>
              <a:off x="0" y="0"/>
              <a:ext cx="4267200" cy="1584960"/>
            </a:xfrm>
            <a:custGeom>
              <a:rect b="b" l="l" r="r" t="t"/>
              <a:pathLst>
                <a:path extrusionOk="0" h="15849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59" l="0" r="0" t="-2459"/>
              </a:stretch>
            </a:blipFill>
            <a:ln>
              <a:noFill/>
            </a:ln>
          </p:spPr>
        </p:sp>
        <p:sp>
          <p:nvSpPr>
            <p:cNvPr id="348" name="Google Shape;348;g3c87111b807_0_7"/>
            <p:cNvSpPr txBox="1"/>
            <p:nvPr/>
          </p:nvSpPr>
          <p:spPr>
            <a:xfrm>
              <a:off x="0" y="-19050"/>
              <a:ext cx="4267200" cy="16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94A3B8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Comprensión del recorrido formativo del estudiante</a:t>
              </a:r>
              <a:endParaRPr/>
            </a:p>
          </p:txBody>
        </p:sp>
      </p:grpSp>
      <p:sp>
        <p:nvSpPr>
          <p:cNvPr id="349" name="Google Shape;349;g3c87111b807_0_7"/>
          <p:cNvSpPr/>
          <p:nvPr/>
        </p:nvSpPr>
        <p:spPr>
          <a:xfrm>
            <a:off x="9326880" y="3474720"/>
            <a:ext cx="3749040" cy="3291840"/>
          </a:xfrm>
          <a:custGeom>
            <a:rect b="b" l="l" r="r" t="t"/>
            <a:pathLst>
              <a:path extrusionOk="0" h="4389120" w="4998720">
                <a:moveTo>
                  <a:pt x="0" y="0"/>
                </a:moveTo>
                <a:lnTo>
                  <a:pt x="4998720" y="0"/>
                </a:lnTo>
                <a:lnTo>
                  <a:pt x="4998720" y="4389120"/>
                </a:lnTo>
                <a:lnTo>
                  <a:pt x="0" y="43891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0" name="Google Shape;350;g3c87111b807_0_7"/>
          <p:cNvSpPr/>
          <p:nvPr/>
        </p:nvSpPr>
        <p:spPr>
          <a:xfrm>
            <a:off x="9601200" y="3749040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487680"/>
                </a:moveTo>
                <a:cubicBezTo>
                  <a:pt x="0" y="218313"/>
                  <a:pt x="218313" y="0"/>
                  <a:pt x="487680" y="0"/>
                </a:cubicBezTo>
                <a:cubicBezTo>
                  <a:pt x="757047" y="0"/>
                  <a:pt x="975360" y="218313"/>
                  <a:pt x="975360" y="487680"/>
                </a:cubicBezTo>
                <a:cubicBezTo>
                  <a:pt x="975360" y="757047"/>
                  <a:pt x="757047" y="975360"/>
                  <a:pt x="487680" y="975360"/>
                </a:cubicBezTo>
                <a:cubicBezTo>
                  <a:pt x="218313" y="975360"/>
                  <a:pt x="0" y="757047"/>
                  <a:pt x="0" y="487680"/>
                </a:cubicBezTo>
                <a:close/>
              </a:path>
            </a:pathLst>
          </a:custGeom>
          <a:solidFill>
            <a:srgbClr val="C4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" name="Google Shape;351;g3c87111b807_0_7"/>
          <p:cNvGrpSpPr/>
          <p:nvPr/>
        </p:nvGrpSpPr>
        <p:grpSpPr>
          <a:xfrm>
            <a:off x="9601200" y="3741896"/>
            <a:ext cx="731520" cy="738675"/>
            <a:chOff x="0" y="-9525"/>
            <a:chExt cx="975360" cy="984900"/>
          </a:xfrm>
        </p:grpSpPr>
        <p:sp>
          <p:nvSpPr>
            <p:cNvPr id="352" name="Google Shape;352;g3c87111b807_0_7"/>
            <p:cNvSpPr/>
            <p:nvPr/>
          </p:nvSpPr>
          <p:spPr>
            <a:xfrm>
              <a:off x="0" y="0"/>
              <a:ext cx="975360" cy="975360"/>
            </a:xfrm>
            <a:custGeom>
              <a:rect b="b" l="l" r="r" t="t"/>
              <a:pathLst>
                <a:path extrusionOk="0"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295" r="-78285" t="0"/>
              </a:stretch>
            </a:blipFill>
            <a:ln>
              <a:noFill/>
            </a:ln>
          </p:spPr>
        </p:sp>
        <p:sp>
          <p:nvSpPr>
            <p:cNvPr id="353" name="Google Shape;353;g3c87111b807_0_7"/>
            <p:cNvSpPr txBox="1"/>
            <p:nvPr/>
          </p:nvSpPr>
          <p:spPr>
            <a:xfrm>
              <a:off x="0" y="-9525"/>
              <a:ext cx="975300" cy="9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</a:t>
              </a:r>
              <a:endParaRPr/>
            </a:p>
          </p:txBody>
        </p:sp>
      </p:grpSp>
      <p:grpSp>
        <p:nvGrpSpPr>
          <p:cNvPr id="354" name="Google Shape;354;g3c87111b807_0_7"/>
          <p:cNvGrpSpPr/>
          <p:nvPr/>
        </p:nvGrpSpPr>
        <p:grpSpPr>
          <a:xfrm>
            <a:off x="9601200" y="4663440"/>
            <a:ext cx="3200400" cy="640125"/>
            <a:chOff x="0" y="0"/>
            <a:chExt cx="4267200" cy="853500"/>
          </a:xfrm>
        </p:grpSpPr>
        <p:sp>
          <p:nvSpPr>
            <p:cNvPr id="355" name="Google Shape;355;g3c87111b807_0_7"/>
            <p:cNvSpPr/>
            <p:nvPr/>
          </p:nvSpPr>
          <p:spPr>
            <a:xfrm>
              <a:off x="0" y="0"/>
              <a:ext cx="4267200" cy="853440"/>
            </a:xfrm>
            <a:custGeom>
              <a:rect b="b" l="l" r="r" t="t"/>
              <a:pathLst>
                <a:path extrusionOk="0"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7427" l="0" r="0" t="-47417"/>
              </a:stretch>
            </a:blipFill>
            <a:ln>
              <a:noFill/>
            </a:ln>
          </p:spPr>
        </p:sp>
        <p:sp>
          <p:nvSpPr>
            <p:cNvPr id="356" name="Google Shape;356;g3c87111b807_0_7"/>
            <p:cNvSpPr txBox="1"/>
            <p:nvPr/>
          </p:nvSpPr>
          <p:spPr>
            <a:xfrm>
              <a:off x="0" y="0"/>
              <a:ext cx="4267200" cy="8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Acompañar con criterio</a:t>
              </a:r>
              <a:endParaRPr/>
            </a:p>
          </p:txBody>
        </p:sp>
      </p:grpSp>
      <p:grpSp>
        <p:nvGrpSpPr>
          <p:cNvPr id="357" name="Google Shape;357;g3c87111b807_0_7"/>
          <p:cNvGrpSpPr/>
          <p:nvPr/>
        </p:nvGrpSpPr>
        <p:grpSpPr>
          <a:xfrm>
            <a:off x="9601200" y="5289233"/>
            <a:ext cx="3200400" cy="1203075"/>
            <a:chOff x="0" y="-19050"/>
            <a:chExt cx="4267200" cy="1604100"/>
          </a:xfrm>
        </p:grpSpPr>
        <p:sp>
          <p:nvSpPr>
            <p:cNvPr id="358" name="Google Shape;358;g3c87111b807_0_7"/>
            <p:cNvSpPr/>
            <p:nvPr/>
          </p:nvSpPr>
          <p:spPr>
            <a:xfrm>
              <a:off x="0" y="0"/>
              <a:ext cx="4267200" cy="1584960"/>
            </a:xfrm>
            <a:custGeom>
              <a:rect b="b" l="l" r="r" t="t"/>
              <a:pathLst>
                <a:path extrusionOk="0" h="15849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59" l="0" r="0" t="-2459"/>
              </a:stretch>
            </a:blipFill>
            <a:ln>
              <a:noFill/>
            </a:ln>
          </p:spPr>
        </p:sp>
        <p:sp>
          <p:nvSpPr>
            <p:cNvPr id="359" name="Google Shape;359;g3c87111b807_0_7"/>
            <p:cNvSpPr txBox="1"/>
            <p:nvPr/>
          </p:nvSpPr>
          <p:spPr>
            <a:xfrm>
              <a:off x="0" y="-19050"/>
              <a:ext cx="4267200" cy="16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94A3B8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Decisiones éticas, autoría, tecnología e inclusión</a:t>
              </a:r>
              <a:endParaRPr/>
            </a:p>
          </p:txBody>
        </p:sp>
      </p:grpSp>
      <p:sp>
        <p:nvSpPr>
          <p:cNvPr id="360" name="Google Shape;360;g3c87111b807_0_7"/>
          <p:cNvSpPr/>
          <p:nvPr/>
        </p:nvSpPr>
        <p:spPr>
          <a:xfrm>
            <a:off x="13441680" y="3474720"/>
            <a:ext cx="3749040" cy="3291840"/>
          </a:xfrm>
          <a:custGeom>
            <a:rect b="b" l="l" r="r" t="t"/>
            <a:pathLst>
              <a:path extrusionOk="0" h="4389120" w="4998720">
                <a:moveTo>
                  <a:pt x="0" y="0"/>
                </a:moveTo>
                <a:lnTo>
                  <a:pt x="4998720" y="0"/>
                </a:lnTo>
                <a:lnTo>
                  <a:pt x="4998720" y="4389120"/>
                </a:lnTo>
                <a:lnTo>
                  <a:pt x="0" y="43891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1" name="Google Shape;361;g3c87111b807_0_7"/>
          <p:cNvSpPr/>
          <p:nvPr/>
        </p:nvSpPr>
        <p:spPr>
          <a:xfrm>
            <a:off x="13716000" y="3749040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487680"/>
                </a:moveTo>
                <a:cubicBezTo>
                  <a:pt x="0" y="218313"/>
                  <a:pt x="218313" y="0"/>
                  <a:pt x="487680" y="0"/>
                </a:cubicBezTo>
                <a:cubicBezTo>
                  <a:pt x="757047" y="0"/>
                  <a:pt x="975360" y="218313"/>
                  <a:pt x="975360" y="487680"/>
                </a:cubicBezTo>
                <a:cubicBezTo>
                  <a:pt x="975360" y="757047"/>
                  <a:pt x="757047" y="975360"/>
                  <a:pt x="487680" y="975360"/>
                </a:cubicBezTo>
                <a:cubicBezTo>
                  <a:pt x="218313" y="975360"/>
                  <a:pt x="0" y="757047"/>
                  <a:pt x="0" y="487680"/>
                </a:cubicBezTo>
                <a:close/>
              </a:path>
            </a:pathLst>
          </a:custGeom>
          <a:solidFill>
            <a:srgbClr val="C4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g3c87111b807_0_7"/>
          <p:cNvGrpSpPr/>
          <p:nvPr/>
        </p:nvGrpSpPr>
        <p:grpSpPr>
          <a:xfrm>
            <a:off x="13716000" y="3741896"/>
            <a:ext cx="731520" cy="738675"/>
            <a:chOff x="0" y="-9525"/>
            <a:chExt cx="975360" cy="984900"/>
          </a:xfrm>
        </p:grpSpPr>
        <p:sp>
          <p:nvSpPr>
            <p:cNvPr id="363" name="Google Shape;363;g3c87111b807_0_7"/>
            <p:cNvSpPr/>
            <p:nvPr/>
          </p:nvSpPr>
          <p:spPr>
            <a:xfrm>
              <a:off x="0" y="0"/>
              <a:ext cx="975360" cy="975360"/>
            </a:xfrm>
            <a:custGeom>
              <a:rect b="b" l="l" r="r" t="t"/>
              <a:pathLst>
                <a:path extrusionOk="0"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295" r="-78285" t="0"/>
              </a:stretch>
            </a:blipFill>
            <a:ln>
              <a:noFill/>
            </a:ln>
          </p:spPr>
        </p:sp>
        <p:sp>
          <p:nvSpPr>
            <p:cNvPr id="364" name="Google Shape;364;g3c87111b807_0_7"/>
            <p:cNvSpPr txBox="1"/>
            <p:nvPr/>
          </p:nvSpPr>
          <p:spPr>
            <a:xfrm>
              <a:off x="0" y="-9525"/>
              <a:ext cx="975300" cy="9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4</a:t>
              </a:r>
              <a:endParaRPr/>
            </a:p>
          </p:txBody>
        </p:sp>
      </p:grpSp>
      <p:grpSp>
        <p:nvGrpSpPr>
          <p:cNvPr id="365" name="Google Shape;365;g3c87111b807_0_7"/>
          <p:cNvGrpSpPr/>
          <p:nvPr/>
        </p:nvGrpSpPr>
        <p:grpSpPr>
          <a:xfrm>
            <a:off x="13716000" y="4663440"/>
            <a:ext cx="3200400" cy="640125"/>
            <a:chOff x="0" y="0"/>
            <a:chExt cx="4267200" cy="853500"/>
          </a:xfrm>
        </p:grpSpPr>
        <p:sp>
          <p:nvSpPr>
            <p:cNvPr id="366" name="Google Shape;366;g3c87111b807_0_7"/>
            <p:cNvSpPr/>
            <p:nvPr/>
          </p:nvSpPr>
          <p:spPr>
            <a:xfrm>
              <a:off x="0" y="0"/>
              <a:ext cx="4267200" cy="853440"/>
            </a:xfrm>
            <a:custGeom>
              <a:rect b="b" l="l" r="r" t="t"/>
              <a:pathLst>
                <a:path extrusionOk="0"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7427" l="0" r="0" t="-47417"/>
              </a:stretch>
            </a:blipFill>
            <a:ln>
              <a:noFill/>
            </a:ln>
          </p:spPr>
        </p:sp>
        <p:sp>
          <p:nvSpPr>
            <p:cNvPr id="367" name="Google Shape;367;g3c87111b807_0_7"/>
            <p:cNvSpPr txBox="1"/>
            <p:nvPr/>
          </p:nvSpPr>
          <p:spPr>
            <a:xfrm>
              <a:off x="0" y="0"/>
              <a:ext cx="4267200" cy="8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1E293B"/>
                  </a:solidFill>
                  <a:latin typeface="Oswald"/>
                  <a:ea typeface="Oswald"/>
                  <a:cs typeface="Oswald"/>
                  <a:sym typeface="Oswald"/>
                </a:rPr>
                <a:t>Sin sobrecarga</a:t>
              </a:r>
              <a:endParaRPr/>
            </a:p>
          </p:txBody>
        </p:sp>
      </p:grpSp>
      <p:grpSp>
        <p:nvGrpSpPr>
          <p:cNvPr id="368" name="Google Shape;368;g3c87111b807_0_7"/>
          <p:cNvGrpSpPr/>
          <p:nvPr/>
        </p:nvGrpSpPr>
        <p:grpSpPr>
          <a:xfrm>
            <a:off x="13716000" y="5289233"/>
            <a:ext cx="3200400" cy="1203075"/>
            <a:chOff x="0" y="-19050"/>
            <a:chExt cx="4267200" cy="1604100"/>
          </a:xfrm>
        </p:grpSpPr>
        <p:sp>
          <p:nvSpPr>
            <p:cNvPr id="369" name="Google Shape;369;g3c87111b807_0_7"/>
            <p:cNvSpPr/>
            <p:nvPr/>
          </p:nvSpPr>
          <p:spPr>
            <a:xfrm>
              <a:off x="0" y="0"/>
              <a:ext cx="4267200" cy="1584960"/>
            </a:xfrm>
            <a:custGeom>
              <a:rect b="b" l="l" r="r" t="t"/>
              <a:pathLst>
                <a:path extrusionOk="0" h="15849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59" l="0" r="0" t="-2459"/>
              </a:stretch>
            </a:blipFill>
            <a:ln>
              <a:noFill/>
            </a:ln>
          </p:spPr>
        </p:sp>
        <p:sp>
          <p:nvSpPr>
            <p:cNvPr id="370" name="Google Shape;370;g3c87111b807_0_7"/>
            <p:cNvSpPr txBox="1"/>
            <p:nvPr/>
          </p:nvSpPr>
          <p:spPr>
            <a:xfrm>
              <a:off x="0" y="-19050"/>
              <a:ext cx="4267200" cy="16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94A3B8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Retroalimentación y evaluación sin carga operativa</a:t>
              </a:r>
              <a:endParaRPr/>
            </a:p>
          </p:txBody>
        </p:sp>
      </p:grpSp>
      <p:grpSp>
        <p:nvGrpSpPr>
          <p:cNvPr id="371" name="Google Shape;371;g3c87111b807_0_7"/>
          <p:cNvGrpSpPr/>
          <p:nvPr/>
        </p:nvGrpSpPr>
        <p:grpSpPr>
          <a:xfrm>
            <a:off x="1097280" y="7209473"/>
            <a:ext cx="14630400" cy="654368"/>
            <a:chOff x="0" y="-19050"/>
            <a:chExt cx="19507200" cy="872490"/>
          </a:xfrm>
        </p:grpSpPr>
        <p:sp>
          <p:nvSpPr>
            <p:cNvPr id="372" name="Google Shape;372;g3c87111b807_0_7"/>
            <p:cNvSpPr/>
            <p:nvPr/>
          </p:nvSpPr>
          <p:spPr>
            <a:xfrm>
              <a:off x="0" y="0"/>
              <a:ext cx="19507200" cy="853440"/>
            </a:xfrm>
            <a:custGeom>
              <a:rect b="b" l="l" r="r" t="t"/>
              <a:pathLst>
                <a:path extrusionOk="0" h="8534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271" l="0" r="0" t="-395280"/>
              </a:stretch>
            </a:blipFill>
            <a:ln>
              <a:noFill/>
            </a:ln>
          </p:spPr>
        </p:sp>
        <p:sp>
          <p:nvSpPr>
            <p:cNvPr id="373" name="Google Shape;373;g3c87111b807_0_7"/>
            <p:cNvSpPr txBox="1"/>
            <p:nvPr/>
          </p:nvSpPr>
          <p:spPr>
            <a:xfrm>
              <a:off x="0" y="-19050"/>
              <a:ext cx="19507200" cy="8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E293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Competencias docentes que fortalece:</a:t>
              </a:r>
              <a:endParaRPr/>
            </a:p>
          </p:txBody>
        </p:sp>
      </p:grpSp>
      <p:sp>
        <p:nvSpPr>
          <p:cNvPr descr="preencoded.png" id="374" name="Google Shape;374;g3c87111b807_0_7"/>
          <p:cNvSpPr/>
          <p:nvPr/>
        </p:nvSpPr>
        <p:spPr>
          <a:xfrm>
            <a:off x="1097280" y="8046720"/>
            <a:ext cx="365760" cy="365760"/>
          </a:xfrm>
          <a:custGeom>
            <a:rect b="b" l="l" r="r" t="t"/>
            <a:pathLst>
              <a:path extrusionOk="0" h="487680" w="487680">
                <a:moveTo>
                  <a:pt x="0" y="0"/>
                </a:moveTo>
                <a:lnTo>
                  <a:pt x="487680" y="0"/>
                </a:lnTo>
                <a:lnTo>
                  <a:pt x="487680" y="487680"/>
                </a:lnTo>
                <a:lnTo>
                  <a:pt x="0" y="48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5" name="Google Shape;375;g3c87111b807_0_7"/>
          <p:cNvGrpSpPr/>
          <p:nvPr/>
        </p:nvGrpSpPr>
        <p:grpSpPr>
          <a:xfrm>
            <a:off x="1645920" y="7977569"/>
            <a:ext cx="7315200" cy="471600"/>
            <a:chOff x="0" y="-19050"/>
            <a:chExt cx="9753600" cy="628800"/>
          </a:xfrm>
        </p:grpSpPr>
        <p:sp>
          <p:nvSpPr>
            <p:cNvPr id="376" name="Google Shape;376;g3c87111b807_0_7"/>
            <p:cNvSpPr/>
            <p:nvPr/>
          </p:nvSpPr>
          <p:spPr>
            <a:xfrm>
              <a:off x="0" y="0"/>
              <a:ext cx="9753600" cy="609600"/>
            </a:xfrm>
            <a:custGeom>
              <a:rect b="b" l="l" r="r" t="t"/>
              <a:pathLst>
                <a:path extrusionOk="0"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59" l="0" r="0" t="-261759"/>
              </a:stretch>
            </a:blipFill>
            <a:ln>
              <a:noFill/>
            </a:ln>
          </p:spPr>
        </p:sp>
        <p:sp>
          <p:nvSpPr>
            <p:cNvPr id="377" name="Google Shape;377;g3c87111b807_0_7"/>
            <p:cNvSpPr txBox="1"/>
            <p:nvPr/>
          </p:nvSpPr>
          <p:spPr>
            <a:xfrm>
              <a:off x="0" y="-19050"/>
              <a:ext cx="97536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64748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Acompañamiento pedagógico ABR</a:t>
              </a:r>
              <a:endParaRPr/>
            </a:p>
          </p:txBody>
        </p:sp>
      </p:grpSp>
      <p:sp>
        <p:nvSpPr>
          <p:cNvPr descr="preencoded.png" id="378" name="Google Shape;378;g3c87111b807_0_7"/>
          <p:cNvSpPr/>
          <p:nvPr/>
        </p:nvSpPr>
        <p:spPr>
          <a:xfrm>
            <a:off x="1097280" y="8686800"/>
            <a:ext cx="365760" cy="365760"/>
          </a:xfrm>
          <a:custGeom>
            <a:rect b="b" l="l" r="r" t="t"/>
            <a:pathLst>
              <a:path extrusionOk="0" h="487680" w="487680">
                <a:moveTo>
                  <a:pt x="0" y="0"/>
                </a:moveTo>
                <a:lnTo>
                  <a:pt x="487680" y="0"/>
                </a:lnTo>
                <a:lnTo>
                  <a:pt x="487680" y="487680"/>
                </a:lnTo>
                <a:lnTo>
                  <a:pt x="0" y="48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9" name="Google Shape;379;g3c87111b807_0_7"/>
          <p:cNvGrpSpPr/>
          <p:nvPr/>
        </p:nvGrpSpPr>
        <p:grpSpPr>
          <a:xfrm>
            <a:off x="1645920" y="8617649"/>
            <a:ext cx="7315200" cy="471600"/>
            <a:chOff x="0" y="-19050"/>
            <a:chExt cx="9753600" cy="628800"/>
          </a:xfrm>
        </p:grpSpPr>
        <p:sp>
          <p:nvSpPr>
            <p:cNvPr id="380" name="Google Shape;380;g3c87111b807_0_7"/>
            <p:cNvSpPr/>
            <p:nvPr/>
          </p:nvSpPr>
          <p:spPr>
            <a:xfrm>
              <a:off x="0" y="0"/>
              <a:ext cx="9753600" cy="609600"/>
            </a:xfrm>
            <a:custGeom>
              <a:rect b="b" l="l" r="r" t="t"/>
              <a:pathLst>
                <a:path extrusionOk="0"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59" l="0" r="0" t="-261759"/>
              </a:stretch>
            </a:blipFill>
            <a:ln>
              <a:noFill/>
            </a:ln>
          </p:spPr>
        </p:sp>
        <p:sp>
          <p:nvSpPr>
            <p:cNvPr id="381" name="Google Shape;381;g3c87111b807_0_7"/>
            <p:cNvSpPr txBox="1"/>
            <p:nvPr/>
          </p:nvSpPr>
          <p:spPr>
            <a:xfrm>
              <a:off x="0" y="-19050"/>
              <a:ext cx="97536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64748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Diseño de experiencias basadas en retos</a:t>
              </a:r>
              <a:endParaRPr/>
            </a:p>
          </p:txBody>
        </p:sp>
      </p:grpSp>
      <p:sp>
        <p:nvSpPr>
          <p:cNvPr descr="preencoded.png" id="382" name="Google Shape;382;g3c87111b807_0_7"/>
          <p:cNvSpPr/>
          <p:nvPr/>
        </p:nvSpPr>
        <p:spPr>
          <a:xfrm>
            <a:off x="1097280" y="9326880"/>
            <a:ext cx="365760" cy="365760"/>
          </a:xfrm>
          <a:custGeom>
            <a:rect b="b" l="l" r="r" t="t"/>
            <a:pathLst>
              <a:path extrusionOk="0" h="487680" w="487680">
                <a:moveTo>
                  <a:pt x="0" y="0"/>
                </a:moveTo>
                <a:lnTo>
                  <a:pt x="487680" y="0"/>
                </a:lnTo>
                <a:lnTo>
                  <a:pt x="487680" y="487680"/>
                </a:lnTo>
                <a:lnTo>
                  <a:pt x="0" y="48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3" name="Google Shape;383;g3c87111b807_0_7"/>
          <p:cNvGrpSpPr/>
          <p:nvPr/>
        </p:nvGrpSpPr>
        <p:grpSpPr>
          <a:xfrm>
            <a:off x="1645920" y="9257729"/>
            <a:ext cx="7315200" cy="471600"/>
            <a:chOff x="0" y="-19050"/>
            <a:chExt cx="9753600" cy="628800"/>
          </a:xfrm>
        </p:grpSpPr>
        <p:sp>
          <p:nvSpPr>
            <p:cNvPr id="384" name="Google Shape;384;g3c87111b807_0_7"/>
            <p:cNvSpPr/>
            <p:nvPr/>
          </p:nvSpPr>
          <p:spPr>
            <a:xfrm>
              <a:off x="0" y="0"/>
              <a:ext cx="9753600" cy="609600"/>
            </a:xfrm>
            <a:custGeom>
              <a:rect b="b" l="l" r="r" t="t"/>
              <a:pathLst>
                <a:path extrusionOk="0"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59" l="0" r="0" t="-261759"/>
              </a:stretch>
            </a:blipFill>
            <a:ln>
              <a:noFill/>
            </a:ln>
          </p:spPr>
        </p:sp>
        <p:sp>
          <p:nvSpPr>
            <p:cNvPr id="385" name="Google Shape;385;g3c87111b807_0_7"/>
            <p:cNvSpPr txBox="1"/>
            <p:nvPr/>
          </p:nvSpPr>
          <p:spPr>
            <a:xfrm>
              <a:off x="0" y="-19050"/>
              <a:ext cx="97536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64748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Retroalimentación formativa</a:t>
              </a:r>
              <a:endParaRPr/>
            </a:p>
          </p:txBody>
        </p:sp>
      </p:grpSp>
      <p:sp>
        <p:nvSpPr>
          <p:cNvPr descr="preencoded.png" id="386" name="Google Shape;386;g3c87111b807_0_7"/>
          <p:cNvSpPr/>
          <p:nvPr/>
        </p:nvSpPr>
        <p:spPr>
          <a:xfrm>
            <a:off x="9326880" y="8046720"/>
            <a:ext cx="365760" cy="365760"/>
          </a:xfrm>
          <a:custGeom>
            <a:rect b="b" l="l" r="r" t="t"/>
            <a:pathLst>
              <a:path extrusionOk="0" h="487680" w="487680">
                <a:moveTo>
                  <a:pt x="0" y="0"/>
                </a:moveTo>
                <a:lnTo>
                  <a:pt x="487680" y="0"/>
                </a:lnTo>
                <a:lnTo>
                  <a:pt x="487680" y="487680"/>
                </a:lnTo>
                <a:lnTo>
                  <a:pt x="0" y="48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7" name="Google Shape;387;g3c87111b807_0_7"/>
          <p:cNvGrpSpPr/>
          <p:nvPr/>
        </p:nvGrpSpPr>
        <p:grpSpPr>
          <a:xfrm>
            <a:off x="9875520" y="7977569"/>
            <a:ext cx="7315200" cy="471600"/>
            <a:chOff x="0" y="-19050"/>
            <a:chExt cx="9753600" cy="628800"/>
          </a:xfrm>
        </p:grpSpPr>
        <p:sp>
          <p:nvSpPr>
            <p:cNvPr id="388" name="Google Shape;388;g3c87111b807_0_7"/>
            <p:cNvSpPr/>
            <p:nvPr/>
          </p:nvSpPr>
          <p:spPr>
            <a:xfrm>
              <a:off x="0" y="0"/>
              <a:ext cx="9753600" cy="609600"/>
            </a:xfrm>
            <a:custGeom>
              <a:rect b="b" l="l" r="r" t="t"/>
              <a:pathLst>
                <a:path extrusionOk="0"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59" l="0" r="0" t="-261759"/>
              </a:stretch>
            </a:blipFill>
            <a:ln>
              <a:noFill/>
            </a:ln>
          </p:spPr>
        </p:sp>
        <p:sp>
          <p:nvSpPr>
            <p:cNvPr id="389" name="Google Shape;389;g3c87111b807_0_7"/>
            <p:cNvSpPr txBox="1"/>
            <p:nvPr/>
          </p:nvSpPr>
          <p:spPr>
            <a:xfrm>
              <a:off x="0" y="-19050"/>
              <a:ext cx="97536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64748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Uso ético de IA y tecnología</a:t>
              </a:r>
              <a:endParaRPr/>
            </a:p>
          </p:txBody>
        </p:sp>
      </p:grpSp>
      <p:sp>
        <p:nvSpPr>
          <p:cNvPr descr="preencoded.png" id="390" name="Google Shape;390;g3c87111b807_0_7"/>
          <p:cNvSpPr/>
          <p:nvPr/>
        </p:nvSpPr>
        <p:spPr>
          <a:xfrm>
            <a:off x="9326880" y="8686800"/>
            <a:ext cx="365760" cy="365760"/>
          </a:xfrm>
          <a:custGeom>
            <a:rect b="b" l="l" r="r" t="t"/>
            <a:pathLst>
              <a:path extrusionOk="0" h="487680" w="487680">
                <a:moveTo>
                  <a:pt x="0" y="0"/>
                </a:moveTo>
                <a:lnTo>
                  <a:pt x="487680" y="0"/>
                </a:lnTo>
                <a:lnTo>
                  <a:pt x="487680" y="487680"/>
                </a:lnTo>
                <a:lnTo>
                  <a:pt x="0" y="48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1" name="Google Shape;391;g3c87111b807_0_7"/>
          <p:cNvGrpSpPr/>
          <p:nvPr/>
        </p:nvGrpSpPr>
        <p:grpSpPr>
          <a:xfrm>
            <a:off x="9875520" y="8617649"/>
            <a:ext cx="7315200" cy="471600"/>
            <a:chOff x="0" y="-19050"/>
            <a:chExt cx="9753600" cy="628800"/>
          </a:xfrm>
        </p:grpSpPr>
        <p:sp>
          <p:nvSpPr>
            <p:cNvPr id="392" name="Google Shape;392;g3c87111b807_0_7"/>
            <p:cNvSpPr/>
            <p:nvPr/>
          </p:nvSpPr>
          <p:spPr>
            <a:xfrm>
              <a:off x="0" y="0"/>
              <a:ext cx="9753600" cy="609600"/>
            </a:xfrm>
            <a:custGeom>
              <a:rect b="b" l="l" r="r" t="t"/>
              <a:pathLst>
                <a:path extrusionOk="0"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59" l="0" r="0" t="-261759"/>
              </a:stretch>
            </a:blipFill>
            <a:ln>
              <a:noFill/>
            </a:ln>
          </p:spPr>
        </p:sp>
        <p:sp>
          <p:nvSpPr>
            <p:cNvPr id="393" name="Google Shape;393;g3c87111b807_0_7"/>
            <p:cNvSpPr txBox="1"/>
            <p:nvPr/>
          </p:nvSpPr>
          <p:spPr>
            <a:xfrm>
              <a:off x="0" y="-19050"/>
              <a:ext cx="97536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64748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Innovación educativa con pertinencia</a:t>
              </a:r>
              <a:endParaRPr/>
            </a:p>
          </p:txBody>
        </p:sp>
      </p:grpSp>
      <p:sp>
        <p:nvSpPr>
          <p:cNvPr descr="preencoded.png" id="394" name="Google Shape;394;g3c87111b807_0_7"/>
          <p:cNvSpPr/>
          <p:nvPr/>
        </p:nvSpPr>
        <p:spPr>
          <a:xfrm>
            <a:off x="9326880" y="9326880"/>
            <a:ext cx="365760" cy="365760"/>
          </a:xfrm>
          <a:custGeom>
            <a:rect b="b" l="l" r="r" t="t"/>
            <a:pathLst>
              <a:path extrusionOk="0" h="487680" w="487680">
                <a:moveTo>
                  <a:pt x="0" y="0"/>
                </a:moveTo>
                <a:lnTo>
                  <a:pt x="487680" y="0"/>
                </a:lnTo>
                <a:lnTo>
                  <a:pt x="487680" y="487680"/>
                </a:lnTo>
                <a:lnTo>
                  <a:pt x="0" y="48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5" name="Google Shape;395;g3c87111b807_0_7"/>
          <p:cNvGrpSpPr/>
          <p:nvPr/>
        </p:nvGrpSpPr>
        <p:grpSpPr>
          <a:xfrm>
            <a:off x="9875520" y="9257729"/>
            <a:ext cx="7315200" cy="471600"/>
            <a:chOff x="0" y="-19050"/>
            <a:chExt cx="9753600" cy="628800"/>
          </a:xfrm>
        </p:grpSpPr>
        <p:sp>
          <p:nvSpPr>
            <p:cNvPr id="396" name="Google Shape;396;g3c87111b807_0_7"/>
            <p:cNvSpPr/>
            <p:nvPr/>
          </p:nvSpPr>
          <p:spPr>
            <a:xfrm>
              <a:off x="0" y="0"/>
              <a:ext cx="9753600" cy="609600"/>
            </a:xfrm>
            <a:custGeom>
              <a:rect b="b" l="l" r="r" t="t"/>
              <a:pathLst>
                <a:path extrusionOk="0"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59" l="0" r="0" t="-261759"/>
              </a:stretch>
            </a:blipFill>
            <a:ln>
              <a:noFill/>
            </a:ln>
          </p:spPr>
        </p:sp>
        <p:sp>
          <p:nvSpPr>
            <p:cNvPr id="397" name="Google Shape;397;g3c87111b807_0_7"/>
            <p:cNvSpPr txBox="1"/>
            <p:nvPr/>
          </p:nvSpPr>
          <p:spPr>
            <a:xfrm>
              <a:off x="0" y="-19050"/>
              <a:ext cx="97536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64748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Bienestar e inclusión</a:t>
              </a:r>
              <a:endParaRPr/>
            </a:p>
          </p:txBody>
        </p:sp>
      </p:grpSp>
      <p:sp>
        <p:nvSpPr>
          <p:cNvPr id="398" name="Google Shape;398;g3c87111b807_0_7"/>
          <p:cNvSpPr/>
          <p:nvPr/>
        </p:nvSpPr>
        <p:spPr>
          <a:xfrm>
            <a:off x="13758889" y="388804"/>
            <a:ext cx="4938686" cy="639896"/>
          </a:xfrm>
          <a:custGeom>
            <a:rect b="b" l="l" r="r" t="t"/>
            <a:pathLst>
              <a:path extrusionOk="0" h="639896" w="4938686">
                <a:moveTo>
                  <a:pt x="0" y="0"/>
                </a:moveTo>
                <a:lnTo>
                  <a:pt x="4938686" y="0"/>
                </a:lnTo>
                <a:lnTo>
                  <a:pt x="4938686" y="639896"/>
                </a:lnTo>
                <a:lnTo>
                  <a:pt x="0" y="639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"/>
          <p:cNvSpPr/>
          <p:nvPr/>
        </p:nvSpPr>
        <p:spPr>
          <a:xfrm>
            <a:off x="0" y="0"/>
            <a:ext cx="18288000" cy="1645920"/>
          </a:xfrm>
          <a:custGeom>
            <a:rect b="b" l="l" r="r" t="t"/>
            <a:pathLst>
              <a:path extrusionOk="0" h="2194560" w="24384000">
                <a:moveTo>
                  <a:pt x="0" y="0"/>
                </a:moveTo>
                <a:lnTo>
                  <a:pt x="24384000" y="0"/>
                </a:lnTo>
                <a:lnTo>
                  <a:pt x="24384000" y="2194560"/>
                </a:lnTo>
                <a:lnTo>
                  <a:pt x="0" y="2194560"/>
                </a:lnTo>
                <a:close/>
              </a:path>
            </a:pathLst>
          </a:custGeom>
          <a:solidFill>
            <a:srgbClr val="0A1628"/>
          </a:solidFill>
          <a:ln>
            <a:noFill/>
          </a:ln>
        </p:spPr>
      </p:sp>
      <p:grpSp>
        <p:nvGrpSpPr>
          <p:cNvPr id="408" name="Google Shape;408;p6"/>
          <p:cNvGrpSpPr/>
          <p:nvPr/>
        </p:nvGrpSpPr>
        <p:grpSpPr>
          <a:xfrm>
            <a:off x="1463040" y="267176"/>
            <a:ext cx="14630400" cy="1104424"/>
            <a:chOff x="0" y="-9525"/>
            <a:chExt cx="19507200" cy="1472565"/>
          </a:xfrm>
        </p:grpSpPr>
        <p:sp>
          <p:nvSpPr>
            <p:cNvPr id="409" name="Google Shape;409;p6"/>
            <p:cNvSpPr/>
            <p:nvPr/>
          </p:nvSpPr>
          <p:spPr>
            <a:xfrm>
              <a:off x="0" y="0"/>
              <a:ext cx="19507200" cy="1463040"/>
            </a:xfrm>
            <a:custGeom>
              <a:rect b="b" l="l" r="r" t="t"/>
              <a:pathLst>
                <a:path extrusionOk="0" h="14630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794" l="0" r="0" t="-209794"/>
              </a:stretch>
            </a:blipFill>
            <a:ln>
              <a:noFill/>
            </a:ln>
          </p:spPr>
        </p:sp>
        <p:sp>
          <p:nvSpPr>
            <p:cNvPr id="410" name="Google Shape;410;p6"/>
            <p:cNvSpPr txBox="1"/>
            <p:nvPr/>
          </p:nvSpPr>
          <p:spPr>
            <a:xfrm>
              <a:off x="0" y="-9525"/>
              <a:ext cx="19507200" cy="1472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Estructura del programa</a:t>
              </a:r>
              <a:endParaRPr/>
            </a:p>
          </p:txBody>
        </p:sp>
      </p:grpSp>
      <p:grpSp>
        <p:nvGrpSpPr>
          <p:cNvPr id="411" name="Google Shape;411;p6"/>
          <p:cNvGrpSpPr/>
          <p:nvPr/>
        </p:nvGrpSpPr>
        <p:grpSpPr>
          <a:xfrm>
            <a:off x="640080" y="2952550"/>
            <a:ext cx="17007840" cy="4023360"/>
            <a:chOff x="0" y="0"/>
            <a:chExt cx="22677120" cy="5364480"/>
          </a:xfrm>
        </p:grpSpPr>
        <p:sp>
          <p:nvSpPr>
            <p:cNvPr id="412" name="Google Shape;412;p6"/>
            <p:cNvSpPr/>
            <p:nvPr/>
          </p:nvSpPr>
          <p:spPr>
            <a:xfrm>
              <a:off x="0" y="0"/>
              <a:ext cx="7071360" cy="5364480"/>
            </a:xfrm>
            <a:custGeom>
              <a:rect b="b" l="l" r="r" t="t"/>
              <a:pathLst>
                <a:path extrusionOk="0" h="53644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A3A8F"/>
            </a:solidFill>
            <a:ln>
              <a:noFill/>
            </a:ln>
          </p:spPr>
        </p:sp>
        <p:grpSp>
          <p:nvGrpSpPr>
            <p:cNvPr id="413" name="Google Shape;413;p6"/>
            <p:cNvGrpSpPr/>
            <p:nvPr/>
          </p:nvGrpSpPr>
          <p:grpSpPr>
            <a:xfrm>
              <a:off x="365760" y="243840"/>
              <a:ext cx="1219200" cy="1795983"/>
              <a:chOff x="0" y="0"/>
              <a:chExt cx="1219200" cy="1795983"/>
            </a:xfrm>
          </p:grpSpPr>
          <p:sp>
            <p:nvSpPr>
              <p:cNvPr id="414" name="Google Shape;414;p6"/>
              <p:cNvSpPr/>
              <p:nvPr/>
            </p:nvSpPr>
            <p:spPr>
              <a:xfrm>
                <a:off x="0" y="0"/>
                <a:ext cx="1219200" cy="1795983"/>
              </a:xfrm>
              <a:custGeom>
                <a:rect b="b" l="l" r="r" t="t"/>
                <a:pathLst>
                  <a:path extrusionOk="0" h="1795983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795983"/>
                    </a:lnTo>
                    <a:lnTo>
                      <a:pt x="0" y="1795983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32114" l="-78292" r="-78295" t="0"/>
                </a:stretch>
              </a:blipFill>
              <a:ln>
                <a:noFill/>
              </a:ln>
            </p:spPr>
          </p:sp>
          <p:sp>
            <p:nvSpPr>
              <p:cNvPr id="415" name="Google Shape;415;p6"/>
              <p:cNvSpPr txBox="1"/>
              <p:nvPr/>
            </p:nvSpPr>
            <p:spPr>
              <a:xfrm>
                <a:off x="0" y="0"/>
                <a:ext cx="1219200" cy="1795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5599" u="none" cap="none" strike="noStrike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1</a:t>
                </a:r>
                <a:endParaRPr/>
              </a:p>
            </p:txBody>
          </p:sp>
        </p:grpSp>
        <p:grpSp>
          <p:nvGrpSpPr>
            <p:cNvPr id="416" name="Google Shape;416;p6"/>
            <p:cNvGrpSpPr/>
            <p:nvPr/>
          </p:nvGrpSpPr>
          <p:grpSpPr>
            <a:xfrm>
              <a:off x="365760" y="1463040"/>
              <a:ext cx="6339840" cy="975360"/>
              <a:chOff x="0" y="0"/>
              <a:chExt cx="6339840" cy="975360"/>
            </a:xfrm>
          </p:grpSpPr>
          <p:sp>
            <p:nvSpPr>
              <p:cNvPr id="417" name="Google Shape;417;p6"/>
              <p:cNvSpPr/>
              <p:nvPr/>
            </p:nvSpPr>
            <p:spPr>
              <a:xfrm>
                <a:off x="0" y="0"/>
                <a:ext cx="6339840" cy="975360"/>
              </a:xfrm>
              <a:custGeom>
                <a:rect b="b" l="l" r="r" t="t"/>
                <a:pathLst>
                  <a:path extrusionOk="0"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6646" l="0" r="0" t="-76646"/>
                </a:stretch>
              </a:blipFill>
              <a:ln>
                <a:noFill/>
              </a:ln>
            </p:spPr>
          </p:sp>
          <p:sp>
            <p:nvSpPr>
              <p:cNvPr id="418" name="Google Shape;418;p6"/>
              <p:cNvSpPr txBox="1"/>
              <p:nvPr/>
            </p:nvSpPr>
            <p:spPr>
              <a:xfrm>
                <a:off x="0" y="9525"/>
                <a:ext cx="6339840" cy="965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Fase Institucional</a:t>
                </a:r>
                <a:endParaRPr/>
              </a:p>
            </p:txBody>
          </p:sp>
        </p:grpSp>
        <p:grpSp>
          <p:nvGrpSpPr>
            <p:cNvPr id="419" name="Google Shape;419;p6"/>
            <p:cNvGrpSpPr/>
            <p:nvPr/>
          </p:nvGrpSpPr>
          <p:grpSpPr>
            <a:xfrm>
              <a:off x="365760" y="2465070"/>
              <a:ext cx="6339840" cy="2533650"/>
              <a:chOff x="0" y="-95250"/>
              <a:chExt cx="6339840" cy="2533650"/>
            </a:xfrm>
          </p:grpSpPr>
          <p:sp>
            <p:nvSpPr>
              <p:cNvPr id="420" name="Google Shape;420;p6"/>
              <p:cNvSpPr/>
              <p:nvPr/>
            </p:nvSpPr>
            <p:spPr>
              <a:xfrm>
                <a:off x="0" y="0"/>
                <a:ext cx="6339840" cy="2438400"/>
              </a:xfrm>
              <a:custGeom>
                <a:rect b="b" l="l" r="r" t="t"/>
                <a:pathLst>
                  <a:path extrusionOk="0" h="243840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659" l="0" r="0" t="-660"/>
                </a:stretch>
              </a:blipFill>
              <a:ln>
                <a:noFill/>
              </a:ln>
            </p:spPr>
          </p:sp>
          <p:sp>
            <p:nvSpPr>
              <p:cNvPr id="421" name="Google Shape;421;p6"/>
              <p:cNvSpPr txBox="1"/>
              <p:nvPr/>
            </p:nvSpPr>
            <p:spPr>
              <a:xfrm>
                <a:off x="0" y="-95250"/>
                <a:ext cx="6339840" cy="2533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Arranque, convocatoria,</a:t>
                </a:r>
                <a:endParaRPr/>
              </a:p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capacitación docente y</a:t>
                </a:r>
                <a:endParaRPr/>
              </a:p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desarrollo del proyecto</a:t>
                </a:r>
                <a:endParaRPr/>
              </a:p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(Hack Impact)</a:t>
                </a:r>
                <a:endParaRPr/>
              </a:p>
            </p:txBody>
          </p:sp>
        </p:grpSp>
        <p:sp>
          <p:nvSpPr>
            <p:cNvPr descr="preencoded.png" id="422" name="Google Shape;422;p6"/>
            <p:cNvSpPr/>
            <p:nvPr/>
          </p:nvSpPr>
          <p:spPr>
            <a:xfrm>
              <a:off x="7193280" y="1950720"/>
              <a:ext cx="609600" cy="609600"/>
            </a:xfrm>
            <a:custGeom>
              <a:rect b="b" l="l" r="r" t="t"/>
              <a:pathLst>
                <a:path extrusionOk="0"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23" name="Google Shape;423;p6"/>
            <p:cNvSpPr/>
            <p:nvPr/>
          </p:nvSpPr>
          <p:spPr>
            <a:xfrm>
              <a:off x="7802880" y="0"/>
              <a:ext cx="7071360" cy="5364480"/>
            </a:xfrm>
            <a:custGeom>
              <a:rect b="b" l="l" r="r" t="t"/>
              <a:pathLst>
                <a:path extrusionOk="0" h="53644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grpSp>
          <p:nvGrpSpPr>
            <p:cNvPr id="424" name="Google Shape;424;p6"/>
            <p:cNvGrpSpPr/>
            <p:nvPr/>
          </p:nvGrpSpPr>
          <p:grpSpPr>
            <a:xfrm>
              <a:off x="8168640" y="243840"/>
              <a:ext cx="1219200" cy="1795983"/>
              <a:chOff x="0" y="0"/>
              <a:chExt cx="1219200" cy="1795983"/>
            </a:xfrm>
          </p:grpSpPr>
          <p:sp>
            <p:nvSpPr>
              <p:cNvPr id="425" name="Google Shape;425;p6"/>
              <p:cNvSpPr/>
              <p:nvPr/>
            </p:nvSpPr>
            <p:spPr>
              <a:xfrm>
                <a:off x="0" y="0"/>
                <a:ext cx="1219200" cy="1795983"/>
              </a:xfrm>
              <a:custGeom>
                <a:rect b="b" l="l" r="r" t="t"/>
                <a:pathLst>
                  <a:path extrusionOk="0" h="1795983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795983"/>
                    </a:lnTo>
                    <a:lnTo>
                      <a:pt x="0" y="1795983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32114" l="-78292" r="-78295" t="0"/>
                </a:stretch>
              </a:blipFill>
              <a:ln>
                <a:noFill/>
              </a:ln>
            </p:spPr>
          </p:sp>
          <p:sp>
            <p:nvSpPr>
              <p:cNvPr id="426" name="Google Shape;426;p6"/>
              <p:cNvSpPr txBox="1"/>
              <p:nvPr/>
            </p:nvSpPr>
            <p:spPr>
              <a:xfrm>
                <a:off x="0" y="0"/>
                <a:ext cx="1219200" cy="1795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5599" u="none" cap="none" strike="noStrike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2</a:t>
                </a:r>
                <a:endParaRPr/>
              </a:p>
            </p:txBody>
          </p:sp>
        </p:grpSp>
        <p:grpSp>
          <p:nvGrpSpPr>
            <p:cNvPr id="427" name="Google Shape;427;p6"/>
            <p:cNvGrpSpPr/>
            <p:nvPr/>
          </p:nvGrpSpPr>
          <p:grpSpPr>
            <a:xfrm>
              <a:off x="8168640" y="1463040"/>
              <a:ext cx="6339840" cy="975360"/>
              <a:chOff x="0" y="0"/>
              <a:chExt cx="6339840" cy="975360"/>
            </a:xfrm>
          </p:grpSpPr>
          <p:sp>
            <p:nvSpPr>
              <p:cNvPr id="428" name="Google Shape;428;p6"/>
              <p:cNvSpPr/>
              <p:nvPr/>
            </p:nvSpPr>
            <p:spPr>
              <a:xfrm>
                <a:off x="0" y="0"/>
                <a:ext cx="6339840" cy="975360"/>
              </a:xfrm>
              <a:custGeom>
                <a:rect b="b" l="l" r="r" t="t"/>
                <a:pathLst>
                  <a:path extrusionOk="0"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6646" l="0" r="0" t="-76646"/>
                </a:stretch>
              </a:blipFill>
              <a:ln>
                <a:noFill/>
              </a:ln>
            </p:spPr>
          </p:sp>
          <p:sp>
            <p:nvSpPr>
              <p:cNvPr id="429" name="Google Shape;429;p6"/>
              <p:cNvSpPr txBox="1"/>
              <p:nvPr/>
            </p:nvSpPr>
            <p:spPr>
              <a:xfrm>
                <a:off x="0" y="9525"/>
                <a:ext cx="6339840" cy="965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National Playoffs</a:t>
                </a:r>
                <a:endParaRPr/>
              </a:p>
            </p:txBody>
          </p:sp>
        </p:grpSp>
        <p:grpSp>
          <p:nvGrpSpPr>
            <p:cNvPr id="430" name="Google Shape;430;p6"/>
            <p:cNvGrpSpPr/>
            <p:nvPr/>
          </p:nvGrpSpPr>
          <p:grpSpPr>
            <a:xfrm>
              <a:off x="8168640" y="2465070"/>
              <a:ext cx="6339840" cy="2533650"/>
              <a:chOff x="0" y="-95250"/>
              <a:chExt cx="6339840" cy="2533650"/>
            </a:xfrm>
          </p:grpSpPr>
          <p:sp>
            <p:nvSpPr>
              <p:cNvPr id="431" name="Google Shape;431;p6"/>
              <p:cNvSpPr/>
              <p:nvPr/>
            </p:nvSpPr>
            <p:spPr>
              <a:xfrm>
                <a:off x="0" y="0"/>
                <a:ext cx="6339840" cy="2438400"/>
              </a:xfrm>
              <a:custGeom>
                <a:rect b="b" l="l" r="r" t="t"/>
                <a:pathLst>
                  <a:path extrusionOk="0" h="243840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659" l="0" r="0" t="-660"/>
                </a:stretch>
              </a:blipFill>
              <a:ln>
                <a:noFill/>
              </a:ln>
            </p:spPr>
          </p:sp>
          <p:sp>
            <p:nvSpPr>
              <p:cNvPr id="432" name="Google Shape;432;p6"/>
              <p:cNvSpPr txBox="1"/>
              <p:nvPr/>
            </p:nvSpPr>
            <p:spPr>
              <a:xfrm>
                <a:off x="0" y="-95250"/>
                <a:ext cx="6339840" cy="2533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Evaluación nacional,</a:t>
                </a:r>
                <a:endParaRPr/>
              </a:p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selección de equipos</a:t>
                </a:r>
                <a:endParaRPr/>
              </a:p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y clasificaciones</a:t>
                </a:r>
                <a:endParaRPr/>
              </a:p>
            </p:txBody>
          </p:sp>
        </p:grpSp>
        <p:sp>
          <p:nvSpPr>
            <p:cNvPr descr="preencoded.png" id="433" name="Google Shape;433;p6"/>
            <p:cNvSpPr/>
            <p:nvPr/>
          </p:nvSpPr>
          <p:spPr>
            <a:xfrm>
              <a:off x="14996160" y="1950720"/>
              <a:ext cx="609600" cy="609600"/>
            </a:xfrm>
            <a:custGeom>
              <a:rect b="b" l="l" r="r" t="t"/>
              <a:pathLst>
                <a:path extrusionOk="0"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4" name="Google Shape;434;p6"/>
            <p:cNvSpPr/>
            <p:nvPr/>
          </p:nvSpPr>
          <p:spPr>
            <a:xfrm>
              <a:off x="15605760" y="0"/>
              <a:ext cx="7071360" cy="5364480"/>
            </a:xfrm>
            <a:custGeom>
              <a:rect b="b" l="l" r="r" t="t"/>
              <a:pathLst>
                <a:path extrusionOk="0" h="53644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C42B2B"/>
            </a:solidFill>
            <a:ln>
              <a:noFill/>
            </a:ln>
          </p:spPr>
        </p:sp>
        <p:grpSp>
          <p:nvGrpSpPr>
            <p:cNvPr id="435" name="Google Shape;435;p6"/>
            <p:cNvGrpSpPr/>
            <p:nvPr/>
          </p:nvGrpSpPr>
          <p:grpSpPr>
            <a:xfrm>
              <a:off x="15971520" y="243840"/>
              <a:ext cx="1219200" cy="1795983"/>
              <a:chOff x="0" y="0"/>
              <a:chExt cx="1219200" cy="1795983"/>
            </a:xfrm>
          </p:grpSpPr>
          <p:sp>
            <p:nvSpPr>
              <p:cNvPr id="436" name="Google Shape;436;p6"/>
              <p:cNvSpPr/>
              <p:nvPr/>
            </p:nvSpPr>
            <p:spPr>
              <a:xfrm>
                <a:off x="0" y="0"/>
                <a:ext cx="1219200" cy="1795983"/>
              </a:xfrm>
              <a:custGeom>
                <a:rect b="b" l="l" r="r" t="t"/>
                <a:pathLst>
                  <a:path extrusionOk="0" h="1795983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795983"/>
                    </a:lnTo>
                    <a:lnTo>
                      <a:pt x="0" y="1795983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32114" l="-78292" r="-78295" t="0"/>
                </a:stretch>
              </a:blipFill>
              <a:ln>
                <a:noFill/>
              </a:ln>
            </p:spPr>
          </p:sp>
          <p:sp>
            <p:nvSpPr>
              <p:cNvPr id="437" name="Google Shape;437;p6"/>
              <p:cNvSpPr txBox="1"/>
              <p:nvPr/>
            </p:nvSpPr>
            <p:spPr>
              <a:xfrm>
                <a:off x="0" y="0"/>
                <a:ext cx="1219200" cy="1795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5599" u="none" cap="none" strike="noStrike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3</a:t>
                </a:r>
                <a:endParaRPr/>
              </a:p>
            </p:txBody>
          </p:sp>
        </p:grpSp>
        <p:grpSp>
          <p:nvGrpSpPr>
            <p:cNvPr id="438" name="Google Shape;438;p6"/>
            <p:cNvGrpSpPr/>
            <p:nvPr/>
          </p:nvGrpSpPr>
          <p:grpSpPr>
            <a:xfrm>
              <a:off x="15971520" y="1463040"/>
              <a:ext cx="6339840" cy="975360"/>
              <a:chOff x="0" y="0"/>
              <a:chExt cx="6339840" cy="975360"/>
            </a:xfrm>
          </p:grpSpPr>
          <p:sp>
            <p:nvSpPr>
              <p:cNvPr id="439" name="Google Shape;439;p6"/>
              <p:cNvSpPr/>
              <p:nvPr/>
            </p:nvSpPr>
            <p:spPr>
              <a:xfrm>
                <a:off x="0" y="0"/>
                <a:ext cx="6339840" cy="975360"/>
              </a:xfrm>
              <a:custGeom>
                <a:rect b="b" l="l" r="r" t="t"/>
                <a:pathLst>
                  <a:path extrusionOk="0"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6646" l="0" r="0" t="-76646"/>
                </a:stretch>
              </a:blipFill>
              <a:ln>
                <a:noFill/>
              </a:ln>
            </p:spPr>
          </p:sp>
          <p:sp>
            <p:nvSpPr>
              <p:cNvPr id="440" name="Google Shape;440;p6"/>
              <p:cNvSpPr txBox="1"/>
              <p:nvPr/>
            </p:nvSpPr>
            <p:spPr>
              <a:xfrm>
                <a:off x="0" y="9525"/>
                <a:ext cx="6339840" cy="965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Fase Internacional</a:t>
                </a:r>
                <a:endParaRPr/>
              </a:p>
            </p:txBody>
          </p:sp>
        </p:grpSp>
        <p:grpSp>
          <p:nvGrpSpPr>
            <p:cNvPr id="441" name="Google Shape;441;p6"/>
            <p:cNvGrpSpPr/>
            <p:nvPr/>
          </p:nvGrpSpPr>
          <p:grpSpPr>
            <a:xfrm>
              <a:off x="15971520" y="2465070"/>
              <a:ext cx="6339840" cy="2533650"/>
              <a:chOff x="0" y="-95250"/>
              <a:chExt cx="6339840" cy="2533650"/>
            </a:xfrm>
          </p:grpSpPr>
          <p:sp>
            <p:nvSpPr>
              <p:cNvPr id="442" name="Google Shape;442;p6"/>
              <p:cNvSpPr/>
              <p:nvPr/>
            </p:nvSpPr>
            <p:spPr>
              <a:xfrm>
                <a:off x="0" y="0"/>
                <a:ext cx="6339840" cy="2438400"/>
              </a:xfrm>
              <a:custGeom>
                <a:rect b="b" l="l" r="r" t="t"/>
                <a:pathLst>
                  <a:path extrusionOk="0" h="243840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659" l="0" r="0" t="-660"/>
                </a:stretch>
              </a:blipFill>
              <a:ln>
                <a:noFill/>
              </a:ln>
            </p:spPr>
          </p:sp>
          <p:sp>
            <p:nvSpPr>
              <p:cNvPr id="443" name="Google Shape;443;p6"/>
              <p:cNvSpPr txBox="1"/>
              <p:nvPr/>
            </p:nvSpPr>
            <p:spPr>
              <a:xfrm>
                <a:off x="0" y="-95250"/>
                <a:ext cx="6339840" cy="2533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The Grand Jam 2026</a:t>
                </a:r>
                <a:endParaRPr/>
              </a:p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Madrid — Convergencia</a:t>
                </a:r>
                <a:endParaRPr/>
              </a:p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de proyectos destacados</a:t>
                </a:r>
                <a:endParaRPr/>
              </a:p>
              <a:p>
                <a:pPr indent="0" lvl="0" marL="0" marR="0" rtl="0" algn="l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200" u="none" cap="none" strike="noStrike">
                    <a:solidFill>
                      <a:srgbClr val="FFFFFF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de 20 países</a:t>
                </a:r>
                <a:endParaRPr/>
              </a:p>
            </p:txBody>
          </p:sp>
        </p:grpSp>
      </p:grpSp>
      <p:sp>
        <p:nvSpPr>
          <p:cNvPr id="444" name="Google Shape;444;p6"/>
          <p:cNvSpPr/>
          <p:nvPr/>
        </p:nvSpPr>
        <p:spPr>
          <a:xfrm>
            <a:off x="13758889" y="388804"/>
            <a:ext cx="4938686" cy="639896"/>
          </a:xfrm>
          <a:custGeom>
            <a:rect b="b" l="l" r="r" t="t"/>
            <a:pathLst>
              <a:path extrusionOk="0" h="639896" w="4938686">
                <a:moveTo>
                  <a:pt x="0" y="0"/>
                </a:moveTo>
                <a:lnTo>
                  <a:pt x="4938686" y="0"/>
                </a:lnTo>
                <a:lnTo>
                  <a:pt x="4938686" y="639896"/>
                </a:lnTo>
                <a:lnTo>
                  <a:pt x="0" y="639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"/>
          <p:cNvSpPr/>
          <p:nvPr/>
        </p:nvSpPr>
        <p:spPr>
          <a:xfrm>
            <a:off x="0" y="0"/>
            <a:ext cx="18288000" cy="109728"/>
          </a:xfrm>
          <a:custGeom>
            <a:rect b="b" l="l" r="r" t="t"/>
            <a:pathLst>
              <a:path extrusionOk="0" h="146304" w="24384000">
                <a:moveTo>
                  <a:pt x="0" y="0"/>
                </a:moveTo>
                <a:lnTo>
                  <a:pt x="24384000" y="0"/>
                </a:lnTo>
                <a:lnTo>
                  <a:pt x="24384000" y="146304"/>
                </a:lnTo>
                <a:lnTo>
                  <a:pt x="0" y="146304"/>
                </a:lnTo>
                <a:close/>
              </a:path>
            </a:pathLst>
          </a:custGeom>
          <a:solidFill>
            <a:srgbClr val="C42B2B"/>
          </a:solidFill>
          <a:ln>
            <a:noFill/>
          </a:ln>
        </p:spPr>
      </p:sp>
      <p:grpSp>
        <p:nvGrpSpPr>
          <p:cNvPr id="454" name="Google Shape;454;p9"/>
          <p:cNvGrpSpPr/>
          <p:nvPr/>
        </p:nvGrpSpPr>
        <p:grpSpPr>
          <a:xfrm>
            <a:off x="1463040" y="541496"/>
            <a:ext cx="9144000" cy="830104"/>
            <a:chOff x="0" y="-9525"/>
            <a:chExt cx="12192000" cy="1106805"/>
          </a:xfrm>
        </p:grpSpPr>
        <p:sp>
          <p:nvSpPr>
            <p:cNvPr id="455" name="Google Shape;455;p9"/>
            <p:cNvSpPr/>
            <p:nvPr/>
          </p:nvSpPr>
          <p:spPr>
            <a:xfrm>
              <a:off x="0" y="0"/>
              <a:ext cx="12192000" cy="1097280"/>
            </a:xfrm>
            <a:custGeom>
              <a:rect b="b" l="l" r="r" t="t"/>
              <a:pathLst>
                <a:path extrusionOk="0" h="10972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6487" l="0" r="0" t="-166487"/>
              </a:stretch>
            </a:blipFill>
            <a:ln>
              <a:noFill/>
            </a:ln>
          </p:spPr>
        </p:sp>
        <p:sp>
          <p:nvSpPr>
            <p:cNvPr id="456" name="Google Shape;456;p9"/>
            <p:cNvSpPr txBox="1"/>
            <p:nvPr/>
          </p:nvSpPr>
          <p:spPr>
            <a:xfrm>
              <a:off x="0" y="-9525"/>
              <a:ext cx="12192000" cy="1106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99" u="none" cap="none" strike="noStrike">
                  <a:solidFill>
                    <a:srgbClr val="C42B2B"/>
                  </a:solidFill>
                  <a:latin typeface="Oswald"/>
                  <a:ea typeface="Oswald"/>
                  <a:cs typeface="Oswald"/>
                  <a:sym typeface="Oswald"/>
                </a:rPr>
                <a:t>RETO 2026</a:t>
              </a:r>
              <a:endParaRPr/>
            </a:p>
          </p:txBody>
        </p:sp>
      </p:grpSp>
      <p:grpSp>
        <p:nvGrpSpPr>
          <p:cNvPr id="457" name="Google Shape;457;p9"/>
          <p:cNvGrpSpPr/>
          <p:nvPr/>
        </p:nvGrpSpPr>
        <p:grpSpPr>
          <a:xfrm>
            <a:off x="1463040" y="1994630"/>
            <a:ext cx="14630400" cy="2429542"/>
            <a:chOff x="0" y="-85725"/>
            <a:chExt cx="19507200" cy="3239389"/>
          </a:xfrm>
        </p:grpSpPr>
        <p:sp>
          <p:nvSpPr>
            <p:cNvPr id="458" name="Google Shape;458;p9"/>
            <p:cNvSpPr/>
            <p:nvPr/>
          </p:nvSpPr>
          <p:spPr>
            <a:xfrm>
              <a:off x="0" y="0"/>
              <a:ext cx="19507200" cy="3153664"/>
            </a:xfrm>
            <a:custGeom>
              <a:rect b="b" l="l" r="r" t="t"/>
              <a:pathLst>
                <a:path extrusionOk="0" h="3153664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153664"/>
                  </a:lnTo>
                  <a:lnTo>
                    <a:pt x="0" y="31536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43" l="0" r="0" t="-77995"/>
              </a:stretch>
            </a:blipFill>
            <a:ln>
              <a:noFill/>
            </a:ln>
          </p:spPr>
        </p:sp>
        <p:sp>
          <p:nvSpPr>
            <p:cNvPr id="459" name="Google Shape;459;p9"/>
            <p:cNvSpPr txBox="1"/>
            <p:nvPr/>
          </p:nvSpPr>
          <p:spPr>
            <a:xfrm>
              <a:off x="0" y="-85725"/>
              <a:ext cx="19507200" cy="32393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Tierra: el suelo como</a:t>
              </a:r>
              <a:endParaRPr/>
            </a:p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infraestructura viva</a:t>
              </a:r>
              <a:endParaRPr/>
            </a:p>
          </p:txBody>
        </p:sp>
      </p:grpSp>
      <p:sp>
        <p:nvSpPr>
          <p:cNvPr id="460" name="Google Shape;460;p9"/>
          <p:cNvSpPr/>
          <p:nvPr/>
        </p:nvSpPr>
        <p:spPr>
          <a:xfrm>
            <a:off x="1463040" y="4802124"/>
            <a:ext cx="5029200" cy="2377440"/>
          </a:xfrm>
          <a:custGeom>
            <a:rect b="b" l="l" r="r" t="t"/>
            <a:pathLst>
              <a:path extrusionOk="0" h="3169920" w="6705600">
                <a:moveTo>
                  <a:pt x="0" y="0"/>
                </a:moveTo>
                <a:lnTo>
                  <a:pt x="6705600" y="0"/>
                </a:lnTo>
                <a:lnTo>
                  <a:pt x="6705600" y="3169920"/>
                </a:lnTo>
                <a:lnTo>
                  <a:pt x="0" y="316992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id="461" name="Google Shape;461;p9"/>
          <p:cNvSpPr/>
          <p:nvPr/>
        </p:nvSpPr>
        <p:spPr>
          <a:xfrm>
            <a:off x="1463040" y="4802124"/>
            <a:ext cx="5029200" cy="91440"/>
          </a:xfrm>
          <a:custGeom>
            <a:rect b="b" l="l" r="r" t="t"/>
            <a:pathLst>
              <a:path extrusionOk="0" h="121920" w="6705600">
                <a:moveTo>
                  <a:pt x="0" y="0"/>
                </a:moveTo>
                <a:lnTo>
                  <a:pt x="6705600" y="0"/>
                </a:lnTo>
                <a:lnTo>
                  <a:pt x="6705600" y="121920"/>
                </a:lnTo>
                <a:lnTo>
                  <a:pt x="0" y="12192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grpSp>
        <p:nvGrpSpPr>
          <p:cNvPr id="462" name="Google Shape;462;p9"/>
          <p:cNvGrpSpPr/>
          <p:nvPr/>
        </p:nvGrpSpPr>
        <p:grpSpPr>
          <a:xfrm>
            <a:off x="1828800" y="5167884"/>
            <a:ext cx="4297680" cy="622325"/>
            <a:chOff x="0" y="0"/>
            <a:chExt cx="5730240" cy="829767"/>
          </a:xfrm>
        </p:grpSpPr>
        <p:sp>
          <p:nvSpPr>
            <p:cNvPr id="463" name="Google Shape;463;p9"/>
            <p:cNvSpPr/>
            <p:nvPr/>
          </p:nvSpPr>
          <p:spPr>
            <a:xfrm>
              <a:off x="0" y="0"/>
              <a:ext cx="5730240" cy="829767"/>
            </a:xfrm>
            <a:custGeom>
              <a:rect b="b" l="l" r="r" t="t"/>
              <a:pathLst>
                <a:path extrusionOk="0" h="829767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829767"/>
                  </a:lnTo>
                  <a:lnTo>
                    <a:pt x="0" y="82976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8632" l="0" r="0" t="-90473"/>
              </a:stretch>
            </a:blipFill>
            <a:ln>
              <a:noFill/>
            </a:ln>
          </p:spPr>
        </p:sp>
        <p:sp>
          <p:nvSpPr>
            <p:cNvPr id="464" name="Google Shape;464;p9"/>
            <p:cNvSpPr txBox="1"/>
            <p:nvPr/>
          </p:nvSpPr>
          <p:spPr>
            <a:xfrm>
              <a:off x="0" y="0"/>
              <a:ext cx="5730240" cy="829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El suelo como base</a:t>
              </a:r>
              <a:endParaRPr/>
            </a:p>
          </p:txBody>
        </p:sp>
      </p:grpSp>
      <p:grpSp>
        <p:nvGrpSpPr>
          <p:cNvPr id="465" name="Google Shape;465;p9"/>
          <p:cNvGrpSpPr/>
          <p:nvPr/>
        </p:nvGrpSpPr>
        <p:grpSpPr>
          <a:xfrm>
            <a:off x="1828800" y="5743670"/>
            <a:ext cx="4297680" cy="1161574"/>
            <a:chOff x="0" y="-85725"/>
            <a:chExt cx="5730240" cy="1548765"/>
          </a:xfrm>
        </p:grpSpPr>
        <p:sp>
          <p:nvSpPr>
            <p:cNvPr id="466" name="Google Shape;466;p9"/>
            <p:cNvSpPr/>
            <p:nvPr/>
          </p:nvSpPr>
          <p:spPr>
            <a:xfrm>
              <a:off x="0" y="0"/>
              <a:ext cx="5730240" cy="1463040"/>
            </a:xfrm>
            <a:custGeom>
              <a:rect b="b" l="l" r="r" t="t"/>
              <a:pathLst>
                <a:path extrusionOk="0" h="14630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314" l="0" r="0" t="-26314"/>
              </a:stretch>
            </a:blipFill>
            <a:ln>
              <a:noFill/>
            </a:ln>
          </p:spPr>
        </p:sp>
        <p:sp>
          <p:nvSpPr>
            <p:cNvPr id="467" name="Google Shape;467;p9"/>
            <p:cNvSpPr txBox="1"/>
            <p:nvPr/>
          </p:nvSpPr>
          <p:spPr>
            <a:xfrm>
              <a:off x="0" y="-85725"/>
              <a:ext cx="5730240" cy="1548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CBD5E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Base física de la vida y punto de partida de la resiliencia territorial</a:t>
              </a:r>
              <a:endParaRPr/>
            </a:p>
          </p:txBody>
        </p:sp>
      </p:grpSp>
      <p:sp>
        <p:nvSpPr>
          <p:cNvPr id="468" name="Google Shape;468;p9"/>
          <p:cNvSpPr/>
          <p:nvPr/>
        </p:nvSpPr>
        <p:spPr>
          <a:xfrm>
            <a:off x="7040880" y="4802124"/>
            <a:ext cx="5029200" cy="2377440"/>
          </a:xfrm>
          <a:custGeom>
            <a:rect b="b" l="l" r="r" t="t"/>
            <a:pathLst>
              <a:path extrusionOk="0" h="3169920" w="6705600">
                <a:moveTo>
                  <a:pt x="0" y="0"/>
                </a:moveTo>
                <a:lnTo>
                  <a:pt x="6705600" y="0"/>
                </a:lnTo>
                <a:lnTo>
                  <a:pt x="6705600" y="3169920"/>
                </a:lnTo>
                <a:lnTo>
                  <a:pt x="0" y="316992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id="469" name="Google Shape;469;p9"/>
          <p:cNvSpPr/>
          <p:nvPr/>
        </p:nvSpPr>
        <p:spPr>
          <a:xfrm>
            <a:off x="7040880" y="4802124"/>
            <a:ext cx="5029200" cy="91440"/>
          </a:xfrm>
          <a:custGeom>
            <a:rect b="b" l="l" r="r" t="t"/>
            <a:pathLst>
              <a:path extrusionOk="0" h="121920" w="6705600">
                <a:moveTo>
                  <a:pt x="0" y="0"/>
                </a:moveTo>
                <a:lnTo>
                  <a:pt x="6705600" y="0"/>
                </a:lnTo>
                <a:lnTo>
                  <a:pt x="6705600" y="121920"/>
                </a:lnTo>
                <a:lnTo>
                  <a:pt x="0" y="12192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grpSp>
        <p:nvGrpSpPr>
          <p:cNvPr id="470" name="Google Shape;470;p9"/>
          <p:cNvGrpSpPr/>
          <p:nvPr/>
        </p:nvGrpSpPr>
        <p:grpSpPr>
          <a:xfrm>
            <a:off x="7406640" y="5167884"/>
            <a:ext cx="4297680" cy="622325"/>
            <a:chOff x="0" y="0"/>
            <a:chExt cx="5730240" cy="829767"/>
          </a:xfrm>
        </p:grpSpPr>
        <p:sp>
          <p:nvSpPr>
            <p:cNvPr id="471" name="Google Shape;471;p9"/>
            <p:cNvSpPr/>
            <p:nvPr/>
          </p:nvSpPr>
          <p:spPr>
            <a:xfrm>
              <a:off x="0" y="0"/>
              <a:ext cx="5730240" cy="829767"/>
            </a:xfrm>
            <a:custGeom>
              <a:rect b="b" l="l" r="r" t="t"/>
              <a:pathLst>
                <a:path extrusionOk="0" h="829767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829767"/>
                  </a:lnTo>
                  <a:lnTo>
                    <a:pt x="0" y="82976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8632" l="0" r="0" t="-90473"/>
              </a:stretch>
            </a:blipFill>
            <a:ln>
              <a:noFill/>
            </a:ln>
          </p:spPr>
        </p:sp>
        <p:sp>
          <p:nvSpPr>
            <p:cNvPr id="472" name="Google Shape;472;p9"/>
            <p:cNvSpPr txBox="1"/>
            <p:nvPr/>
          </p:nvSpPr>
          <p:spPr>
            <a:xfrm>
              <a:off x="0" y="0"/>
              <a:ext cx="5730240" cy="829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Relación sistémica</a:t>
              </a:r>
              <a:endParaRPr/>
            </a:p>
          </p:txBody>
        </p:sp>
      </p:grpSp>
      <p:grpSp>
        <p:nvGrpSpPr>
          <p:cNvPr id="473" name="Google Shape;473;p9"/>
          <p:cNvGrpSpPr/>
          <p:nvPr/>
        </p:nvGrpSpPr>
        <p:grpSpPr>
          <a:xfrm>
            <a:off x="7406640" y="5743670"/>
            <a:ext cx="4297680" cy="1247299"/>
            <a:chOff x="0" y="-85725"/>
            <a:chExt cx="5730240" cy="1663065"/>
          </a:xfrm>
        </p:grpSpPr>
        <p:sp>
          <p:nvSpPr>
            <p:cNvPr id="474" name="Google Shape;474;p9"/>
            <p:cNvSpPr/>
            <p:nvPr/>
          </p:nvSpPr>
          <p:spPr>
            <a:xfrm>
              <a:off x="0" y="0"/>
              <a:ext cx="5730240" cy="1577340"/>
            </a:xfrm>
            <a:custGeom>
              <a:rect b="b" l="l" r="r" t="t"/>
              <a:pathLst>
                <a:path extrusionOk="0" h="15773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577340"/>
                  </a:lnTo>
                  <a:lnTo>
                    <a:pt x="0" y="15773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162" l="0" r="0" t="-24406"/>
              </a:stretch>
            </a:blipFill>
            <a:ln>
              <a:noFill/>
            </a:ln>
          </p:spPr>
        </p:sp>
        <p:sp>
          <p:nvSpPr>
            <p:cNvPr id="475" name="Google Shape;475;p9"/>
            <p:cNvSpPr txBox="1"/>
            <p:nvPr/>
          </p:nvSpPr>
          <p:spPr>
            <a:xfrm>
              <a:off x="0" y="-85725"/>
              <a:ext cx="5730240" cy="166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CBD5E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Suelo–agua–alimento–clima: un sistema interconectado de límites reales</a:t>
              </a:r>
              <a:endParaRPr/>
            </a:p>
          </p:txBody>
        </p:sp>
      </p:grpSp>
      <p:sp>
        <p:nvSpPr>
          <p:cNvPr id="476" name="Google Shape;476;p9"/>
          <p:cNvSpPr/>
          <p:nvPr/>
        </p:nvSpPr>
        <p:spPr>
          <a:xfrm>
            <a:off x="12618720" y="4802124"/>
            <a:ext cx="5029200" cy="2377440"/>
          </a:xfrm>
          <a:custGeom>
            <a:rect b="b" l="l" r="r" t="t"/>
            <a:pathLst>
              <a:path extrusionOk="0" h="3169920" w="6705600">
                <a:moveTo>
                  <a:pt x="0" y="0"/>
                </a:moveTo>
                <a:lnTo>
                  <a:pt x="6705600" y="0"/>
                </a:lnTo>
                <a:lnTo>
                  <a:pt x="6705600" y="3169920"/>
                </a:lnTo>
                <a:lnTo>
                  <a:pt x="0" y="3169920"/>
                </a:lnTo>
                <a:close/>
              </a:path>
            </a:pathLst>
          </a:custGeom>
          <a:solidFill>
            <a:srgbClr val="0F2147"/>
          </a:solidFill>
          <a:ln>
            <a:noFill/>
          </a:ln>
        </p:spPr>
      </p:sp>
      <p:sp>
        <p:nvSpPr>
          <p:cNvPr id="477" name="Google Shape;477;p9"/>
          <p:cNvSpPr/>
          <p:nvPr/>
        </p:nvSpPr>
        <p:spPr>
          <a:xfrm>
            <a:off x="12618720" y="4802124"/>
            <a:ext cx="5029200" cy="91440"/>
          </a:xfrm>
          <a:custGeom>
            <a:rect b="b" l="l" r="r" t="t"/>
            <a:pathLst>
              <a:path extrusionOk="0" h="121920" w="6705600">
                <a:moveTo>
                  <a:pt x="0" y="0"/>
                </a:moveTo>
                <a:lnTo>
                  <a:pt x="6705600" y="0"/>
                </a:lnTo>
                <a:lnTo>
                  <a:pt x="6705600" y="121920"/>
                </a:lnTo>
                <a:lnTo>
                  <a:pt x="0" y="12192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grpSp>
        <p:nvGrpSpPr>
          <p:cNvPr id="478" name="Google Shape;478;p9"/>
          <p:cNvGrpSpPr/>
          <p:nvPr/>
        </p:nvGrpSpPr>
        <p:grpSpPr>
          <a:xfrm>
            <a:off x="12984480" y="5167884"/>
            <a:ext cx="4297680" cy="622325"/>
            <a:chOff x="0" y="0"/>
            <a:chExt cx="5730240" cy="829767"/>
          </a:xfrm>
        </p:grpSpPr>
        <p:sp>
          <p:nvSpPr>
            <p:cNvPr id="479" name="Google Shape;479;p9"/>
            <p:cNvSpPr/>
            <p:nvPr/>
          </p:nvSpPr>
          <p:spPr>
            <a:xfrm>
              <a:off x="0" y="0"/>
              <a:ext cx="5730240" cy="829767"/>
            </a:xfrm>
            <a:custGeom>
              <a:rect b="b" l="l" r="r" t="t"/>
              <a:pathLst>
                <a:path extrusionOk="0" h="829767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829767"/>
                  </a:lnTo>
                  <a:lnTo>
                    <a:pt x="0" y="82976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8632" l="0" r="0" t="-90473"/>
              </a:stretch>
            </a:blipFill>
            <a:ln>
              <a:noFill/>
            </a:ln>
          </p:spPr>
        </p:sp>
        <p:sp>
          <p:nvSpPr>
            <p:cNvPr id="480" name="Google Shape;480;p9"/>
            <p:cNvSpPr txBox="1"/>
            <p:nvPr/>
          </p:nvSpPr>
          <p:spPr>
            <a:xfrm>
              <a:off x="0" y="0"/>
              <a:ext cx="5730240" cy="829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Diseño desde la base</a:t>
              </a:r>
              <a:endParaRPr/>
            </a:p>
          </p:txBody>
        </p:sp>
      </p:grpSp>
      <p:grpSp>
        <p:nvGrpSpPr>
          <p:cNvPr id="481" name="Google Shape;481;p9"/>
          <p:cNvGrpSpPr/>
          <p:nvPr/>
        </p:nvGrpSpPr>
        <p:grpSpPr>
          <a:xfrm>
            <a:off x="12984480" y="5743670"/>
            <a:ext cx="4297680" cy="1247299"/>
            <a:chOff x="0" y="-85725"/>
            <a:chExt cx="5730240" cy="1663065"/>
          </a:xfrm>
        </p:grpSpPr>
        <p:sp>
          <p:nvSpPr>
            <p:cNvPr id="482" name="Google Shape;482;p9"/>
            <p:cNvSpPr/>
            <p:nvPr/>
          </p:nvSpPr>
          <p:spPr>
            <a:xfrm>
              <a:off x="0" y="0"/>
              <a:ext cx="5730240" cy="1577340"/>
            </a:xfrm>
            <a:custGeom>
              <a:rect b="b" l="l" r="r" t="t"/>
              <a:pathLst>
                <a:path extrusionOk="0" h="15773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577340"/>
                  </a:lnTo>
                  <a:lnTo>
                    <a:pt x="0" y="15773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162" l="0" r="0" t="-24406"/>
              </a:stretch>
            </a:blipFill>
            <a:ln>
              <a:noFill/>
            </a:ln>
          </p:spPr>
        </p:sp>
        <p:sp>
          <p:nvSpPr>
            <p:cNvPr id="483" name="Google Shape;483;p9"/>
            <p:cNvSpPr txBox="1"/>
            <p:nvPr/>
          </p:nvSpPr>
          <p:spPr>
            <a:xfrm>
              <a:off x="0" y="-85725"/>
              <a:ext cx="5730240" cy="166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CBD5E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No es sostenibilidad abstracta. Es diseño aplicado con impacto territorial</a:t>
              </a:r>
              <a:endParaRPr/>
            </a:p>
          </p:txBody>
        </p:sp>
      </p:grpSp>
      <p:sp>
        <p:nvSpPr>
          <p:cNvPr id="484" name="Google Shape;484;p9"/>
          <p:cNvSpPr/>
          <p:nvPr/>
        </p:nvSpPr>
        <p:spPr>
          <a:xfrm>
            <a:off x="0" y="9052560"/>
            <a:ext cx="18288000" cy="1243584"/>
          </a:xfrm>
          <a:custGeom>
            <a:rect b="b" l="l" r="r" t="t"/>
            <a:pathLst>
              <a:path extrusionOk="0" h="1658112" w="24384000">
                <a:moveTo>
                  <a:pt x="0" y="0"/>
                </a:moveTo>
                <a:lnTo>
                  <a:pt x="24384000" y="0"/>
                </a:lnTo>
                <a:lnTo>
                  <a:pt x="24384000" y="1658112"/>
                </a:lnTo>
                <a:lnTo>
                  <a:pt x="0" y="1658112"/>
                </a:lnTo>
                <a:close/>
              </a:path>
            </a:pathLst>
          </a:custGeom>
          <a:solidFill>
            <a:srgbClr val="C42B2B"/>
          </a:solidFill>
          <a:ln>
            <a:noFill/>
          </a:ln>
        </p:spPr>
      </p:sp>
      <p:grpSp>
        <p:nvGrpSpPr>
          <p:cNvPr id="485" name="Google Shape;485;p9"/>
          <p:cNvGrpSpPr/>
          <p:nvPr/>
        </p:nvGrpSpPr>
        <p:grpSpPr>
          <a:xfrm>
            <a:off x="1463040" y="9129713"/>
            <a:ext cx="15361921" cy="1020127"/>
            <a:chOff x="0" y="-19050"/>
            <a:chExt cx="20482561" cy="1360170"/>
          </a:xfrm>
        </p:grpSpPr>
        <p:sp>
          <p:nvSpPr>
            <p:cNvPr id="486" name="Google Shape;486;p9"/>
            <p:cNvSpPr/>
            <p:nvPr/>
          </p:nvSpPr>
          <p:spPr>
            <a:xfrm>
              <a:off x="0" y="0"/>
              <a:ext cx="20482561" cy="1341120"/>
            </a:xfrm>
            <a:custGeom>
              <a:rect b="b" l="l" r="r" t="t"/>
              <a:pathLst>
                <a:path extrusionOk="0" h="13411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7583" l="0" r="0" t="-247583"/>
              </a:stretch>
            </a:blipFill>
            <a:ln>
              <a:noFill/>
            </a:ln>
          </p:spPr>
        </p:sp>
        <p:sp>
          <p:nvSpPr>
            <p:cNvPr id="487" name="Google Shape;487;p9"/>
            <p:cNvSpPr txBox="1"/>
            <p:nvPr/>
          </p:nvSpPr>
          <p:spPr>
            <a:xfrm>
              <a:off x="0" y="-19050"/>
              <a:ext cx="20482560" cy="1360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Ninguna disciplina sola resuelve esto. Exactamente lo que una universidad busca: el eje transversal que conecta departamentos.</a:t>
              </a:r>
              <a:endParaRPr/>
            </a:p>
          </p:txBody>
        </p:sp>
      </p:grpSp>
      <p:sp>
        <p:nvSpPr>
          <p:cNvPr id="488" name="Google Shape;488;p9"/>
          <p:cNvSpPr/>
          <p:nvPr/>
        </p:nvSpPr>
        <p:spPr>
          <a:xfrm>
            <a:off x="13758889" y="388804"/>
            <a:ext cx="4938686" cy="639896"/>
          </a:xfrm>
          <a:custGeom>
            <a:rect b="b" l="l" r="r" t="t"/>
            <a:pathLst>
              <a:path extrusionOk="0" h="639896" w="4938686">
                <a:moveTo>
                  <a:pt x="0" y="0"/>
                </a:moveTo>
                <a:lnTo>
                  <a:pt x="4938686" y="0"/>
                </a:lnTo>
                <a:lnTo>
                  <a:pt x="4938686" y="639896"/>
                </a:lnTo>
                <a:lnTo>
                  <a:pt x="0" y="639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0"/>
          <p:cNvSpPr/>
          <p:nvPr/>
        </p:nvSpPr>
        <p:spPr>
          <a:xfrm>
            <a:off x="0" y="0"/>
            <a:ext cx="18288000" cy="109728"/>
          </a:xfrm>
          <a:custGeom>
            <a:rect b="b" l="l" r="r" t="t"/>
            <a:pathLst>
              <a:path extrusionOk="0" h="146304" w="24384000">
                <a:moveTo>
                  <a:pt x="0" y="0"/>
                </a:moveTo>
                <a:lnTo>
                  <a:pt x="24384000" y="0"/>
                </a:lnTo>
                <a:lnTo>
                  <a:pt x="24384000" y="146304"/>
                </a:lnTo>
                <a:lnTo>
                  <a:pt x="0" y="146304"/>
                </a:lnTo>
                <a:close/>
              </a:path>
            </a:pathLst>
          </a:custGeom>
          <a:solidFill>
            <a:srgbClr val="C42B2B"/>
          </a:solidFill>
          <a:ln>
            <a:noFill/>
          </a:ln>
        </p:spPr>
      </p:sp>
      <p:grpSp>
        <p:nvGrpSpPr>
          <p:cNvPr id="498" name="Google Shape;498;p10"/>
          <p:cNvGrpSpPr/>
          <p:nvPr/>
        </p:nvGrpSpPr>
        <p:grpSpPr>
          <a:xfrm>
            <a:off x="1463040" y="724376"/>
            <a:ext cx="14630400" cy="1307878"/>
            <a:chOff x="0" y="-9525"/>
            <a:chExt cx="19507200" cy="1743837"/>
          </a:xfrm>
        </p:grpSpPr>
        <p:sp>
          <p:nvSpPr>
            <p:cNvPr id="499" name="Google Shape;499;p10"/>
            <p:cNvSpPr/>
            <p:nvPr/>
          </p:nvSpPr>
          <p:spPr>
            <a:xfrm>
              <a:off x="0" y="0"/>
              <a:ext cx="19507200" cy="1734312"/>
            </a:xfrm>
            <a:custGeom>
              <a:rect b="b" l="l" r="r" t="t"/>
              <a:pathLst>
                <a:path extrusionOk="0" h="173431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34312"/>
                  </a:lnTo>
                  <a:lnTo>
                    <a:pt x="0" y="17343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362" l="0" r="0" t="-169945"/>
              </a:stretch>
            </a:blipFill>
            <a:ln>
              <a:noFill/>
            </a:ln>
          </p:spPr>
        </p:sp>
        <p:sp>
          <p:nvSpPr>
            <p:cNvPr id="500" name="Google Shape;500;p10"/>
            <p:cNvSpPr txBox="1"/>
            <p:nvPr/>
          </p:nvSpPr>
          <p:spPr>
            <a:xfrm>
              <a:off x="0" y="-9525"/>
              <a:ext cx="19507200" cy="1743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Próximos pasos</a:t>
              </a:r>
              <a:endParaRPr/>
            </a:p>
          </p:txBody>
        </p:sp>
      </p:grpSp>
      <p:sp>
        <p:nvSpPr>
          <p:cNvPr id="501" name="Google Shape;501;p10"/>
          <p:cNvSpPr/>
          <p:nvPr/>
        </p:nvSpPr>
        <p:spPr>
          <a:xfrm>
            <a:off x="1451610" y="2756154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C4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2" name="Google Shape;502;p10"/>
          <p:cNvGrpSpPr/>
          <p:nvPr/>
        </p:nvGrpSpPr>
        <p:grpSpPr>
          <a:xfrm>
            <a:off x="1451610" y="2756154"/>
            <a:ext cx="822960" cy="822960"/>
            <a:chOff x="0" y="0"/>
            <a:chExt cx="1097280" cy="1097280"/>
          </a:xfrm>
        </p:grpSpPr>
        <p:sp>
          <p:nvSpPr>
            <p:cNvPr id="503" name="Google Shape;503;p10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292" r="-78295" t="0"/>
              </a:stretch>
            </a:blipFill>
            <a:ln>
              <a:noFill/>
            </a:ln>
          </p:spPr>
        </p:sp>
        <p:sp>
          <p:nvSpPr>
            <p:cNvPr id="504" name="Google Shape;504;p10"/>
            <p:cNvSpPr txBox="1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1</a:t>
              </a:r>
              <a:endParaRPr/>
            </a:p>
          </p:txBody>
        </p:sp>
      </p:grpSp>
      <p:sp>
        <p:nvSpPr>
          <p:cNvPr id="505" name="Google Shape;505;p10"/>
          <p:cNvSpPr/>
          <p:nvPr/>
        </p:nvSpPr>
        <p:spPr>
          <a:xfrm>
            <a:off x="1451610" y="3761994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C4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6" name="Google Shape;506;p10"/>
          <p:cNvGrpSpPr/>
          <p:nvPr/>
        </p:nvGrpSpPr>
        <p:grpSpPr>
          <a:xfrm>
            <a:off x="1451610" y="3761994"/>
            <a:ext cx="822960" cy="822960"/>
            <a:chOff x="0" y="0"/>
            <a:chExt cx="1097280" cy="1097280"/>
          </a:xfrm>
        </p:grpSpPr>
        <p:sp>
          <p:nvSpPr>
            <p:cNvPr id="507" name="Google Shape;507;p10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292" r="-78295" t="0"/>
              </a:stretch>
            </a:blipFill>
            <a:ln>
              <a:noFill/>
            </a:ln>
          </p:spPr>
        </p:sp>
        <p:sp>
          <p:nvSpPr>
            <p:cNvPr id="508" name="Google Shape;508;p10"/>
            <p:cNvSpPr txBox="1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2</a:t>
              </a:r>
              <a:endParaRPr/>
            </a:p>
          </p:txBody>
        </p:sp>
      </p:grpSp>
      <p:grpSp>
        <p:nvGrpSpPr>
          <p:cNvPr id="509" name="Google Shape;509;p10"/>
          <p:cNvGrpSpPr/>
          <p:nvPr/>
        </p:nvGrpSpPr>
        <p:grpSpPr>
          <a:xfrm>
            <a:off x="2731770" y="2833307"/>
            <a:ext cx="12801600" cy="745808"/>
            <a:chOff x="0" y="-19050"/>
            <a:chExt cx="17068800" cy="994410"/>
          </a:xfrm>
        </p:grpSpPr>
        <p:sp>
          <p:nvSpPr>
            <p:cNvPr id="510" name="Google Shape;510;p10"/>
            <p:cNvSpPr/>
            <p:nvPr/>
          </p:nvSpPr>
          <p:spPr>
            <a:xfrm>
              <a:off x="0" y="0"/>
              <a:ext cx="17068800" cy="975360"/>
            </a:xfrm>
            <a:custGeom>
              <a:rect b="b" l="l" r="r" t="t"/>
              <a:pathLst>
                <a:path extrusionOk="0"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0971" l="0" r="0" t="-290971"/>
              </a:stretch>
            </a:blipFill>
            <a:ln>
              <a:noFill/>
            </a:ln>
          </p:spPr>
        </p:sp>
        <p:sp>
          <p:nvSpPr>
            <p:cNvPr id="511" name="Google Shape;511;p10"/>
            <p:cNvSpPr txBox="1"/>
            <p:nvPr/>
          </p:nvSpPr>
          <p:spPr>
            <a:xfrm>
              <a:off x="0" y="-19050"/>
              <a:ext cx="17068800" cy="994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Designar enlace institucional </a:t>
              </a:r>
              <a:endParaRPr/>
            </a:p>
          </p:txBody>
        </p:sp>
      </p:grpSp>
      <p:sp>
        <p:nvSpPr>
          <p:cNvPr id="512" name="Google Shape;512;p10"/>
          <p:cNvSpPr/>
          <p:nvPr/>
        </p:nvSpPr>
        <p:spPr>
          <a:xfrm>
            <a:off x="1451610" y="4767834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C4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3" name="Google Shape;513;p10"/>
          <p:cNvGrpSpPr/>
          <p:nvPr/>
        </p:nvGrpSpPr>
        <p:grpSpPr>
          <a:xfrm>
            <a:off x="1451610" y="4767834"/>
            <a:ext cx="822960" cy="822960"/>
            <a:chOff x="0" y="0"/>
            <a:chExt cx="1097280" cy="1097280"/>
          </a:xfrm>
        </p:grpSpPr>
        <p:sp>
          <p:nvSpPr>
            <p:cNvPr id="514" name="Google Shape;514;p10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292" r="-78295" t="0"/>
              </a:stretch>
            </a:blipFill>
            <a:ln>
              <a:noFill/>
            </a:ln>
          </p:spPr>
        </p:sp>
        <p:sp>
          <p:nvSpPr>
            <p:cNvPr id="515" name="Google Shape;515;p10"/>
            <p:cNvSpPr txBox="1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3</a:t>
              </a:r>
              <a:endParaRPr/>
            </a:p>
          </p:txBody>
        </p:sp>
      </p:grpSp>
      <p:grpSp>
        <p:nvGrpSpPr>
          <p:cNvPr id="516" name="Google Shape;516;p10"/>
          <p:cNvGrpSpPr/>
          <p:nvPr/>
        </p:nvGrpSpPr>
        <p:grpSpPr>
          <a:xfrm>
            <a:off x="2731770" y="3747707"/>
            <a:ext cx="12801600" cy="745807"/>
            <a:chOff x="0" y="-19050"/>
            <a:chExt cx="17068800" cy="994410"/>
          </a:xfrm>
        </p:grpSpPr>
        <p:sp>
          <p:nvSpPr>
            <p:cNvPr id="517" name="Google Shape;517;p10"/>
            <p:cNvSpPr/>
            <p:nvPr/>
          </p:nvSpPr>
          <p:spPr>
            <a:xfrm>
              <a:off x="0" y="0"/>
              <a:ext cx="17068800" cy="975360"/>
            </a:xfrm>
            <a:custGeom>
              <a:rect b="b" l="l" r="r" t="t"/>
              <a:pathLst>
                <a:path extrusionOk="0"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0971" l="0" r="0" t="-290971"/>
              </a:stretch>
            </a:blipFill>
            <a:ln>
              <a:noFill/>
            </a:ln>
          </p:spPr>
        </p:sp>
        <p:sp>
          <p:nvSpPr>
            <p:cNvPr id="518" name="Google Shape;518;p10"/>
            <p:cNvSpPr txBox="1"/>
            <p:nvPr/>
          </p:nvSpPr>
          <p:spPr>
            <a:xfrm>
              <a:off x="0" y="-19050"/>
              <a:ext cx="17068800" cy="994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Activar convocatoria interna (docentes y estudiantes)</a:t>
              </a:r>
              <a:endParaRPr/>
            </a:p>
          </p:txBody>
        </p:sp>
      </p:grpSp>
      <p:sp>
        <p:nvSpPr>
          <p:cNvPr id="519" name="Google Shape;519;p10"/>
          <p:cNvSpPr/>
          <p:nvPr/>
        </p:nvSpPr>
        <p:spPr>
          <a:xfrm>
            <a:off x="1451610" y="5773674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C4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0" name="Google Shape;520;p10"/>
          <p:cNvGrpSpPr/>
          <p:nvPr/>
        </p:nvGrpSpPr>
        <p:grpSpPr>
          <a:xfrm>
            <a:off x="1451610" y="5773674"/>
            <a:ext cx="822960" cy="822960"/>
            <a:chOff x="0" y="0"/>
            <a:chExt cx="1097280" cy="1097280"/>
          </a:xfrm>
        </p:grpSpPr>
        <p:sp>
          <p:nvSpPr>
            <p:cNvPr id="521" name="Google Shape;521;p10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292" r="-78295" t="0"/>
              </a:stretch>
            </a:blipFill>
            <a:ln>
              <a:noFill/>
            </a:ln>
          </p:spPr>
        </p:sp>
        <p:sp>
          <p:nvSpPr>
            <p:cNvPr id="522" name="Google Shape;522;p10"/>
            <p:cNvSpPr txBox="1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4</a:t>
              </a:r>
              <a:endParaRPr/>
            </a:p>
          </p:txBody>
        </p:sp>
      </p:grpSp>
      <p:grpSp>
        <p:nvGrpSpPr>
          <p:cNvPr id="523" name="Google Shape;523;p10"/>
          <p:cNvGrpSpPr/>
          <p:nvPr/>
        </p:nvGrpSpPr>
        <p:grpSpPr>
          <a:xfrm>
            <a:off x="2731770" y="4753547"/>
            <a:ext cx="12801600" cy="745807"/>
            <a:chOff x="0" y="-19050"/>
            <a:chExt cx="17068800" cy="994410"/>
          </a:xfrm>
        </p:grpSpPr>
        <p:sp>
          <p:nvSpPr>
            <p:cNvPr id="524" name="Google Shape;524;p10"/>
            <p:cNvSpPr/>
            <p:nvPr/>
          </p:nvSpPr>
          <p:spPr>
            <a:xfrm>
              <a:off x="0" y="0"/>
              <a:ext cx="17068800" cy="975360"/>
            </a:xfrm>
            <a:custGeom>
              <a:rect b="b" l="l" r="r" t="t"/>
              <a:pathLst>
                <a:path extrusionOk="0"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0971" l="0" r="0" t="-290971"/>
              </a:stretch>
            </a:blipFill>
            <a:ln>
              <a:noFill/>
            </a:ln>
          </p:spPr>
        </p:sp>
        <p:sp>
          <p:nvSpPr>
            <p:cNvPr id="525" name="Google Shape;525;p10"/>
            <p:cNvSpPr txBox="1"/>
            <p:nvPr/>
          </p:nvSpPr>
          <p:spPr>
            <a:xfrm>
              <a:off x="0" y="-19050"/>
              <a:ext cx="17068800" cy="994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Iniciar capacitación docente en plataforma</a:t>
              </a:r>
              <a:endParaRPr/>
            </a:p>
          </p:txBody>
        </p:sp>
      </p:grpSp>
      <p:grpSp>
        <p:nvGrpSpPr>
          <p:cNvPr id="526" name="Google Shape;526;p10"/>
          <p:cNvGrpSpPr/>
          <p:nvPr/>
        </p:nvGrpSpPr>
        <p:grpSpPr>
          <a:xfrm>
            <a:off x="2731770" y="5666041"/>
            <a:ext cx="12801600" cy="745808"/>
            <a:chOff x="0" y="-19050"/>
            <a:chExt cx="17068800" cy="994410"/>
          </a:xfrm>
        </p:grpSpPr>
        <p:sp>
          <p:nvSpPr>
            <p:cNvPr id="527" name="Google Shape;527;p10"/>
            <p:cNvSpPr/>
            <p:nvPr/>
          </p:nvSpPr>
          <p:spPr>
            <a:xfrm>
              <a:off x="0" y="0"/>
              <a:ext cx="17068800" cy="975360"/>
            </a:xfrm>
            <a:custGeom>
              <a:rect b="b" l="l" r="r" t="t"/>
              <a:pathLst>
                <a:path extrusionOk="0"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0971" l="0" r="0" t="-290971"/>
              </a:stretch>
            </a:blipFill>
            <a:ln>
              <a:noFill/>
            </a:ln>
          </p:spPr>
        </p:sp>
        <p:sp>
          <p:nvSpPr>
            <p:cNvPr id="528" name="Google Shape;528;p10"/>
            <p:cNvSpPr txBox="1"/>
            <p:nvPr/>
          </p:nvSpPr>
          <p:spPr>
            <a:xfrm>
              <a:off x="0" y="-19050"/>
              <a:ext cx="17068800" cy="994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Desarrollo Hack Impact → National Playoffs → Madrid</a:t>
              </a:r>
              <a:endParaRPr/>
            </a:p>
          </p:txBody>
        </p:sp>
      </p:grpSp>
      <p:sp>
        <p:nvSpPr>
          <p:cNvPr id="529" name="Google Shape;529;p10"/>
          <p:cNvSpPr/>
          <p:nvPr/>
        </p:nvSpPr>
        <p:spPr>
          <a:xfrm>
            <a:off x="13758889" y="388804"/>
            <a:ext cx="4938686" cy="639896"/>
          </a:xfrm>
          <a:custGeom>
            <a:rect b="b" l="l" r="r" t="t"/>
            <a:pathLst>
              <a:path extrusionOk="0" h="639896" w="4938686">
                <a:moveTo>
                  <a:pt x="0" y="0"/>
                </a:moveTo>
                <a:lnTo>
                  <a:pt x="4938686" y="0"/>
                </a:lnTo>
                <a:lnTo>
                  <a:pt x="4938686" y="639896"/>
                </a:lnTo>
                <a:lnTo>
                  <a:pt x="0" y="639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EE804A92F57AF4588C04108E05A3662" ma:contentTypeVersion="14" ma:contentTypeDescription="Crear nuevo documento." ma:contentTypeScope="" ma:versionID="6d257020299e3f0475717d525d3c9e90">
  <xsd:schema xmlns:xsd="http://www.w3.org/2001/XMLSchema" xmlns:xs="http://www.w3.org/2001/XMLSchema" xmlns:p="http://schemas.microsoft.com/office/2006/metadata/properties" xmlns:ns2="029874c5-19fb-46d1-9d1c-7f9d936a58ee" xmlns:ns3="a851432c-56bc-4e54-ac55-f329a6909af6" targetNamespace="http://schemas.microsoft.com/office/2006/metadata/properties" ma:root="true" ma:fieldsID="f4bbe5b1db5feb7621b3aafb4f475273" ns2:_="" ns3:_="">
    <xsd:import namespace="029874c5-19fb-46d1-9d1c-7f9d936a58ee"/>
    <xsd:import namespace="a851432c-56bc-4e54-ac55-f329a6909a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9874c5-19fb-46d1-9d1c-7f9d936a58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e4ef545c-b504-40cb-8b12-509b64fae3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1432c-56bc-4e54-ac55-f329a6909af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29c1b2ad-435c-43c3-8c47-d7b8066a3a21}" ma:internalName="TaxCatchAll" ma:showField="CatchAllData" ma:web="a851432c-56bc-4e54-ac55-f329a6909a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51432c-56bc-4e54-ac55-f329a6909af6" xsi:nil="true"/>
    <lcf76f155ced4ddcb4097134ff3c332f xmlns="029874c5-19fb-46d1-9d1c-7f9d936a58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517F96-5957-446A-8383-83C40E3102E2}"/>
</file>

<file path=customXml/itemProps2.xml><?xml version="1.0" encoding="utf-8"?>
<ds:datastoreItem xmlns:ds="http://schemas.openxmlformats.org/officeDocument/2006/customXml" ds:itemID="{B5F5DDCE-9B52-44DE-881F-65D7B2E7A9A5}"/>
</file>

<file path=customXml/itemProps3.xml><?xml version="1.0" encoding="utf-8"?>
<ds:datastoreItem xmlns:ds="http://schemas.openxmlformats.org/officeDocument/2006/customXml" ds:itemID="{7D73F456-1BDC-40BF-B633-77F47408E880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0x0101006EE804A92F57AF4588C04108E05A3662</vt:lpwstr>
  </property>
</Properties>
</file>