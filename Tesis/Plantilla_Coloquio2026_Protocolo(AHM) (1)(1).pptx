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87" r:id="rId1"/>
  </p:sldMasterIdLst>
  <p:notesMasterIdLst>
    <p:notesMasterId r:id="rId23"/>
  </p:notesMasterIdLst>
  <p:sldIdLst>
    <p:sldId id="397" r:id="rId2"/>
    <p:sldId id="257" r:id="rId3"/>
    <p:sldId id="398" r:id="rId4"/>
    <p:sldId id="401" r:id="rId5"/>
    <p:sldId id="402" r:id="rId6"/>
    <p:sldId id="413" r:id="rId7"/>
    <p:sldId id="403" r:id="rId8"/>
    <p:sldId id="414" r:id="rId9"/>
    <p:sldId id="415" r:id="rId10"/>
    <p:sldId id="405" r:id="rId11"/>
    <p:sldId id="407" r:id="rId12"/>
    <p:sldId id="408" r:id="rId13"/>
    <p:sldId id="409" r:id="rId14"/>
    <p:sldId id="416" r:id="rId15"/>
    <p:sldId id="417" r:id="rId16"/>
    <p:sldId id="418" r:id="rId17"/>
    <p:sldId id="419" r:id="rId18"/>
    <p:sldId id="420" r:id="rId19"/>
    <p:sldId id="399" r:id="rId20"/>
    <p:sldId id="421" r:id="rId21"/>
    <p:sldId id="400" r:id="rId22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3FD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37"/>
    <p:restoredTop sz="94906"/>
  </p:normalViewPr>
  <p:slideViewPr>
    <p:cSldViewPr snapToGrid="0">
      <p:cViewPr varScale="1">
        <p:scale>
          <a:sx n="65" d="100"/>
          <a:sy n="65" d="100"/>
        </p:scale>
        <p:origin x="79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778DD9-5ABD-744A-B787-74BA376A0E46}" type="datetimeFigureOut">
              <a:rPr lang="es-MX" smtClean="0"/>
              <a:t>11/04/2026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3BC9EE-EF15-B44D-AC7E-D22FAE6A8FA7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215207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6520E2-30D0-0EC4-476A-302E966784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DA10B15-064D-0895-B3A1-9A644034BF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1B2C711E-193A-40E9-E986-61D5B7E543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BF62BAB-2368-5DD0-09B7-4445560B58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3BC9EE-EF15-B44D-AC7E-D22FAE6A8FA7}" type="slidenum">
              <a:rPr lang="es-MX" smtClean="0"/>
              <a:t>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316807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ESQUEMA DE COORDINACIÓN:</a:t>
            </a:r>
          </a:p>
          <a:p>
            <a:endParaRPr lang="es-MX" dirty="0"/>
          </a:p>
          <a:p>
            <a:r>
              <a:rPr lang="es-MX" dirty="0"/>
              <a:t>[UAV₁] ↔ [UAV₂] ↔ [UAV₃]</a:t>
            </a:r>
          </a:p>
          <a:p>
            <a:r>
              <a:rPr lang="es-MX" dirty="0"/>
              <a:t>(peer-</a:t>
            </a:r>
            <a:r>
              <a:rPr lang="es-MX" dirty="0" err="1"/>
              <a:t>to</a:t>
            </a:r>
            <a:r>
              <a:rPr lang="es-MX" dirty="0"/>
              <a:t>-peer, sin nodo central)</a:t>
            </a:r>
          </a:p>
          <a:p>
            <a:endParaRPr lang="es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3BC9EE-EF15-B44D-AC7E-D22FAE6A8FA7}" type="slidenum">
              <a:rPr lang="es-MX" smtClean="0"/>
              <a:t>8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62084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Esta tabla no es solo comparativa: es trazabilidad metodológica. Cada limitación identificada proviene de nuestra revisión sistemática PRISMA 2020, y cada contribución diferenciadora responde directamente a una brecha documentada. El hecho de que Mathew et al. haya sido excluido por el criterio E6 no es una debilidad, sino una fortaleza: demuestra que aplicamos filtros rigurosos para mantener el alcance en </a:t>
            </a:r>
            <a:r>
              <a:rPr lang="es-MX" dirty="0" err="1"/>
              <a:t>UAVs</a:t>
            </a:r>
            <a:r>
              <a:rPr lang="es-MX" dirty="0"/>
              <a:t> agrícolas.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3BC9EE-EF15-B44D-AC7E-D22FAE6A8FA7}" type="slidenum">
              <a:rPr lang="es-MX" smtClean="0"/>
              <a:t>9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965149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Estos tres impactos no son independientes: forman una cadena de valor. El aporte científico (hibridación PSO-ACO con convergencia garantizada) habilita el aporte tecnológico (</a:t>
            </a:r>
            <a:r>
              <a:rPr lang="es-MX" dirty="0" err="1"/>
              <a:t>framework</a:t>
            </a:r>
            <a:r>
              <a:rPr lang="es-MX" dirty="0"/>
              <a:t> open-</a:t>
            </a:r>
            <a:r>
              <a:rPr lang="es-MX" dirty="0" err="1"/>
              <a:t>source</a:t>
            </a:r>
            <a:r>
              <a:rPr lang="es-MX" dirty="0"/>
              <a:t> peer-</a:t>
            </a:r>
            <a:r>
              <a:rPr lang="es-MX" dirty="0" err="1"/>
              <a:t>to</a:t>
            </a:r>
            <a:r>
              <a:rPr lang="es-MX" dirty="0"/>
              <a:t>-peer), que a su vez genera el impacto socioeconómico (reducción de tiempo e insumos para pequeños agricultores). Cada eslabón está trazado a brechas documentadas en nuestra revisión sistemática: no estamos proponiendo soluciones en el vacío, sino respondiendo a necesidades reales del campo.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3BC9EE-EF15-B44D-AC7E-D22FAE6A8FA7}" type="slidenum">
              <a:rPr lang="es-MX" smtClean="0"/>
              <a:t>11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754323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Estos objetivos no son una lista genérica: son una ruta trazable. Cada uno responde a brechas documentadas en nuestra revisión sistemática, usa métricas estandarizadas del DRS, y se conecta con </a:t>
            </a:r>
            <a:r>
              <a:rPr lang="es-MX" dirty="0" err="1"/>
              <a:t>AgriSwarm-Bench</a:t>
            </a:r>
            <a:r>
              <a:rPr lang="es-MX" dirty="0"/>
              <a:t> como </a:t>
            </a:r>
            <a:r>
              <a:rPr lang="es-MX" dirty="0" err="1"/>
              <a:t>framework</a:t>
            </a:r>
            <a:r>
              <a:rPr lang="es-MX" dirty="0"/>
              <a:t> base. El objetivo 4, en particular, cierra la brecha más crítica que identificamos: 0/22 estudios primarios validan en hardware UAV agrícola real. Con los 3 drones que ya tenemos disponibles, este protocolo da el paso de la simulación a la realidad.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3BC9EE-EF15-B44D-AC7E-D22FAE6A8FA7}" type="slidenum">
              <a:rPr lang="es-MX" smtClean="0"/>
              <a:t>13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412105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Estos objetivos no son una lista genérica: son una ruta trazable. Cada uno responde a brechas documentadas en nuestra revisión sistemática, usa métricas estandarizadas del DRS, y se conecta con </a:t>
            </a:r>
            <a:r>
              <a:rPr lang="es-MX" dirty="0" err="1"/>
              <a:t>AgriSwarm-Bench</a:t>
            </a:r>
            <a:r>
              <a:rPr lang="es-MX" dirty="0"/>
              <a:t> como </a:t>
            </a:r>
            <a:r>
              <a:rPr lang="es-MX" dirty="0" err="1"/>
              <a:t>framework</a:t>
            </a:r>
            <a:r>
              <a:rPr lang="es-MX" dirty="0"/>
              <a:t> base. El objetivo 4, en particular, cierra la brecha más crítica que identificamos: 0/22 estudios primarios validan en hardware UAV agrícola real. Con los 3 drones que ya tenemos disponibles, este protocolo da el paso de la simulación a la realidad.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3BC9EE-EF15-B44D-AC7E-D22FAE6A8FA7}" type="slidenum">
              <a:rPr lang="es-MX" smtClean="0"/>
              <a:t>14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896749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Estos objetivos no son una lista genérica: son una ruta trazable. Cada uno responde a brechas documentadas en nuestra revisión sistemática, usa métricas estandarizadas del DRS, y se conecta con </a:t>
            </a:r>
            <a:r>
              <a:rPr lang="es-MX" dirty="0" err="1"/>
              <a:t>AgriSwarm-Bench</a:t>
            </a:r>
            <a:r>
              <a:rPr lang="es-MX" dirty="0"/>
              <a:t> como </a:t>
            </a:r>
            <a:r>
              <a:rPr lang="es-MX" dirty="0" err="1"/>
              <a:t>framework</a:t>
            </a:r>
            <a:r>
              <a:rPr lang="es-MX" dirty="0"/>
              <a:t> base. El objetivo 4, en particular, cierra la brecha más crítica que identificamos: 0/22 estudios primarios validan en hardware UAV agrícola real. Con los 3 drones que ya tenemos disponibles, este protocolo da el paso de la simulación a la realidad.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3BC9EE-EF15-B44D-AC7E-D22FAE6A8FA7}" type="slidenum">
              <a:rPr lang="es-MX" smtClean="0"/>
              <a:t>15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661008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Estos objetivos no son una lista genérica: son una ruta trazable. Cada uno responde a brechas documentadas en nuestra revisión sistemática, usa métricas estandarizadas del DRS, y se conecta con </a:t>
            </a:r>
            <a:r>
              <a:rPr lang="es-MX" dirty="0" err="1"/>
              <a:t>AgriSwarm-Bench</a:t>
            </a:r>
            <a:r>
              <a:rPr lang="es-MX" dirty="0"/>
              <a:t> como </a:t>
            </a:r>
            <a:r>
              <a:rPr lang="es-MX" dirty="0" err="1"/>
              <a:t>framework</a:t>
            </a:r>
            <a:r>
              <a:rPr lang="es-MX" dirty="0"/>
              <a:t> base. El objetivo 4, en particular, cierra la brecha más crítica que identificamos: 0/22 estudios primarios validan en hardware UAV agrícola real. Con los 3 drones que ya tenemos disponibles, este protocolo da el paso de la simulación a la realidad.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3BC9EE-EF15-B44D-AC7E-D22FAE6A8FA7}" type="slidenum">
              <a:rPr lang="es-MX" smtClean="0"/>
              <a:t>16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281611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Estos objetivos no son una lista genérica: son una ruta trazable. Cada uno responde a brechas documentadas en nuestra revisión sistemática, usa métricas estandarizadas del DRS, y se conecta con </a:t>
            </a:r>
            <a:r>
              <a:rPr lang="es-MX" dirty="0" err="1"/>
              <a:t>AgriSwarm-Bench</a:t>
            </a:r>
            <a:r>
              <a:rPr lang="es-MX" dirty="0"/>
              <a:t> como </a:t>
            </a:r>
            <a:r>
              <a:rPr lang="es-MX" dirty="0" err="1"/>
              <a:t>framework</a:t>
            </a:r>
            <a:r>
              <a:rPr lang="es-MX" dirty="0"/>
              <a:t> base. El objetivo 4, en particular, cierra la brecha más crítica que identificamos: 0/22 estudios primarios validan en hardware UAV agrícola real. Con los 3 drones que ya tenemos disponibles, este protocolo da el paso de la simulación a la realidad.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3BC9EE-EF15-B44D-AC7E-D22FAE6A8FA7}" type="slidenum">
              <a:rPr lang="es-MX" smtClean="0"/>
              <a:t>17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141955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Este </a:t>
            </a:r>
            <a:r>
              <a:rPr lang="es-MX" dirty="0" err="1"/>
              <a:t>roadmap</a:t>
            </a:r>
            <a:r>
              <a:rPr lang="es-MX" dirty="0"/>
              <a:t> no es una lista de tareas: es una ruta trazable. Cada fase responde a brechas documentadas en nuestra revisión sistemática, usa herramientas reproducibles (ROS 2, PX4, Python), y genera entregables que alimentan publicaciones Q1. La Fase 5, en particular, cierra la brecha más crítica que identificamos: 0/22 estudios primarios validan en hardware UAV agrícola real. Con los 3 drones que ya tenemos, este protocolo da el paso de la simulación a la realidad —con métricas cuantificables, análisis estadístico riguroso y transferencia concreta al campo.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3BC9EE-EF15-B44D-AC7E-D22FAE6A8FA7}" type="slidenum">
              <a:rPr lang="es-MX" smtClean="0"/>
              <a:t>18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470366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Estas 10 referencias no son una lista aleatoria: son los pilares que sostienen este protocolo. Los fundamentos teóricos de </a:t>
            </a:r>
            <a:r>
              <a:rPr lang="es-MX" dirty="0" err="1"/>
              <a:t>Dorigo</a:t>
            </a:r>
            <a:r>
              <a:rPr lang="es-MX" dirty="0"/>
              <a:t> y Kennedy justifican la hibridación PSO-ACO; el estado del arte de Chen, Puente-Castro y otros muestra dónde estamos parados; y el contexto agrícola de Zhang y FAO ancla la aplicación en necesidades reales. La referencia de Mathew, aunque excluida por el criterio E6, es útil como punto de comparación: nos permite mostrar cómo nuestro protocolo avanza más allá de plataformas terrestres hacia </a:t>
            </a:r>
            <a:r>
              <a:rPr lang="es-MX" dirty="0" err="1"/>
              <a:t>UAVs</a:t>
            </a:r>
            <a:r>
              <a:rPr lang="es-MX" dirty="0"/>
              <a:t> agrícolas reales. Y lo más importante: todo esto es reproducible.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3BC9EE-EF15-B44D-AC7E-D22FAE6A8FA7}" type="slidenum">
              <a:rPr lang="es-MX" smtClean="0"/>
              <a:t>20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3987063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64E1E9-32D6-81B0-AE3D-A72E03EE53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B684FBB-D953-AD37-A696-F85E2DB553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BB44967-6C3C-5965-A33B-5EEE5ABA77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Para cerrar: este protocolo no es solo un plan de tesis; es una invitación. Una invitación a construir, juntos, el puente entre la simulación y la realidad en </a:t>
            </a:r>
            <a:r>
              <a:rPr lang="es-MX" dirty="0" err="1"/>
              <a:t>UAVs</a:t>
            </a:r>
            <a:r>
              <a:rPr lang="es-MX" dirty="0"/>
              <a:t> agrícolas. Los fundamentos bio-inspirados de PSO y ACO nos muestran que la inteligencia colectiva no requiere un líder central; y nuestro trabajo demuestra que la coordinación descentralizada peer-</a:t>
            </a:r>
            <a:r>
              <a:rPr lang="es-MX" dirty="0" err="1"/>
              <a:t>to</a:t>
            </a:r>
            <a:r>
              <a:rPr lang="es-MX" dirty="0"/>
              <a:t>-peer es viable, escalable y aplicable al campo real. Gracias por su atención 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CAF39AB-F464-75E9-6EA6-3C54AD093A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3BC9EE-EF15-B44D-AC7E-D22FAE6A8FA7}" type="slidenum">
              <a:rPr lang="es-MX" smtClean="0"/>
              <a:t>21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616554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B8136-4330-4480-80D9-0F6FD9706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6072" y="1124712"/>
            <a:ext cx="11036808" cy="3172968"/>
          </a:xfrm>
        </p:spPr>
        <p:txBody>
          <a:bodyPr anchor="b">
            <a:normAutofit/>
          </a:bodyPr>
          <a:lstStyle>
            <a:lvl1pPr algn="l">
              <a:defRPr sz="8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E5739-DD96-45FB-B609-3E3447A52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4727448"/>
            <a:ext cx="11036808" cy="1481328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FF558-51F9-42A2-9944-DBE23DA8B2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6072" y="6356350"/>
            <a:ext cx="2743200" cy="365125"/>
          </a:xfrm>
        </p:spPr>
        <p:txBody>
          <a:bodyPr/>
          <a:lstStyle/>
          <a:p>
            <a:fld id="{AA94848C-5958-7549-A310-CC0499CC039D}" type="datetime1">
              <a:rPr lang="es-MX" smtClean="0"/>
              <a:t>11/04/2026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C0E86-A7F7-4BDC-A637-254E5252D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10ADE-E9DA-4E57-BF57-1CCB65219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9680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06CE56-3881-4ADA-8CEF-D18B02C242A3}"/>
              </a:ext>
            </a:extLst>
          </p:cNvPr>
          <p:cNvSpPr/>
          <p:nvPr/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F3C543-62EC-4433-9C93-A2CD8764E9B4}"/>
              </a:ext>
            </a:extLst>
          </p:cNvPr>
          <p:cNvSpPr/>
          <p:nvPr/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941480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6FBB9D-1CAA-4D05-AB33-BABDFE17B843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27B71-B4B6-4823-80A1-68C40B475118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10168128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89C58C96-3117-BA43-B87B-A1196FEEC825}" type="datetime1">
              <a:rPr lang="es-MX" smtClean="0"/>
              <a:t>11/04/2026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4569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5AEDC5C-2E87-49C6-AB07-A95E5F39ED8E}"/>
              </a:ext>
            </a:extLst>
          </p:cNvPr>
          <p:cNvSpPr/>
          <p:nvPr/>
        </p:nvSpPr>
        <p:spPr>
          <a:xfrm>
            <a:off x="558210" y="4981421"/>
            <a:ext cx="11134956" cy="82296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7D88DE-E462-4C8A-BF99-609390DFB781}"/>
              </a:ext>
            </a:extLst>
          </p:cNvPr>
          <p:cNvSpPr/>
          <p:nvPr/>
        </p:nvSpPr>
        <p:spPr>
          <a:xfrm>
            <a:off x="498834" y="5118581"/>
            <a:ext cx="146304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640080"/>
            <a:ext cx="10890504" cy="4114800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5102352"/>
            <a:ext cx="10607040" cy="585216"/>
          </a:xfrm>
        </p:spPr>
        <p:txBody>
          <a:bodyPr anchor="ctr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BFA7D-4401-4285-802B-1579165F0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CA204-EBA4-5645-9BC0-D57BF73792DA}" type="datetime1">
              <a:rPr lang="es-MX" smtClean="0"/>
              <a:t>11/04/2026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909C5-AA19-4195-8376-9002D5DF4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C3F32-46E0-47C8-8565-5969A475F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7685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76262E-36A0-40C6-ADE6-90CD9FB9B9EA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2677A9B-4D1D-4D80-912C-24570140A650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DC8C98-510F-48C9-82B2-9E4F760A68DF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078AE-0BC3-48F9-87EC-2DB0CCE7E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A20DF-0829-4336-B59F-FF9D7AA9D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5568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5D01C-CF67-4DF6-B96C-FFC9D5BF8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5936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BD797-6031-4F82-8726-EAB757027F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47350FD3-F4AA-3D43-AC64-009DBA2A7522}" type="datetime1">
              <a:rPr lang="es-MX" smtClean="0"/>
              <a:t>11/04/2026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3F71C-B897-4909-A75E-8716AD49C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8BC14-5BB1-405F-A6F3-C07230F0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9305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99500CE-917A-4D03-A7DF-71D8EBBC1537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5568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5568" y="3203688"/>
            <a:ext cx="4937760" cy="29685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5936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5936" y="3203687"/>
            <a:ext cx="4937760" cy="296851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351D79B8-92E3-E94E-AD42-6CDD9C78F84E}" type="datetime1">
              <a:rPr lang="es-MX" smtClean="0"/>
              <a:t>11/04/2026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0045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0689C4-0DB3-408B-A956-40326B4AE4C4}"/>
              </a:ext>
            </a:extLst>
          </p:cNvPr>
          <p:cNvSpPr/>
          <p:nvPr/>
        </p:nvSpPr>
        <p:spPr>
          <a:xfrm>
            <a:off x="665853" y="1533525"/>
            <a:ext cx="10917063" cy="379095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E1D10E-1C30-41BF-8C3B-C460C9B5597B}"/>
              </a:ext>
            </a:extLst>
          </p:cNvPr>
          <p:cNvSpPr/>
          <p:nvPr/>
        </p:nvSpPr>
        <p:spPr>
          <a:xfrm>
            <a:off x="609084" y="2971798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454F2-0EE5-4888-AF4C-82F825E6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938528"/>
            <a:ext cx="10177272" cy="2990088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91241-A315-4643-91E5-CF2C25CC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D180B-76C6-7446-8625-DB6098549E00}" type="datetime1">
              <a:rPr lang="es-MX" smtClean="0"/>
              <a:t>11/04/2026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706D86-5479-487D-94C8-76093D84F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39411-CED6-43D4-868D-A65C4161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71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C447E0-1D4D-4EF2-B81B-4B2400EE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678AC-E59D-F24F-A4F9-86EB616E687E}" type="datetime1">
              <a:rPr lang="es-MX" smtClean="0"/>
              <a:t>11/04/2026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984CA0-2A78-4600-9F3D-19B09E79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40955-B18E-49D3-AE7B-B331200E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6063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FA417FE-CD1A-486F-A4AC-E4000A2FB18E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18F0F5-812B-472C-9408-B80F2553F5E0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F7751B-CD8F-4F5B-A903-1DCE5D1E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55C8A-A0BB-441D-976F-EB56D4382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192" y="1709928"/>
            <a:ext cx="6729984" cy="4096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E6A51-A2E5-4BFA-B571-9FDFE1BBF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29000"/>
            <a:ext cx="3099816" cy="206654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92778A-DD4C-4651-9C53-8B0C44CD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4AAB02A4-D8DB-4843-916B-7D2F0BF5B04E}" type="datetime1">
              <a:rPr lang="es-MX" smtClean="0"/>
              <a:t>11/04/2026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C7F66-2DFA-4146-BE1A-CE2890FE4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5D185-B1B6-4D62-81BE-BE82C80A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8250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68B77B5-211C-456E-B79F-306CC3619347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63C338-194D-4F23-ABEC-60A7EA96F302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C04DCC-0E3E-4F05-9FAC-9FA6CA4B2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A29649-B19F-499E-8E9A-3577EAC8F0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65192" y="1161288"/>
            <a:ext cx="6729984" cy="4645152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9EF2E-A8CD-41A1-B11A-0D8842797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38144"/>
            <a:ext cx="3099816" cy="20574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257B5-0DE0-401F-9171-E8687A97DB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2A7AE4FC-CC9A-A741-B131-301DCD099DC9}" type="datetime1">
              <a:rPr lang="es-MX" smtClean="0"/>
              <a:t>11/04/2026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CD9AD-D667-4FD4-AA34-428AA0BCD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70FB6-F273-4BA6-8B97-9835AC53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1585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32C18-E430-4EC7-BD7C-99D86D012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C5012F-7119-4D94-9717-3862E1C93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D9A4A-D287-4207-9037-70DB007A1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EDC4B-C2E8-3347-A435-65F27EE63B4D}" type="datetime1">
              <a:rPr lang="es-MX" smtClean="0"/>
              <a:t>11/04/2026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CFCAC-80DB-43BB-B3F1-AC22BACEE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79730-3487-4D94-A0DC-C21684963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7775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43C89D-929E-4CD1-BCCC-72A14C0335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D450EA-A577-4B76-A12F-650BEB20F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2603B-9ACE-4FA9-805B-9B91EB63D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130391-6AFF-504D-9957-9D7F28D68041}" type="datetime1">
              <a:rPr lang="es-MX" smtClean="0"/>
              <a:t>11/04/2026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E18AC-D6A9-4A61-885D-68E2B684A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97AE4-AA47-4E14-8FFE-171FAE47F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5471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325BDE-35A4-4AAD-960B-C1415864A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59C78-0CC4-4552-93DD-49B4194D0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4A3C-9C54-46A6-B3EF-5B3636242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192138-F2FB-AC46-91F1-D3DBD155C0ED}" type="datetime1">
              <a:rPr lang="es-MX" smtClean="0"/>
              <a:t>11/04/2026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5A696-7B4B-4181-A961-7D66556D5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38CB5-8F4A-401D-A3A9-B27DC15B7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8259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4" Type="http://schemas.openxmlformats.org/officeDocument/2006/relationships/image" Target="../media/image2.png"/><Relationship Id="rId9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4" Type="http://schemas.openxmlformats.org/officeDocument/2006/relationships/image" Target="../media/image2.png"/><Relationship Id="rId9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910FCE-DBF2-4016-5656-32CE10B39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upo 21">
            <a:extLst>
              <a:ext uri="{FF2B5EF4-FFF2-40B4-BE49-F238E27FC236}">
                <a16:creationId xmlns:a16="http://schemas.microsoft.com/office/drawing/2014/main" id="{A3961C7F-F340-67FD-5A86-C224DFBFAC0F}"/>
              </a:ext>
            </a:extLst>
          </p:cNvPr>
          <p:cNvGrpSpPr/>
          <p:nvPr/>
        </p:nvGrpSpPr>
        <p:grpSpPr>
          <a:xfrm>
            <a:off x="1" y="227807"/>
            <a:ext cx="12192000" cy="6630193"/>
            <a:chOff x="1" y="227807"/>
            <a:chExt cx="12192000" cy="6630193"/>
          </a:xfrm>
        </p:grpSpPr>
        <p:pic>
          <p:nvPicPr>
            <p:cNvPr id="6" name="Imagen 5">
              <a:extLst>
                <a:ext uri="{FF2B5EF4-FFF2-40B4-BE49-F238E27FC236}">
                  <a16:creationId xmlns:a16="http://schemas.microsoft.com/office/drawing/2014/main" id="{2E434F39-943B-6C1B-9350-108EC5BAC47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23046" b="4033"/>
            <a:stretch>
              <a:fillRect/>
            </a:stretch>
          </p:blipFill>
          <p:spPr>
            <a:xfrm>
              <a:off x="1" y="1072968"/>
              <a:ext cx="12192000" cy="5785032"/>
            </a:xfrm>
            <a:prstGeom prst="rect">
              <a:avLst/>
            </a:prstGeom>
          </p:spPr>
        </p:pic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037613E4-4653-65D0-B12A-8F31013BF34D}"/>
                </a:ext>
              </a:extLst>
            </p:cNvPr>
            <p:cNvSpPr/>
            <p:nvPr/>
          </p:nvSpPr>
          <p:spPr>
            <a:xfrm>
              <a:off x="5791200" y="2481943"/>
              <a:ext cx="6400799" cy="1981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grpSp>
          <p:nvGrpSpPr>
            <p:cNvPr id="8" name="Grupo 7">
              <a:extLst>
                <a:ext uri="{FF2B5EF4-FFF2-40B4-BE49-F238E27FC236}">
                  <a16:creationId xmlns:a16="http://schemas.microsoft.com/office/drawing/2014/main" id="{07D6F16C-3C4E-0600-2A10-6DAA5CFC6AEB}"/>
                </a:ext>
              </a:extLst>
            </p:cNvPr>
            <p:cNvGrpSpPr/>
            <p:nvPr/>
          </p:nvGrpSpPr>
          <p:grpSpPr>
            <a:xfrm>
              <a:off x="6004101" y="227807"/>
              <a:ext cx="5974995" cy="653936"/>
              <a:chOff x="121005" y="153829"/>
              <a:chExt cx="5974995" cy="653936"/>
            </a:xfrm>
            <a:noFill/>
          </p:grpSpPr>
          <p:pic>
            <p:nvPicPr>
              <p:cNvPr id="9" name="Imagen 8">
                <a:extLst>
                  <a:ext uri="{FF2B5EF4-FFF2-40B4-BE49-F238E27FC236}">
                    <a16:creationId xmlns:a16="http://schemas.microsoft.com/office/drawing/2014/main" id="{C07B46BC-9687-90C8-2480-3248C7721FF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21005" y="186988"/>
                <a:ext cx="4869740" cy="609409"/>
              </a:xfrm>
              <a:prstGeom prst="rect">
                <a:avLst/>
              </a:prstGeom>
              <a:grpFill/>
            </p:spPr>
          </p:pic>
          <p:pic>
            <p:nvPicPr>
              <p:cNvPr id="10" name="Imagen 9">
                <a:extLst>
                  <a:ext uri="{FF2B5EF4-FFF2-40B4-BE49-F238E27FC236}">
                    <a16:creationId xmlns:a16="http://schemas.microsoft.com/office/drawing/2014/main" id="{D200A757-D3A8-7AA0-A5B5-B4148F71998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>
                <a:clrChange>
                  <a:clrFrom>
                    <a:srgbClr val="FBFBFB"/>
                  </a:clrFrom>
                  <a:clrTo>
                    <a:srgbClr val="FBFBFB">
                      <a:alpha val="0"/>
                    </a:srgbClr>
                  </a:clrTo>
                </a:clrChange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442064" y="153829"/>
                <a:ext cx="653936" cy="653936"/>
              </a:xfrm>
              <a:prstGeom prst="rect">
                <a:avLst/>
              </a:prstGeom>
              <a:grpFill/>
            </p:spPr>
          </p:pic>
          <p:cxnSp>
            <p:nvCxnSpPr>
              <p:cNvPr id="11" name="Conector recto 10">
                <a:extLst>
                  <a:ext uri="{FF2B5EF4-FFF2-40B4-BE49-F238E27FC236}">
                    <a16:creationId xmlns:a16="http://schemas.microsoft.com/office/drawing/2014/main" id="{584FE288-3F83-E490-D047-2F6140319BED}"/>
                  </a:ext>
                </a:extLst>
              </p:cNvPr>
              <p:cNvCxnSpPr/>
              <p:nvPr/>
            </p:nvCxnSpPr>
            <p:spPr>
              <a:xfrm>
                <a:off x="3293806" y="273477"/>
                <a:ext cx="0" cy="414640"/>
              </a:xfrm>
              <a:prstGeom prst="line">
                <a:avLst/>
              </a:prstGeom>
              <a:grpFill/>
              <a:ln w="1905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Conector recto 11">
                <a:extLst>
                  <a:ext uri="{FF2B5EF4-FFF2-40B4-BE49-F238E27FC236}">
                    <a16:creationId xmlns:a16="http://schemas.microsoft.com/office/drawing/2014/main" id="{59401054-DAEE-ACF3-57D8-B10727EF80BE}"/>
                  </a:ext>
                </a:extLst>
              </p:cNvPr>
              <p:cNvCxnSpPr/>
              <p:nvPr/>
            </p:nvCxnSpPr>
            <p:spPr>
              <a:xfrm>
                <a:off x="5185554" y="268184"/>
                <a:ext cx="0" cy="414640"/>
              </a:xfrm>
              <a:prstGeom prst="line">
                <a:avLst/>
              </a:prstGeom>
              <a:grpFill/>
              <a:ln w="1905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16" name="Imagen 5">
              <a:extLst>
                <a:ext uri="{FF2B5EF4-FFF2-40B4-BE49-F238E27FC236}">
                  <a16:creationId xmlns:a16="http://schemas.microsoft.com/office/drawing/2014/main" id="{425AA1E5-A3C8-82E1-A05B-53EBE80209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3220" y="6027579"/>
              <a:ext cx="1028682" cy="60940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" name="Imagen 19">
              <a:extLst>
                <a:ext uri="{FF2B5EF4-FFF2-40B4-BE49-F238E27FC236}">
                  <a16:creationId xmlns:a16="http://schemas.microsoft.com/office/drawing/2014/main" id="{2B66F497-F8D3-1FB4-6A5F-B80AA8BCE25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91902" y="6052737"/>
              <a:ext cx="3350810" cy="805263"/>
            </a:xfrm>
            <a:prstGeom prst="rect">
              <a:avLst/>
            </a:prstGeom>
          </p:spPr>
        </p:pic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7780FF67-78DB-16F2-E1EA-26F4A7E7E7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6114" y="988654"/>
            <a:ext cx="10515974" cy="1725142"/>
          </a:xfrm>
        </p:spPr>
        <p:txBody>
          <a:bodyPr anchor="b">
            <a:noAutofit/>
          </a:bodyPr>
          <a:lstStyle/>
          <a:p>
            <a:pPr algn="ctr"/>
            <a:r>
              <a:rPr lang="es-MX" sz="2800" dirty="0"/>
              <a:t>“COORDINACIÓN DESCENTRALIZADA DE FLOTAS HETEROGÉNEAS DE RPAS </a:t>
            </a:r>
            <a:br>
              <a:rPr lang="es-MX" sz="2800" dirty="0"/>
            </a:br>
            <a:r>
              <a:rPr lang="es-MX" sz="2800" dirty="0"/>
              <a:t>MEDIANTE HIBRIDACIÓN PSO-ACO PARA AGRICULTURA DE PRECISIÓN”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8C8F876-658B-6658-BA0B-F3E0033853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86900" y="2945648"/>
            <a:ext cx="6634402" cy="587864"/>
          </a:xfrm>
        </p:spPr>
        <p:txBody>
          <a:bodyPr anchor="t">
            <a:normAutofit/>
          </a:bodyPr>
          <a:lstStyle/>
          <a:p>
            <a:r>
              <a:rPr lang="es-MX" sz="2000" dirty="0"/>
              <a:t>PROTOCOLO DE INVESTIGACIÓN QUE PRESENTA:  </a:t>
            </a:r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5D5842E7-1F53-09EE-0C6B-446A09DDD80F}"/>
              </a:ext>
            </a:extLst>
          </p:cNvPr>
          <p:cNvSpPr txBox="1">
            <a:spLocks/>
          </p:cNvSpPr>
          <p:nvPr/>
        </p:nvSpPr>
        <p:spPr>
          <a:xfrm>
            <a:off x="3788139" y="3668913"/>
            <a:ext cx="4431923" cy="73455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0000" lnSpcReduction="20000"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2000" dirty="0"/>
              <a:t> </a:t>
            </a:r>
            <a:r>
              <a:rPr lang="es-MX" sz="2500" dirty="0"/>
              <a:t>ANDRES HIDALGO MORALES</a:t>
            </a:r>
          </a:p>
          <a:p>
            <a:pPr algn="ctr"/>
            <a:r>
              <a:rPr lang="es-MX" sz="2500" dirty="0"/>
              <a:t>+ ORCID: 0000-0002-1074-9395</a:t>
            </a:r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318DE691-FAFA-4C47-E583-1E7AB711A10B}"/>
              </a:ext>
            </a:extLst>
          </p:cNvPr>
          <p:cNvCxnSpPr/>
          <p:nvPr/>
        </p:nvCxnSpPr>
        <p:spPr>
          <a:xfrm>
            <a:off x="1894518" y="3520695"/>
            <a:ext cx="9095145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Subtítulo 2">
            <a:extLst>
              <a:ext uri="{FF2B5EF4-FFF2-40B4-BE49-F238E27FC236}">
                <a16:creationId xmlns:a16="http://schemas.microsoft.com/office/drawing/2014/main" id="{86E9AE63-38AC-EAAB-17CE-9CFB7D802E0D}"/>
              </a:ext>
            </a:extLst>
          </p:cNvPr>
          <p:cNvSpPr txBox="1">
            <a:spLocks/>
          </p:cNvSpPr>
          <p:nvPr/>
        </p:nvSpPr>
        <p:spPr>
          <a:xfrm>
            <a:off x="1894519" y="4416279"/>
            <a:ext cx="8481382" cy="1319251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2000" dirty="0"/>
              <a:t> PROGRAMA (DOCTORADO EN CIENCIAS DE LA INGENIERÍA)</a:t>
            </a:r>
          </a:p>
          <a:p>
            <a:pPr algn="ctr"/>
            <a:r>
              <a:rPr lang="es-MX" sz="2000" dirty="0"/>
              <a:t>+ Instituto Tecnológico de Chihuahua II, TecNM</a:t>
            </a:r>
          </a:p>
          <a:p>
            <a:pPr algn="ctr"/>
            <a:r>
              <a:rPr lang="es-MX" sz="2000" dirty="0"/>
              <a:t>  SEMINARIO I DE INVESTIGACIÓN</a:t>
            </a:r>
          </a:p>
        </p:txBody>
      </p:sp>
      <p:sp>
        <p:nvSpPr>
          <p:cNvPr id="25" name="Subtítulo 2">
            <a:extLst>
              <a:ext uri="{FF2B5EF4-FFF2-40B4-BE49-F238E27FC236}">
                <a16:creationId xmlns:a16="http://schemas.microsoft.com/office/drawing/2014/main" id="{D5578CC8-FF13-617C-1F7A-FFC621818000}"/>
              </a:ext>
            </a:extLst>
          </p:cNvPr>
          <p:cNvSpPr txBox="1">
            <a:spLocks/>
          </p:cNvSpPr>
          <p:nvPr/>
        </p:nvSpPr>
        <p:spPr>
          <a:xfrm>
            <a:off x="8265343" y="6349284"/>
            <a:ext cx="1823118" cy="38065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s-MX" sz="1600" dirty="0"/>
              <a:t>Febrero 2026</a:t>
            </a: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AC95AA87-8E2B-B1DA-8D3F-EBA38D05B5A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243569" y="5927450"/>
            <a:ext cx="1492187" cy="738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6509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84ECDE7A-6944-466D-8FFE-149A29BA6B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33" name="Rectangle 1032">
            <a:extLst>
              <a:ext uri="{FF2B5EF4-FFF2-40B4-BE49-F238E27FC236}">
                <a16:creationId xmlns:a16="http://schemas.microsoft.com/office/drawing/2014/main" id="{B3420082-9415-44EC-802E-C77D71D59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35" name="Rectangle 1034">
            <a:extLst>
              <a:ext uri="{FF2B5EF4-FFF2-40B4-BE49-F238E27FC236}">
                <a16:creationId xmlns:a16="http://schemas.microsoft.com/office/drawing/2014/main" id="{55A52C45-1FCB-4636-A80F-2849B8226C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31DC89D-3BE9-0143-5B83-19E3A13E2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s-MX" dirty="0"/>
              <a:t>CONTENIDO</a:t>
            </a:r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768EB4DD-3704-43AD-92B3-C4E0C6EA92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70799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0756E5F-7EFA-6748-AAA2-F1EB59066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2</a:t>
            </a:fld>
            <a:endParaRPr lang="en-US"/>
          </a:p>
        </p:txBody>
      </p:sp>
      <p:sp>
        <p:nvSpPr>
          <p:cNvPr id="9" name="Shape 1">
            <a:extLst>
              <a:ext uri="{FF2B5EF4-FFF2-40B4-BE49-F238E27FC236}">
                <a16:creationId xmlns:a16="http://schemas.microsoft.com/office/drawing/2014/main" id="{36F641E1-394B-45A3-42C6-F2C8D9B229DE}"/>
              </a:ext>
            </a:extLst>
          </p:cNvPr>
          <p:cNvSpPr/>
          <p:nvPr/>
        </p:nvSpPr>
        <p:spPr>
          <a:xfrm>
            <a:off x="566928" y="2160961"/>
            <a:ext cx="11155680" cy="4247317"/>
          </a:xfrm>
          <a:prstGeom prst="roundRect">
            <a:avLst>
              <a:gd name="adj" fmla="val 792"/>
            </a:avLst>
          </a:prstGeom>
          <a:solidFill>
            <a:srgbClr val="F9F7F7"/>
          </a:solidFill>
          <a:ln/>
        </p:spPr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ACE92F-CFE0-B73F-AE1F-1247BE5920DD}"/>
              </a:ext>
            </a:extLst>
          </p:cNvPr>
          <p:cNvSpPr txBox="1"/>
          <p:nvPr/>
        </p:nvSpPr>
        <p:spPr>
          <a:xfrm>
            <a:off x="728221" y="2160961"/>
            <a:ext cx="9095144" cy="4247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s-MX"/>
            </a:defPPr>
            <a:lvl1pPr indent="0">
              <a:lnSpc>
                <a:spcPts val="2500"/>
              </a:lnSpc>
              <a:buNone/>
              <a:defRPr b="1">
                <a:latin typeface="Segoe UI Emoji" panose="020B0502040204020203" pitchFamily="34" charset="0"/>
                <a:ea typeface="Segoe UI Emoji" panose="020B0502040204020203" pitchFamily="34" charset="0"/>
              </a:defRPr>
            </a:lvl1pPr>
          </a:lstStyle>
          <a:p>
            <a:r>
              <a:rPr lang="es-MX" sz="2000" dirty="0"/>
              <a:t> 01 Introducción</a:t>
            </a:r>
          </a:p>
          <a:p>
            <a:r>
              <a:rPr lang="es-MX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+   → Contextualizar la demanda agrícola y la brecha de coordinación descentralizada</a:t>
            </a:r>
          </a:p>
          <a:p>
            <a:endParaRPr lang="es-MX" sz="2000" dirty="0"/>
          </a:p>
          <a:p>
            <a:r>
              <a:rPr lang="es-MX" sz="2000" dirty="0"/>
              <a:t>  02 Justificación diferenciada</a:t>
            </a:r>
          </a:p>
          <a:p>
            <a:r>
              <a:rPr lang="es-MX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+   → Demostrar cómo este trabajo supera las limitaciones del estado del arte</a:t>
            </a:r>
          </a:p>
          <a:p>
            <a:endParaRPr lang="es-MX" sz="2000" dirty="0"/>
          </a:p>
          <a:p>
            <a:r>
              <a:rPr lang="es-MX" sz="2000" dirty="0"/>
              <a:t>  03 Objetivos</a:t>
            </a:r>
          </a:p>
          <a:p>
            <a:r>
              <a:rPr lang="es-MX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+   → Alinear cada objetivo con una publicación Q1 potencial</a:t>
            </a:r>
          </a:p>
          <a:p>
            <a:endParaRPr lang="es-MX" sz="2000" dirty="0"/>
          </a:p>
          <a:p>
            <a:r>
              <a:rPr lang="es-MX" sz="2000" dirty="0"/>
              <a:t>  04 Metodología</a:t>
            </a:r>
          </a:p>
          <a:p>
            <a:r>
              <a:rPr lang="es-MX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+   → Presentar el </a:t>
            </a:r>
            <a:r>
              <a:rPr lang="es-MX" sz="2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roadmap</a:t>
            </a:r>
            <a:r>
              <a:rPr lang="es-MX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faseado: simulación → hardware → transferencia</a:t>
            </a:r>
          </a:p>
          <a:p>
            <a:endParaRPr lang="es-MX" sz="2000" dirty="0"/>
          </a:p>
          <a:p>
            <a:r>
              <a:rPr lang="es-MX" sz="2000" dirty="0"/>
              <a:t>  05 Referencias</a:t>
            </a:r>
          </a:p>
          <a:p>
            <a:r>
              <a:rPr lang="es-MX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+   → Citar solo las 10 fuentes clave que sustentan el protocolo</a:t>
            </a:r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ECB51279-5CE0-BF15-3D6F-EDDBCE428DF6}"/>
              </a:ext>
            </a:extLst>
          </p:cNvPr>
          <p:cNvGrpSpPr/>
          <p:nvPr/>
        </p:nvGrpSpPr>
        <p:grpSpPr>
          <a:xfrm>
            <a:off x="192718" y="6100253"/>
            <a:ext cx="10587332" cy="643238"/>
            <a:chOff x="192718" y="6100253"/>
            <a:chExt cx="10587332" cy="643238"/>
          </a:xfrm>
        </p:grpSpPr>
        <p:cxnSp>
          <p:nvCxnSpPr>
            <p:cNvPr id="7" name="Conector recto 6">
              <a:extLst>
                <a:ext uri="{FF2B5EF4-FFF2-40B4-BE49-F238E27FC236}">
                  <a16:creationId xmlns:a16="http://schemas.microsoft.com/office/drawing/2014/main" id="{D6613B62-DDEF-2678-87A3-C37624F22B86}"/>
                </a:ext>
              </a:extLst>
            </p:cNvPr>
            <p:cNvCxnSpPr/>
            <p:nvPr/>
          </p:nvCxnSpPr>
          <p:spPr>
            <a:xfrm>
              <a:off x="192718" y="6698870"/>
              <a:ext cx="9095145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" name="Imagen 2">
              <a:extLst>
                <a:ext uri="{FF2B5EF4-FFF2-40B4-BE49-F238E27FC236}">
                  <a16:creationId xmlns:a16="http://schemas.microsoft.com/office/drawing/2014/main" id="{66DAF3D6-51A0-89B1-FAD3-F4A58A34015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480581" y="6100253"/>
              <a:ext cx="1299469" cy="64323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792048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BDEAED-3635-3DED-38EC-FCAFD821A9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08CCF12E-8152-2D6C-CD2A-7F185B730A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33" name="Rectangle 1032">
            <a:extLst>
              <a:ext uri="{FF2B5EF4-FFF2-40B4-BE49-F238E27FC236}">
                <a16:creationId xmlns:a16="http://schemas.microsoft.com/office/drawing/2014/main" id="{76F21B76-D4E9-D591-5350-22C2F410A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35" name="Rectangle 1034">
            <a:extLst>
              <a:ext uri="{FF2B5EF4-FFF2-40B4-BE49-F238E27FC236}">
                <a16:creationId xmlns:a16="http://schemas.microsoft.com/office/drawing/2014/main" id="{FD31E280-578B-E469-A130-9AFD96C794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96A4531-DFCF-698A-5974-040D54CD6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s-MX" dirty="0"/>
              <a:t>INTRODUCCIÓN</a:t>
            </a:r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4962ED88-F489-85C2-71D1-27CFF64FDB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70799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DD24C22-AE09-2AE9-C9A7-7119ECB36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3</a:t>
            </a:fld>
            <a:endParaRPr lang="en-US"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911596BB-A399-F947-F81F-0CB13729941D}"/>
              </a:ext>
            </a:extLst>
          </p:cNvPr>
          <p:cNvSpPr/>
          <p:nvPr/>
        </p:nvSpPr>
        <p:spPr>
          <a:xfrm>
            <a:off x="1115568" y="1482645"/>
            <a:ext cx="9187577" cy="637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dirty="0">
                <a:solidFill>
                  <a:srgbClr val="201B18"/>
                </a:solidFill>
                <a:latin typeface="Aptos" panose="020B0004020202020204" pitchFamily="34" charset="0"/>
                <a:ea typeface="Platypi Medium" pitchFamily="34" charset="-122"/>
                <a:cs typeface="Platypi Medium" pitchFamily="34" charset="-120"/>
              </a:rPr>
              <a:t>ANTECEDENTES Y BRECHA CRÍTICA</a:t>
            </a:r>
            <a:endParaRPr lang="en-US" sz="4000" dirty="0">
              <a:latin typeface="Aptos" panose="020B0004020202020204" pitchFamily="34" charset="0"/>
            </a:endParaRPr>
          </a:p>
        </p:txBody>
      </p:sp>
      <p:sp>
        <p:nvSpPr>
          <p:cNvPr id="11" name="Shape 1">
            <a:extLst>
              <a:ext uri="{FF2B5EF4-FFF2-40B4-BE49-F238E27FC236}">
                <a16:creationId xmlns:a16="http://schemas.microsoft.com/office/drawing/2014/main" id="{C6031A07-2083-4B0A-FC68-108C66CB6662}"/>
              </a:ext>
            </a:extLst>
          </p:cNvPr>
          <p:cNvSpPr/>
          <p:nvPr/>
        </p:nvSpPr>
        <p:spPr>
          <a:xfrm>
            <a:off x="566928" y="2160960"/>
            <a:ext cx="11155680" cy="4515303"/>
          </a:xfrm>
          <a:prstGeom prst="roundRect">
            <a:avLst>
              <a:gd name="adj" fmla="val 792"/>
            </a:avLst>
          </a:prstGeom>
          <a:solidFill>
            <a:srgbClr val="F9F7F7"/>
          </a:solidFill>
          <a:ln/>
        </p:spPr>
      </p:sp>
      <p:sp>
        <p:nvSpPr>
          <p:cNvPr id="20" name="Text 5">
            <a:extLst>
              <a:ext uri="{FF2B5EF4-FFF2-40B4-BE49-F238E27FC236}">
                <a16:creationId xmlns:a16="http://schemas.microsoft.com/office/drawing/2014/main" id="{866E8B45-92F0-9372-FCF6-07D5BC3E5A0B}"/>
              </a:ext>
            </a:extLst>
          </p:cNvPr>
          <p:cNvSpPr/>
          <p:nvPr/>
        </p:nvSpPr>
        <p:spPr>
          <a:xfrm>
            <a:off x="566928" y="2232731"/>
            <a:ext cx="11095758" cy="31190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>
              <a:lnSpc>
                <a:spcPts val="2500"/>
              </a:lnSpc>
              <a:buNone/>
            </a:pPr>
            <a:r>
              <a:rPr lang="es-MX" b="1" dirty="0">
                <a:latin typeface="Segoe UI Emoji" panose="020B0502040204020203" pitchFamily="34" charset="0"/>
                <a:ea typeface="Segoe UI Emoji" panose="020B0502040204020203" pitchFamily="34" charset="0"/>
              </a:rPr>
              <a:t>✓ DEMANDA ACTUAL</a:t>
            </a:r>
          </a:p>
          <a:p>
            <a:pPr indent="0">
              <a:lnSpc>
                <a:spcPts val="2500"/>
              </a:lnSpc>
              <a:buNone/>
            </a:pPr>
            <a:r>
              <a:rPr lang="es-MX" dirty="0">
                <a:solidFill>
                  <a:srgbClr val="504C49"/>
                </a:solidFill>
                <a:latin typeface="Segoe UI Emoji" panose="020B0502040204020203" pitchFamily="34" charset="0"/>
                <a:ea typeface="Segoe UI Emoji" panose="020B0502040204020203" pitchFamily="34" charset="0"/>
              </a:rPr>
              <a:t>Agricultura de precisión demanda cobertura eficiente de 5–20 ha con resolución &lt;10 cm </a:t>
            </a:r>
          </a:p>
          <a:p>
            <a:pPr indent="0">
              <a:lnSpc>
                <a:spcPts val="2500"/>
              </a:lnSpc>
              <a:buNone/>
            </a:pPr>
            <a:r>
              <a:rPr lang="es-MX" dirty="0">
                <a:solidFill>
                  <a:srgbClr val="504C49"/>
                </a:solidFill>
                <a:latin typeface="Segoe UI Emoji" panose="020B0502040204020203" pitchFamily="34" charset="0"/>
                <a:ea typeface="Segoe UI Emoji" panose="020B0502040204020203" pitchFamily="34" charset="0"/>
              </a:rPr>
              <a:t>para detección temprana de estrés hídrico.</a:t>
            </a:r>
          </a:p>
          <a:p>
            <a:pPr indent="0">
              <a:lnSpc>
                <a:spcPts val="2500"/>
              </a:lnSpc>
              <a:buNone/>
            </a:pPr>
            <a:endParaRPr lang="es-MX" dirty="0">
              <a:solidFill>
                <a:srgbClr val="504C49"/>
              </a:solidFill>
              <a:latin typeface="Segoe UI Emoji" panose="020B0502040204020203" pitchFamily="34" charset="0"/>
              <a:ea typeface="Segoe UI Emoji" panose="020B0502040204020203" pitchFamily="34" charset="0"/>
            </a:endParaRPr>
          </a:p>
          <a:p>
            <a:pPr indent="0">
              <a:lnSpc>
                <a:spcPts val="2500"/>
              </a:lnSpc>
              <a:buNone/>
            </a:pPr>
            <a:r>
              <a:rPr lang="es-MX" b="1" dirty="0">
                <a:solidFill>
                  <a:srgbClr val="504C49"/>
                </a:solidFill>
                <a:latin typeface="Segoe UI Emoji" panose="020B0502040204020203" pitchFamily="34" charset="0"/>
                <a:ea typeface="Segoe UI Emoji" panose="020B0502040204020203" pitchFamily="34" charset="0"/>
              </a:rPr>
              <a:t>✗ LIMITACIONES ACTUALES</a:t>
            </a:r>
          </a:p>
          <a:p>
            <a:pPr indent="0">
              <a:lnSpc>
                <a:spcPts val="2500"/>
              </a:lnSpc>
              <a:buNone/>
            </a:pPr>
            <a:r>
              <a:rPr lang="es-MX" dirty="0">
                <a:solidFill>
                  <a:srgbClr val="504C49"/>
                </a:solidFill>
                <a:latin typeface="Segoe UI Emoji" panose="020B0502040204020203" pitchFamily="34" charset="0"/>
                <a:ea typeface="Segoe UI Emoji" panose="020B0502040204020203" pitchFamily="34" charset="0"/>
              </a:rPr>
              <a:t>Identificadas en revisión sistemática PRISMA 2020 (29 estudios, 2021–2025):</a:t>
            </a:r>
          </a:p>
          <a:p>
            <a:pPr indent="0">
              <a:lnSpc>
                <a:spcPts val="2500"/>
              </a:lnSpc>
              <a:buNone/>
            </a:pPr>
            <a:r>
              <a:rPr lang="es-MX" dirty="0">
                <a:solidFill>
                  <a:srgbClr val="504C49"/>
                </a:solidFill>
                <a:latin typeface="Segoe UI Emoji" panose="020B0502040204020203" pitchFamily="34" charset="0"/>
                <a:ea typeface="Segoe UI Emoji" panose="020B0502040204020203" pitchFamily="34" charset="0"/>
              </a:rPr>
              <a:t>• Planificación CENTRALIZADA → punto único de fallo.</a:t>
            </a:r>
          </a:p>
          <a:p>
            <a:pPr indent="0">
              <a:lnSpc>
                <a:spcPts val="2500"/>
              </a:lnSpc>
              <a:buNone/>
            </a:pPr>
            <a:r>
              <a:rPr lang="es-MX" dirty="0">
                <a:solidFill>
                  <a:srgbClr val="504C49"/>
                </a:solidFill>
                <a:latin typeface="Segoe UI Emoji" panose="020B0502040204020203" pitchFamily="34" charset="0"/>
                <a:ea typeface="Segoe UI Emoji" panose="020B0502040204020203" pitchFamily="34" charset="0"/>
              </a:rPr>
              <a:t>• Flotas HOMOGÉNEAS → ineficiencia en asignación según capacidades reales.</a:t>
            </a:r>
          </a:p>
          <a:p>
            <a:pPr indent="0">
              <a:lnSpc>
                <a:spcPts val="2500"/>
              </a:lnSpc>
              <a:buNone/>
            </a:pPr>
            <a:r>
              <a:rPr lang="es-MX" dirty="0">
                <a:solidFill>
                  <a:srgbClr val="504C49"/>
                </a:solidFill>
                <a:latin typeface="Segoe UI Emoji" panose="020B0502040204020203" pitchFamily="34" charset="0"/>
                <a:ea typeface="Segoe UI Emoji" panose="020B0502040204020203" pitchFamily="34" charset="0"/>
              </a:rPr>
              <a:t>• Algoritmos AISLADOS → PSO converge prematuramente en entornos dinámicos; </a:t>
            </a:r>
          </a:p>
          <a:p>
            <a:pPr indent="0">
              <a:lnSpc>
                <a:spcPts val="2500"/>
              </a:lnSpc>
              <a:buNone/>
            </a:pPr>
            <a:r>
              <a:rPr lang="es-MX" dirty="0">
                <a:solidFill>
                  <a:srgbClr val="504C49"/>
                </a:solidFill>
                <a:latin typeface="Segoe UI Emoji" panose="020B0502040204020203" pitchFamily="34" charset="0"/>
                <a:ea typeface="Segoe UI Emoji" panose="020B0502040204020203" pitchFamily="34" charset="0"/>
              </a:rPr>
              <a:t>  ACO genera rutas subóptimas sin guía global.</a:t>
            </a:r>
          </a:p>
          <a:p>
            <a:pPr indent="0">
              <a:lnSpc>
                <a:spcPts val="2500"/>
              </a:lnSpc>
              <a:buNone/>
            </a:pPr>
            <a:r>
              <a:rPr lang="es-MX" dirty="0">
                <a:solidFill>
                  <a:srgbClr val="504C49"/>
                </a:solidFill>
                <a:latin typeface="Segoe UI Emoji" panose="020B0502040204020203" pitchFamily="34" charset="0"/>
                <a:ea typeface="Segoe UI Emoji" panose="020B0502040204020203" pitchFamily="34" charset="0"/>
              </a:rPr>
              <a:t>  → Gap metodológico: "Ausencia de criterios estandarizados de convergencia"</a:t>
            </a:r>
          </a:p>
          <a:p>
            <a:pPr indent="0">
              <a:lnSpc>
                <a:spcPts val="2500"/>
              </a:lnSpc>
              <a:buNone/>
            </a:pPr>
            <a:endParaRPr lang="es-MX" dirty="0">
              <a:solidFill>
                <a:srgbClr val="504C49"/>
              </a:solidFill>
              <a:latin typeface="Segoe UI Emoji" panose="020B0502040204020203" pitchFamily="34" charset="0"/>
              <a:ea typeface="Segoe UI Emoji" panose="020B0502040204020203" pitchFamily="34" charset="0"/>
            </a:endParaRPr>
          </a:p>
          <a:p>
            <a:pPr indent="0">
              <a:lnSpc>
                <a:spcPts val="2500"/>
              </a:lnSpc>
              <a:buNone/>
            </a:pPr>
            <a:r>
              <a:rPr lang="es-MX" b="1" dirty="0">
                <a:solidFill>
                  <a:srgbClr val="504C49"/>
                </a:solidFill>
                <a:latin typeface="Segoe UI Emoji" panose="020B0502040204020203" pitchFamily="34" charset="0"/>
                <a:ea typeface="Segoe UI Emoji" panose="020B0502040204020203" pitchFamily="34" charset="0"/>
              </a:rPr>
              <a:t>EVIDENCIA CUANTITATIVA (22 estudios primarios):</a:t>
            </a:r>
          </a:p>
          <a:p>
            <a:pPr indent="0">
              <a:lnSpc>
                <a:spcPts val="2500"/>
              </a:lnSpc>
              <a:buNone/>
            </a:pPr>
            <a:r>
              <a:rPr lang="es-MX" dirty="0">
                <a:solidFill>
                  <a:srgbClr val="504C49"/>
                </a:solidFill>
                <a:latin typeface="Segoe UI Emoji" panose="020B0502040204020203" pitchFamily="34" charset="0"/>
                <a:ea typeface="Segoe UI Emoji" panose="020B0502040204020203" pitchFamily="34" charset="0"/>
              </a:rPr>
              <a:t>100% simulación | 0% validación hardware UAV agrícola</a:t>
            </a:r>
            <a:endParaRPr lang="en-US" dirty="0">
              <a:solidFill>
                <a:srgbClr val="504C49"/>
              </a:solidFill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5BB0B7C3-EA05-FC77-CEEC-21AB4F624BF1}"/>
              </a:ext>
            </a:extLst>
          </p:cNvPr>
          <p:cNvGrpSpPr/>
          <p:nvPr/>
        </p:nvGrpSpPr>
        <p:grpSpPr>
          <a:xfrm>
            <a:off x="192718" y="6100253"/>
            <a:ext cx="10587332" cy="643238"/>
            <a:chOff x="192718" y="6100253"/>
            <a:chExt cx="10587332" cy="643238"/>
          </a:xfrm>
        </p:grpSpPr>
        <p:cxnSp>
          <p:nvCxnSpPr>
            <p:cNvPr id="9" name="Conector recto 8">
              <a:extLst>
                <a:ext uri="{FF2B5EF4-FFF2-40B4-BE49-F238E27FC236}">
                  <a16:creationId xmlns:a16="http://schemas.microsoft.com/office/drawing/2014/main" id="{D1CEC580-CF19-95A8-F68A-1252723AF9D2}"/>
                </a:ext>
              </a:extLst>
            </p:cNvPr>
            <p:cNvCxnSpPr/>
            <p:nvPr/>
          </p:nvCxnSpPr>
          <p:spPr>
            <a:xfrm>
              <a:off x="192718" y="6698870"/>
              <a:ext cx="9095145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0" name="Imagen 9">
              <a:extLst>
                <a:ext uri="{FF2B5EF4-FFF2-40B4-BE49-F238E27FC236}">
                  <a16:creationId xmlns:a16="http://schemas.microsoft.com/office/drawing/2014/main" id="{962C5590-9313-794F-B717-6A88B099C27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480581" y="6100253"/>
              <a:ext cx="1299469" cy="64323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37060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BDEAED-3635-3DED-38EC-FCAFD821A9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08CCF12E-8152-2D6C-CD2A-7F185B730A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33" name="Rectangle 1032">
            <a:extLst>
              <a:ext uri="{FF2B5EF4-FFF2-40B4-BE49-F238E27FC236}">
                <a16:creationId xmlns:a16="http://schemas.microsoft.com/office/drawing/2014/main" id="{76F21B76-D4E9-D591-5350-22C2F410A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35" name="Rectangle 1034">
            <a:extLst>
              <a:ext uri="{FF2B5EF4-FFF2-40B4-BE49-F238E27FC236}">
                <a16:creationId xmlns:a16="http://schemas.microsoft.com/office/drawing/2014/main" id="{FD31E280-578B-E469-A130-9AFD96C794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96A4531-DFCF-698A-5974-040D54CD6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s-MX" dirty="0"/>
              <a:t>INTRODUCCIÓN</a:t>
            </a:r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4962ED88-F489-85C2-71D1-27CFF64FDB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70799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DD24C22-AE09-2AE9-C9A7-7119ECB36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4</a:t>
            </a:fld>
            <a:endParaRPr lang="en-US"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911596BB-A399-F947-F81F-0CB13729941D}"/>
              </a:ext>
            </a:extLst>
          </p:cNvPr>
          <p:cNvSpPr/>
          <p:nvPr/>
        </p:nvSpPr>
        <p:spPr>
          <a:xfrm>
            <a:off x="1115568" y="1482645"/>
            <a:ext cx="9187577" cy="637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000"/>
              </a:lnSpc>
            </a:pPr>
            <a:r>
              <a:rPr lang="en-US" sz="4000" dirty="0">
                <a:solidFill>
                  <a:srgbClr val="201B18"/>
                </a:solidFill>
                <a:latin typeface="Aptos" panose="020B0004020202020204" pitchFamily="34" charset="0"/>
                <a:ea typeface="Platypi Medium" pitchFamily="34" charset="-122"/>
              </a:rPr>
              <a:t>ANTECEDENTES Y BRECHA CRÍTICA</a:t>
            </a:r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C32C01A6-E636-31BC-B5B2-EBE0122A2923}"/>
              </a:ext>
            </a:extLst>
          </p:cNvPr>
          <p:cNvSpPr/>
          <p:nvPr/>
        </p:nvSpPr>
        <p:spPr>
          <a:xfrm>
            <a:off x="558209" y="2070736"/>
            <a:ext cx="11164399" cy="4491609"/>
          </a:xfrm>
          <a:prstGeom prst="roundRect">
            <a:avLst>
              <a:gd name="adj" fmla="val 1884"/>
            </a:avLst>
          </a:prstGeom>
          <a:solidFill>
            <a:srgbClr val="EDD5C4"/>
          </a:solidFill>
          <a:ln/>
        </p:spPr>
      </p:sp>
      <p:pic>
        <p:nvPicPr>
          <p:cNvPr id="17" name="Picture 16" descr="A group of drones flying over a field&#10;&#10;AI-generated content may be incorrect.">
            <a:extLst>
              <a:ext uri="{FF2B5EF4-FFF2-40B4-BE49-F238E27FC236}">
                <a16:creationId xmlns:a16="http://schemas.microsoft.com/office/drawing/2014/main" id="{A8227845-2991-BD70-881F-F3D9BCB29D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5135" y="2148205"/>
            <a:ext cx="3797552" cy="3227149"/>
          </a:xfrm>
          <a:prstGeom prst="rect">
            <a:avLst/>
          </a:prstGeom>
        </p:spPr>
      </p:pic>
      <p:sp>
        <p:nvSpPr>
          <p:cNvPr id="4" name="Text 5">
            <a:extLst>
              <a:ext uri="{FF2B5EF4-FFF2-40B4-BE49-F238E27FC236}">
                <a16:creationId xmlns:a16="http://schemas.microsoft.com/office/drawing/2014/main" id="{707CDB37-AC84-7D2E-E34B-E273803F462D}"/>
              </a:ext>
            </a:extLst>
          </p:cNvPr>
          <p:cNvSpPr/>
          <p:nvPr/>
        </p:nvSpPr>
        <p:spPr>
          <a:xfrm>
            <a:off x="566928" y="2232731"/>
            <a:ext cx="11095758" cy="38279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00"/>
              </a:lnSpc>
            </a:pPr>
            <a:r>
              <a:rPr lang="es-MX" b="1" dirty="0">
                <a:solidFill>
                  <a:srgbClr val="504C49"/>
                </a:solidFill>
                <a:latin typeface="Segoe UI Emoji" panose="020B0502040204020203" pitchFamily="34" charset="0"/>
                <a:ea typeface="Segoe UI Emoji" panose="020B0502040204020203" pitchFamily="34" charset="0"/>
              </a:rPr>
              <a:t>✓ BRECHA CRÍTICA NO RESUELTA</a:t>
            </a:r>
          </a:p>
          <a:p>
            <a:pPr>
              <a:lnSpc>
                <a:spcPts val="2500"/>
              </a:lnSpc>
            </a:pPr>
            <a:r>
              <a:rPr lang="es-MX" dirty="0">
                <a:solidFill>
                  <a:srgbClr val="504C49"/>
                </a:solidFill>
                <a:latin typeface="Segoe UI Emoji" panose="020B0502040204020203" pitchFamily="34" charset="0"/>
                <a:ea typeface="Segoe UI Emoji" panose="020B0502040204020203" pitchFamily="34" charset="0"/>
              </a:rPr>
              <a:t>(Evidencia: 22 estudios primarios | Revisión sistemática PRISMA 2020)</a:t>
            </a:r>
          </a:p>
          <a:p>
            <a:pPr>
              <a:lnSpc>
                <a:spcPts val="2500"/>
              </a:lnSpc>
            </a:pPr>
            <a:r>
              <a:rPr lang="es-MX" dirty="0">
                <a:solidFill>
                  <a:srgbClr val="504C49"/>
                </a:solidFill>
                <a:latin typeface="Segoe UI Emoji" panose="020B0502040204020203" pitchFamily="34" charset="0"/>
                <a:ea typeface="Segoe UI Emoji" panose="020B0502040204020203" pitchFamily="34" charset="0"/>
              </a:rPr>
              <a:t>	</a:t>
            </a:r>
          </a:p>
          <a:p>
            <a:pPr>
              <a:lnSpc>
                <a:spcPts val="2500"/>
              </a:lnSpc>
            </a:pPr>
            <a:r>
              <a:rPr lang="es-MX" b="1" dirty="0">
                <a:solidFill>
                  <a:srgbClr val="504C49"/>
                </a:solidFill>
                <a:latin typeface="Segoe UI Emoji" panose="020B0502040204020203" pitchFamily="34" charset="0"/>
                <a:ea typeface="Segoe UI Emoji" panose="020B0502040204020203" pitchFamily="34" charset="0"/>
              </a:rPr>
              <a:t>Ningún trabajo reporta simultáneamente:</a:t>
            </a:r>
          </a:p>
          <a:p>
            <a:pPr>
              <a:lnSpc>
                <a:spcPts val="2500"/>
              </a:lnSpc>
            </a:pPr>
            <a:r>
              <a:rPr lang="es-MX" dirty="0">
                <a:solidFill>
                  <a:srgbClr val="504C49"/>
                </a:solidFill>
                <a:latin typeface="Segoe UI Emoji" panose="020B0502040204020203" pitchFamily="34" charset="0"/>
                <a:ea typeface="Segoe UI Emoji" panose="020B0502040204020203" pitchFamily="34" charset="0"/>
              </a:rPr>
              <a:t>(1) Heterogeneidad física (diferentes capacidades/cargas útiles)</a:t>
            </a:r>
          </a:p>
          <a:p>
            <a:pPr>
              <a:lnSpc>
                <a:spcPts val="2500"/>
              </a:lnSpc>
            </a:pPr>
            <a:r>
              <a:rPr lang="es-MX" dirty="0">
                <a:solidFill>
                  <a:srgbClr val="504C49"/>
                </a:solidFill>
                <a:latin typeface="Segoe UI Emoji" panose="020B0502040204020203" pitchFamily="34" charset="0"/>
                <a:ea typeface="Segoe UI Emoji" panose="020B0502040204020203" pitchFamily="34" charset="0"/>
              </a:rPr>
              <a:t>(2) Coordinación descentralizada peer-</a:t>
            </a:r>
            <a:r>
              <a:rPr lang="es-MX" dirty="0" err="1">
                <a:solidFill>
                  <a:srgbClr val="504C49"/>
                </a:solidFill>
                <a:latin typeface="Segoe UI Emoji" panose="020B0502040204020203" pitchFamily="34" charset="0"/>
                <a:ea typeface="Segoe UI Emoji" panose="020B0502040204020203" pitchFamily="34" charset="0"/>
              </a:rPr>
              <a:t>to</a:t>
            </a:r>
            <a:r>
              <a:rPr lang="es-MX" dirty="0">
                <a:solidFill>
                  <a:srgbClr val="504C49"/>
                </a:solidFill>
                <a:latin typeface="Segoe UI Emoji" panose="020B0502040204020203" pitchFamily="34" charset="0"/>
                <a:ea typeface="Segoe UI Emoji" panose="020B0502040204020203" pitchFamily="34" charset="0"/>
              </a:rPr>
              <a:t>-peer (sin líder central)</a:t>
            </a:r>
          </a:p>
          <a:p>
            <a:pPr>
              <a:lnSpc>
                <a:spcPts val="2500"/>
              </a:lnSpc>
            </a:pPr>
            <a:r>
              <a:rPr lang="es-MX" dirty="0">
                <a:solidFill>
                  <a:srgbClr val="504C49"/>
                </a:solidFill>
                <a:latin typeface="Segoe UI Emoji" panose="020B0502040204020203" pitchFamily="34" charset="0"/>
                <a:ea typeface="Segoe UI Emoji" panose="020B0502040204020203" pitchFamily="34" charset="0"/>
              </a:rPr>
              <a:t>(3) Hibridación PSO-ACO validada con hardware UAV agrícola real </a:t>
            </a:r>
          </a:p>
          <a:p>
            <a:pPr>
              <a:lnSpc>
                <a:spcPts val="2500"/>
              </a:lnSpc>
            </a:pPr>
            <a:r>
              <a:rPr lang="es-MX" dirty="0">
                <a:solidFill>
                  <a:srgbClr val="504C49"/>
                </a:solidFill>
                <a:latin typeface="Segoe UI Emoji" panose="020B0502040204020203" pitchFamily="34" charset="0"/>
                <a:ea typeface="Segoe UI Emoji" panose="020B0502040204020203" pitchFamily="34" charset="0"/>
              </a:rPr>
              <a:t>    (excluye simulación pura y plataformas terrestres)</a:t>
            </a:r>
          </a:p>
          <a:p>
            <a:pPr>
              <a:lnSpc>
                <a:spcPts val="2500"/>
              </a:lnSpc>
            </a:pPr>
            <a:endParaRPr lang="es-MX" dirty="0">
              <a:solidFill>
                <a:srgbClr val="504C49"/>
              </a:solidFill>
              <a:latin typeface="Segoe UI Emoji" panose="020B0502040204020203" pitchFamily="34" charset="0"/>
              <a:ea typeface="Segoe UI Emoji" panose="020B0502040204020203" pitchFamily="34" charset="0"/>
            </a:endParaRPr>
          </a:p>
          <a:p>
            <a:pPr>
              <a:lnSpc>
                <a:spcPts val="2500"/>
              </a:lnSpc>
            </a:pPr>
            <a:endParaRPr lang="es-MX" dirty="0">
              <a:solidFill>
                <a:srgbClr val="504C49"/>
              </a:solidFill>
              <a:latin typeface="Segoe UI Emoji" panose="020B0502040204020203" pitchFamily="34" charset="0"/>
              <a:ea typeface="Segoe UI Emoji" panose="020B0502040204020203" pitchFamily="34" charset="0"/>
            </a:endParaRPr>
          </a:p>
          <a:p>
            <a:pPr>
              <a:lnSpc>
                <a:spcPts val="2500"/>
              </a:lnSpc>
            </a:pPr>
            <a:r>
              <a:rPr lang="es-MX" b="1" dirty="0">
                <a:solidFill>
                  <a:srgbClr val="504C49"/>
                </a:solidFill>
                <a:latin typeface="Segoe UI Emoji" panose="020B0502040204020203" pitchFamily="34" charset="0"/>
                <a:ea typeface="Segoe UI Emoji" panose="020B0502040204020203" pitchFamily="34" charset="0"/>
              </a:rPr>
              <a:t>Hallazgo clave: 0/22 estudios primarios validan en hardware UAV agrícola</a:t>
            </a:r>
          </a:p>
          <a:p>
            <a:pPr>
              <a:lnSpc>
                <a:spcPts val="2500"/>
              </a:lnSpc>
            </a:pPr>
            <a:r>
              <a:rPr lang="es-MX" dirty="0">
                <a:solidFill>
                  <a:srgbClr val="504C49"/>
                </a:solidFill>
                <a:latin typeface="Segoe UI Emoji" panose="020B0502040204020203" pitchFamily="34" charset="0"/>
                <a:ea typeface="Segoe UI Emoji" panose="020B0502040204020203" pitchFamily="34" charset="0"/>
              </a:rPr>
              <a:t>→ Esta brecha motiva </a:t>
            </a:r>
            <a:r>
              <a:rPr lang="es-MX" dirty="0" err="1">
                <a:solidFill>
                  <a:srgbClr val="504C49"/>
                </a:solidFill>
                <a:latin typeface="Segoe UI Emoji" panose="020B0502040204020203" pitchFamily="34" charset="0"/>
                <a:ea typeface="Segoe UI Emoji" panose="020B0502040204020203" pitchFamily="34" charset="0"/>
              </a:rPr>
              <a:t>AgriSwarm-Bench</a:t>
            </a:r>
            <a:r>
              <a:rPr lang="es-MX" dirty="0">
                <a:solidFill>
                  <a:srgbClr val="504C49"/>
                </a:solidFill>
                <a:latin typeface="Segoe UI Emoji" panose="020B0502040204020203" pitchFamily="34" charset="0"/>
                <a:ea typeface="Segoe UI Emoji" panose="020B0502040204020203" pitchFamily="34" charset="0"/>
              </a:rPr>
              <a:t>: </a:t>
            </a:r>
            <a:r>
              <a:rPr lang="es-MX" dirty="0" err="1">
                <a:solidFill>
                  <a:srgbClr val="504C49"/>
                </a:solidFill>
                <a:latin typeface="Segoe UI Emoji" panose="020B0502040204020203" pitchFamily="34" charset="0"/>
                <a:ea typeface="Segoe UI Emoji" panose="020B0502040204020203" pitchFamily="34" charset="0"/>
              </a:rPr>
              <a:t>framework</a:t>
            </a:r>
            <a:r>
              <a:rPr lang="es-MX" dirty="0">
                <a:solidFill>
                  <a:srgbClr val="504C49"/>
                </a:solidFill>
                <a:latin typeface="Segoe UI Emoji" panose="020B0502040204020203" pitchFamily="34" charset="0"/>
                <a:ea typeface="Segoe UI Emoji" panose="020B0502040204020203" pitchFamily="34" charset="0"/>
              </a:rPr>
              <a:t> abierto para cerrar la brecha simulación-realidad</a:t>
            </a:r>
            <a:endParaRPr lang="en-US" dirty="0">
              <a:solidFill>
                <a:srgbClr val="504C49"/>
              </a:solidFill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5BB0B7C3-EA05-FC77-CEEC-21AB4F624BF1}"/>
              </a:ext>
            </a:extLst>
          </p:cNvPr>
          <p:cNvGrpSpPr/>
          <p:nvPr/>
        </p:nvGrpSpPr>
        <p:grpSpPr>
          <a:xfrm>
            <a:off x="192718" y="6100253"/>
            <a:ext cx="10587332" cy="643238"/>
            <a:chOff x="192718" y="6100253"/>
            <a:chExt cx="10587332" cy="643238"/>
          </a:xfrm>
        </p:grpSpPr>
        <p:cxnSp>
          <p:nvCxnSpPr>
            <p:cNvPr id="9" name="Conector recto 8">
              <a:extLst>
                <a:ext uri="{FF2B5EF4-FFF2-40B4-BE49-F238E27FC236}">
                  <a16:creationId xmlns:a16="http://schemas.microsoft.com/office/drawing/2014/main" id="{D1CEC580-CF19-95A8-F68A-1252723AF9D2}"/>
                </a:ext>
              </a:extLst>
            </p:cNvPr>
            <p:cNvCxnSpPr/>
            <p:nvPr/>
          </p:nvCxnSpPr>
          <p:spPr>
            <a:xfrm>
              <a:off x="192718" y="6698870"/>
              <a:ext cx="9095145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0" name="Imagen 9">
              <a:extLst>
                <a:ext uri="{FF2B5EF4-FFF2-40B4-BE49-F238E27FC236}">
                  <a16:creationId xmlns:a16="http://schemas.microsoft.com/office/drawing/2014/main" id="{962C5590-9313-794F-B717-6A88B099C27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480581" y="6100253"/>
              <a:ext cx="1299469" cy="64323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866652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BDEAED-3635-3DED-38EC-FCAFD821A9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08CCF12E-8152-2D6C-CD2A-7F185B730A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33" name="Rectangle 1032">
            <a:extLst>
              <a:ext uri="{FF2B5EF4-FFF2-40B4-BE49-F238E27FC236}">
                <a16:creationId xmlns:a16="http://schemas.microsoft.com/office/drawing/2014/main" id="{76F21B76-D4E9-D591-5350-22C2F410A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35" name="Rectangle 1034">
            <a:extLst>
              <a:ext uri="{FF2B5EF4-FFF2-40B4-BE49-F238E27FC236}">
                <a16:creationId xmlns:a16="http://schemas.microsoft.com/office/drawing/2014/main" id="{FD31E280-578B-E469-A130-9AFD96C794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96A4531-DFCF-698A-5974-040D54CD6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s-MX" dirty="0"/>
              <a:t>INTRODUCCIÓN</a:t>
            </a:r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4962ED88-F489-85C2-71D1-27CFF64FDB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70799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DD24C22-AE09-2AE9-C9A7-7119ECB36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5</a:t>
            </a:fld>
            <a:endParaRPr lang="en-US"/>
          </a:p>
        </p:txBody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BE80AA24-6775-CF69-55F2-E77802C2E9FE}"/>
              </a:ext>
            </a:extLst>
          </p:cNvPr>
          <p:cNvSpPr/>
          <p:nvPr/>
        </p:nvSpPr>
        <p:spPr>
          <a:xfrm>
            <a:off x="1185059" y="1474887"/>
            <a:ext cx="10606445" cy="613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000"/>
              </a:lnSpc>
            </a:pPr>
            <a:r>
              <a:rPr lang="en-US" sz="4000" dirty="0">
                <a:solidFill>
                  <a:srgbClr val="201B18"/>
                </a:solidFill>
                <a:latin typeface="Aptos" panose="020B0004020202020204" pitchFamily="34" charset="0"/>
                <a:ea typeface="Platypi Medium" pitchFamily="34" charset="-122"/>
              </a:rPr>
              <a:t>VALIDACIÓN REAL</a:t>
            </a:r>
          </a:p>
        </p:txBody>
      </p:sp>
      <p:sp>
        <p:nvSpPr>
          <p:cNvPr id="3" name="Shape 8">
            <a:extLst>
              <a:ext uri="{FF2B5EF4-FFF2-40B4-BE49-F238E27FC236}">
                <a16:creationId xmlns:a16="http://schemas.microsoft.com/office/drawing/2014/main" id="{1F2F9D2B-3F53-CE6C-A299-5FFEA2CD5610}"/>
              </a:ext>
            </a:extLst>
          </p:cNvPr>
          <p:cNvSpPr/>
          <p:nvPr/>
        </p:nvSpPr>
        <p:spPr>
          <a:xfrm>
            <a:off x="558209" y="2070736"/>
            <a:ext cx="11164399" cy="4491609"/>
          </a:xfrm>
          <a:prstGeom prst="roundRect">
            <a:avLst>
              <a:gd name="adj" fmla="val 1884"/>
            </a:avLst>
          </a:prstGeom>
          <a:solidFill>
            <a:srgbClr val="EDD5C4"/>
          </a:solidFill>
          <a:ln/>
        </p:spPr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5BB0B7C3-EA05-FC77-CEEC-21AB4F624BF1}"/>
              </a:ext>
            </a:extLst>
          </p:cNvPr>
          <p:cNvGrpSpPr/>
          <p:nvPr/>
        </p:nvGrpSpPr>
        <p:grpSpPr>
          <a:xfrm>
            <a:off x="192718" y="6100253"/>
            <a:ext cx="10587332" cy="643238"/>
            <a:chOff x="192718" y="6100253"/>
            <a:chExt cx="10587332" cy="643238"/>
          </a:xfrm>
        </p:grpSpPr>
        <p:cxnSp>
          <p:nvCxnSpPr>
            <p:cNvPr id="9" name="Conector recto 8">
              <a:extLst>
                <a:ext uri="{FF2B5EF4-FFF2-40B4-BE49-F238E27FC236}">
                  <a16:creationId xmlns:a16="http://schemas.microsoft.com/office/drawing/2014/main" id="{D1CEC580-CF19-95A8-F68A-1252723AF9D2}"/>
                </a:ext>
              </a:extLst>
            </p:cNvPr>
            <p:cNvCxnSpPr/>
            <p:nvPr/>
          </p:nvCxnSpPr>
          <p:spPr>
            <a:xfrm>
              <a:off x="192718" y="6698870"/>
              <a:ext cx="9095145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0" name="Imagen 9">
              <a:extLst>
                <a:ext uri="{FF2B5EF4-FFF2-40B4-BE49-F238E27FC236}">
                  <a16:creationId xmlns:a16="http://schemas.microsoft.com/office/drawing/2014/main" id="{962C5590-9313-794F-B717-6A88B099C27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480581" y="6100253"/>
              <a:ext cx="1299469" cy="643238"/>
            </a:xfrm>
            <a:prstGeom prst="rect">
              <a:avLst/>
            </a:prstGeom>
          </p:spPr>
        </p:pic>
      </p:grpSp>
      <p:sp>
        <p:nvSpPr>
          <p:cNvPr id="7" name="Text 5">
            <a:extLst>
              <a:ext uri="{FF2B5EF4-FFF2-40B4-BE49-F238E27FC236}">
                <a16:creationId xmlns:a16="http://schemas.microsoft.com/office/drawing/2014/main" id="{1D165893-C122-5EAC-8445-EA1A0342F69B}"/>
              </a:ext>
            </a:extLst>
          </p:cNvPr>
          <p:cNvSpPr/>
          <p:nvPr/>
        </p:nvSpPr>
        <p:spPr>
          <a:xfrm>
            <a:off x="566928" y="2232731"/>
            <a:ext cx="10877820" cy="38279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endParaRPr lang="es-MX" sz="2000" dirty="0">
              <a:solidFill>
                <a:srgbClr val="504C49"/>
              </a:solidFill>
              <a:latin typeface="Segoe UI Emoji" panose="020B0502040204020203" pitchFamily="34" charset="0"/>
              <a:ea typeface="Segoe UI Emoji" panose="020B0502040204020203" pitchFamily="34" charset="0"/>
              <a:cs typeface="Platypi Medium" pitchFamily="34" charset="-120"/>
            </a:endParaRPr>
          </a:p>
          <a:p>
            <a:pPr marL="0" indent="0" algn="l">
              <a:lnSpc>
                <a:spcPts val="2500"/>
              </a:lnSpc>
              <a:buNone/>
            </a:pPr>
            <a:endParaRPr lang="en-US" sz="2000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11" name="Text 2">
            <a:extLst>
              <a:ext uri="{FF2B5EF4-FFF2-40B4-BE49-F238E27FC236}">
                <a16:creationId xmlns:a16="http://schemas.microsoft.com/office/drawing/2014/main" id="{B9F6EF91-D011-E351-9084-8A542CB7F0ED}"/>
              </a:ext>
            </a:extLst>
          </p:cNvPr>
          <p:cNvSpPr/>
          <p:nvPr/>
        </p:nvSpPr>
        <p:spPr>
          <a:xfrm>
            <a:off x="5707626" y="2383953"/>
            <a:ext cx="5917446" cy="2612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s-MX" sz="2400" b="1" dirty="0">
                <a:solidFill>
                  <a:srgbClr val="504C49"/>
                </a:solidFill>
                <a:latin typeface="Segoe UI Emoji" panose="020B0502040204020203" pitchFamily="34" charset="0"/>
                <a:ea typeface="Segoe UI Emoji" panose="020B0502040204020203" pitchFamily="34" charset="0"/>
                <a:cs typeface="Platypi Medium" pitchFamily="34" charset="-120"/>
              </a:rPr>
              <a:t>FLOTA HETEROGÉNEA DISPONIBLE</a:t>
            </a:r>
          </a:p>
          <a:p>
            <a:pPr marL="0" indent="0" algn="l">
              <a:lnSpc>
                <a:spcPts val="2500"/>
              </a:lnSpc>
              <a:buNone/>
            </a:pPr>
            <a:endParaRPr lang="es-MX" sz="2400" b="1" dirty="0">
              <a:solidFill>
                <a:srgbClr val="504C49"/>
              </a:solidFill>
              <a:latin typeface="Segoe UI Emoji" panose="020B0502040204020203" pitchFamily="34" charset="0"/>
              <a:ea typeface="Segoe UI Emoji" panose="020B0502040204020203" pitchFamily="34" charset="0"/>
              <a:cs typeface="Platypi Medium" pitchFamily="34" charset="-120"/>
            </a:endParaRPr>
          </a:p>
          <a:p>
            <a:pPr marL="0" indent="0" algn="l">
              <a:lnSpc>
                <a:spcPts val="2500"/>
              </a:lnSpc>
              <a:buNone/>
            </a:pPr>
            <a:r>
              <a:rPr lang="es-MX" sz="2400" dirty="0">
                <a:solidFill>
                  <a:srgbClr val="504C49"/>
                </a:solidFill>
                <a:latin typeface="Segoe UI Emoji" panose="020B0502040204020203" pitchFamily="34" charset="0"/>
                <a:ea typeface="Segoe UI Emoji" panose="020B0502040204020203" pitchFamily="34" charset="0"/>
                <a:cs typeface="Platypi Medium" pitchFamily="34" charset="-120"/>
              </a:rPr>
              <a:t>• </a:t>
            </a:r>
            <a:r>
              <a:rPr lang="es-MX" sz="2400" dirty="0" err="1">
                <a:solidFill>
                  <a:srgbClr val="504C49"/>
                </a:solidFill>
                <a:latin typeface="Segoe UI Emoji" panose="020B0502040204020203" pitchFamily="34" charset="0"/>
                <a:ea typeface="Segoe UI Emoji" panose="020B0502040204020203" pitchFamily="34" charset="0"/>
                <a:cs typeface="Platypi Medium" pitchFamily="34" charset="-120"/>
              </a:rPr>
              <a:t>Foxtech</a:t>
            </a:r>
            <a:r>
              <a:rPr lang="es-MX" sz="2400" dirty="0">
                <a:solidFill>
                  <a:srgbClr val="504C49"/>
                </a:solidFill>
                <a:latin typeface="Segoe UI Emoji" panose="020B0502040204020203" pitchFamily="34" charset="0"/>
                <a:ea typeface="Segoe UI Emoji" panose="020B0502040204020203" pitchFamily="34" charset="0"/>
                <a:cs typeface="Platypi Medium" pitchFamily="34" charset="-120"/>
              </a:rPr>
              <a:t> (aplicación: fumigación/monitoreo de alta carga)</a:t>
            </a:r>
          </a:p>
          <a:p>
            <a:pPr marL="0" indent="0" algn="l">
              <a:lnSpc>
                <a:spcPts val="2500"/>
              </a:lnSpc>
              <a:buNone/>
            </a:pPr>
            <a:endParaRPr lang="es-MX" sz="2400" dirty="0">
              <a:solidFill>
                <a:srgbClr val="504C49"/>
              </a:solidFill>
              <a:latin typeface="Segoe UI Emoji" panose="020B0502040204020203" pitchFamily="34" charset="0"/>
              <a:ea typeface="Segoe UI Emoji" panose="020B0502040204020203" pitchFamily="34" charset="0"/>
              <a:cs typeface="Platypi Medium" pitchFamily="34" charset="-120"/>
            </a:endParaRPr>
          </a:p>
          <a:p>
            <a:pPr marL="0" indent="0" algn="l">
              <a:lnSpc>
                <a:spcPts val="2500"/>
              </a:lnSpc>
              <a:buNone/>
            </a:pPr>
            <a:r>
              <a:rPr lang="es-MX" sz="2400" dirty="0">
                <a:solidFill>
                  <a:srgbClr val="504C49"/>
                </a:solidFill>
                <a:latin typeface="Segoe UI Emoji" panose="020B0502040204020203" pitchFamily="34" charset="0"/>
                <a:ea typeface="Segoe UI Emoji" panose="020B0502040204020203" pitchFamily="34" charset="0"/>
                <a:cs typeface="Platypi Medium" pitchFamily="34" charset="-120"/>
              </a:rPr>
              <a:t>• 2× </a:t>
            </a:r>
            <a:r>
              <a:rPr lang="es-MX" sz="2400" dirty="0" err="1">
                <a:solidFill>
                  <a:srgbClr val="504C49"/>
                </a:solidFill>
                <a:latin typeface="Segoe UI Emoji" panose="020B0502040204020203" pitchFamily="34" charset="0"/>
                <a:ea typeface="Segoe UI Emoji" panose="020B0502040204020203" pitchFamily="34" charset="0"/>
                <a:cs typeface="Platypi Medium" pitchFamily="34" charset="-120"/>
              </a:rPr>
              <a:t>Quadcopters</a:t>
            </a:r>
            <a:r>
              <a:rPr lang="es-MX" sz="2400" dirty="0">
                <a:solidFill>
                  <a:srgbClr val="504C49"/>
                </a:solidFill>
                <a:latin typeface="Segoe UI Emoji" panose="020B0502040204020203" pitchFamily="34" charset="0"/>
                <a:ea typeface="Segoe UI Emoji" panose="020B0502040204020203" pitchFamily="34" charset="0"/>
                <a:cs typeface="Platypi Medium" pitchFamily="34" charset="-120"/>
              </a:rPr>
              <a:t> </a:t>
            </a:r>
            <a:r>
              <a:rPr lang="es-MX" sz="2400" dirty="0" err="1">
                <a:solidFill>
                  <a:srgbClr val="504C49"/>
                </a:solidFill>
                <a:latin typeface="Segoe UI Emoji" panose="020B0502040204020203" pitchFamily="34" charset="0"/>
                <a:ea typeface="Segoe UI Emoji" panose="020B0502040204020203" pitchFamily="34" charset="0"/>
                <a:cs typeface="Platypi Medium" pitchFamily="34" charset="-120"/>
              </a:rPr>
              <a:t>Pixhawk</a:t>
            </a:r>
            <a:r>
              <a:rPr lang="es-MX" sz="2400" dirty="0">
                <a:solidFill>
                  <a:srgbClr val="504C49"/>
                </a:solidFill>
                <a:latin typeface="Segoe UI Emoji" panose="020B0502040204020203" pitchFamily="34" charset="0"/>
                <a:ea typeface="Segoe UI Emoji" panose="020B0502040204020203" pitchFamily="34" charset="0"/>
                <a:cs typeface="Platypi Medium" pitchFamily="34" charset="-120"/>
              </a:rPr>
              <a:t> (mapeo multiespectral + comunicación </a:t>
            </a:r>
            <a:r>
              <a:rPr lang="es-MX" sz="2400" dirty="0" err="1">
                <a:solidFill>
                  <a:srgbClr val="504C49"/>
                </a:solidFill>
                <a:latin typeface="Segoe UI Emoji" panose="020B0502040204020203" pitchFamily="34" charset="0"/>
                <a:ea typeface="Segoe UI Emoji" panose="020B0502040204020203" pitchFamily="34" charset="0"/>
                <a:cs typeface="Platypi Medium" pitchFamily="34" charset="-120"/>
              </a:rPr>
              <a:t>relay</a:t>
            </a:r>
            <a:r>
              <a:rPr lang="es-MX" sz="2400" dirty="0">
                <a:solidFill>
                  <a:srgbClr val="504C49"/>
                </a:solidFill>
                <a:latin typeface="Segoe UI Emoji" panose="020B0502040204020203" pitchFamily="34" charset="0"/>
                <a:ea typeface="Segoe UI Emoji" panose="020B0502040204020203" pitchFamily="34" charset="0"/>
                <a:cs typeface="Platypi Medium" pitchFamily="34" charset="-120"/>
              </a:rPr>
              <a:t>)</a:t>
            </a:r>
          </a:p>
          <a:p>
            <a:pPr marL="0" indent="0" algn="l">
              <a:lnSpc>
                <a:spcPts val="2500"/>
              </a:lnSpc>
              <a:buNone/>
            </a:pPr>
            <a:endParaRPr lang="es-MX" sz="2400" dirty="0">
              <a:solidFill>
                <a:srgbClr val="504C49"/>
              </a:solidFill>
              <a:latin typeface="Segoe UI Emoji" panose="020B0502040204020203" pitchFamily="34" charset="0"/>
              <a:ea typeface="Segoe UI Emoji" panose="020B0502040204020203" pitchFamily="34" charset="0"/>
              <a:cs typeface="Platypi Medium" pitchFamily="34" charset="-120"/>
            </a:endParaRPr>
          </a:p>
          <a:p>
            <a:pPr marL="0" indent="0" algn="l">
              <a:lnSpc>
                <a:spcPts val="2500"/>
              </a:lnSpc>
              <a:buNone/>
            </a:pPr>
            <a:r>
              <a:rPr lang="es-MX" sz="2400" dirty="0">
                <a:solidFill>
                  <a:srgbClr val="504C49"/>
                </a:solidFill>
                <a:latin typeface="Segoe UI Emoji" panose="020B0502040204020203" pitchFamily="34" charset="0"/>
                <a:ea typeface="Segoe UI Emoji" panose="020B0502040204020203" pitchFamily="34" charset="0"/>
                <a:cs typeface="Platypi Medium" pitchFamily="34" charset="-120"/>
              </a:rPr>
              <a:t>→ Respuesta directa al hallazgo: 0/22 estudios primarios validan en hardware UAV agrícola real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59FBDCD-652C-998A-D081-F7FBE42C87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974" y="2250490"/>
            <a:ext cx="4699547" cy="4058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38467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BDEAED-3635-3DED-38EC-FCAFD821A9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08CCF12E-8152-2D6C-CD2A-7F185B730A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33" name="Rectangle 1032">
            <a:extLst>
              <a:ext uri="{FF2B5EF4-FFF2-40B4-BE49-F238E27FC236}">
                <a16:creationId xmlns:a16="http://schemas.microsoft.com/office/drawing/2014/main" id="{76F21B76-D4E9-D591-5350-22C2F410A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35" name="Rectangle 1034">
            <a:extLst>
              <a:ext uri="{FF2B5EF4-FFF2-40B4-BE49-F238E27FC236}">
                <a16:creationId xmlns:a16="http://schemas.microsoft.com/office/drawing/2014/main" id="{FD31E280-578B-E469-A130-9AFD96C794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96A4531-DFCF-698A-5974-040D54CD6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s-MX" dirty="0"/>
              <a:t>INTRODUCCIÓN</a:t>
            </a:r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4962ED88-F489-85C2-71D1-27CFF64FDB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70799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DD24C22-AE09-2AE9-C9A7-7119ECB36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6</a:t>
            </a:fld>
            <a:endParaRPr lang="en-US"/>
          </a:p>
        </p:txBody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BE80AA24-6775-CF69-55F2-E77802C2E9FE}"/>
              </a:ext>
            </a:extLst>
          </p:cNvPr>
          <p:cNvSpPr/>
          <p:nvPr/>
        </p:nvSpPr>
        <p:spPr>
          <a:xfrm>
            <a:off x="1185059" y="1474887"/>
            <a:ext cx="10606445" cy="613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000"/>
              </a:lnSpc>
            </a:pPr>
            <a:r>
              <a:rPr lang="en-US" sz="4000" dirty="0">
                <a:solidFill>
                  <a:srgbClr val="201B18"/>
                </a:solidFill>
                <a:latin typeface="Aptos" panose="020B0004020202020204" pitchFamily="34" charset="0"/>
                <a:ea typeface="Platypi Medium" pitchFamily="34" charset="-122"/>
              </a:rPr>
              <a:t>FUNDAMENTO BIO-INSPIRADO</a:t>
            </a:r>
          </a:p>
        </p:txBody>
      </p:sp>
      <p:sp>
        <p:nvSpPr>
          <p:cNvPr id="3" name="Shape 8">
            <a:extLst>
              <a:ext uri="{FF2B5EF4-FFF2-40B4-BE49-F238E27FC236}">
                <a16:creationId xmlns:a16="http://schemas.microsoft.com/office/drawing/2014/main" id="{1F2F9D2B-3F53-CE6C-A299-5FFEA2CD5610}"/>
              </a:ext>
            </a:extLst>
          </p:cNvPr>
          <p:cNvSpPr/>
          <p:nvPr/>
        </p:nvSpPr>
        <p:spPr>
          <a:xfrm>
            <a:off x="558209" y="2070736"/>
            <a:ext cx="11164399" cy="4491609"/>
          </a:xfrm>
          <a:prstGeom prst="roundRect">
            <a:avLst>
              <a:gd name="adj" fmla="val 1884"/>
            </a:avLst>
          </a:prstGeom>
          <a:solidFill>
            <a:srgbClr val="EDD5C4"/>
          </a:solidFill>
          <a:ln/>
        </p:spPr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5BB0B7C3-EA05-FC77-CEEC-21AB4F624BF1}"/>
              </a:ext>
            </a:extLst>
          </p:cNvPr>
          <p:cNvGrpSpPr/>
          <p:nvPr/>
        </p:nvGrpSpPr>
        <p:grpSpPr>
          <a:xfrm>
            <a:off x="192718" y="6100253"/>
            <a:ext cx="10587332" cy="643238"/>
            <a:chOff x="192718" y="6100253"/>
            <a:chExt cx="10587332" cy="643238"/>
          </a:xfrm>
        </p:grpSpPr>
        <p:cxnSp>
          <p:nvCxnSpPr>
            <p:cNvPr id="9" name="Conector recto 8">
              <a:extLst>
                <a:ext uri="{FF2B5EF4-FFF2-40B4-BE49-F238E27FC236}">
                  <a16:creationId xmlns:a16="http://schemas.microsoft.com/office/drawing/2014/main" id="{D1CEC580-CF19-95A8-F68A-1252723AF9D2}"/>
                </a:ext>
              </a:extLst>
            </p:cNvPr>
            <p:cNvCxnSpPr/>
            <p:nvPr/>
          </p:nvCxnSpPr>
          <p:spPr>
            <a:xfrm>
              <a:off x="192718" y="6698870"/>
              <a:ext cx="9095145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0" name="Imagen 9">
              <a:extLst>
                <a:ext uri="{FF2B5EF4-FFF2-40B4-BE49-F238E27FC236}">
                  <a16:creationId xmlns:a16="http://schemas.microsoft.com/office/drawing/2014/main" id="{962C5590-9313-794F-B717-6A88B099C27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480581" y="6100253"/>
              <a:ext cx="1299469" cy="643238"/>
            </a:xfrm>
            <a:prstGeom prst="rect">
              <a:avLst/>
            </a:prstGeom>
          </p:spPr>
        </p:pic>
      </p:grpSp>
      <p:sp>
        <p:nvSpPr>
          <p:cNvPr id="7" name="Text 5">
            <a:extLst>
              <a:ext uri="{FF2B5EF4-FFF2-40B4-BE49-F238E27FC236}">
                <a16:creationId xmlns:a16="http://schemas.microsoft.com/office/drawing/2014/main" id="{1D165893-C122-5EAC-8445-EA1A0342F69B}"/>
              </a:ext>
            </a:extLst>
          </p:cNvPr>
          <p:cNvSpPr/>
          <p:nvPr/>
        </p:nvSpPr>
        <p:spPr>
          <a:xfrm>
            <a:off x="566928" y="2232731"/>
            <a:ext cx="10877820" cy="38279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endParaRPr lang="es-MX" sz="2000" dirty="0">
              <a:solidFill>
                <a:srgbClr val="504C49"/>
              </a:solidFill>
              <a:latin typeface="Segoe UI Emoji" panose="020B0502040204020203" pitchFamily="34" charset="0"/>
              <a:ea typeface="Segoe UI Emoji" panose="020B0502040204020203" pitchFamily="34" charset="0"/>
              <a:cs typeface="Platypi Medium" pitchFamily="34" charset="-120"/>
            </a:endParaRPr>
          </a:p>
          <a:p>
            <a:pPr marL="0" indent="0" algn="l">
              <a:lnSpc>
                <a:spcPts val="2500"/>
              </a:lnSpc>
              <a:buNone/>
            </a:pPr>
            <a:endParaRPr lang="en-US" sz="2000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11" name="Text 2">
            <a:extLst>
              <a:ext uri="{FF2B5EF4-FFF2-40B4-BE49-F238E27FC236}">
                <a16:creationId xmlns:a16="http://schemas.microsoft.com/office/drawing/2014/main" id="{B9F6EF91-D011-E351-9084-8A542CB7F0ED}"/>
              </a:ext>
            </a:extLst>
          </p:cNvPr>
          <p:cNvSpPr/>
          <p:nvPr/>
        </p:nvSpPr>
        <p:spPr>
          <a:xfrm>
            <a:off x="5707626" y="2148205"/>
            <a:ext cx="5917446" cy="2612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s-MX" sz="2400" b="1" dirty="0">
                <a:solidFill>
                  <a:srgbClr val="504C49"/>
                </a:solidFill>
                <a:latin typeface="Segoe UI Emoji" panose="020B0502040204020203" pitchFamily="34" charset="0"/>
                <a:ea typeface="Segoe UI Emoji" panose="020B0502040204020203" pitchFamily="34" charset="0"/>
                <a:cs typeface="Platypi Medium" pitchFamily="34" charset="-120"/>
              </a:rPr>
              <a:t>✓COMPORTAMIENTO COLECTIVO NATURAL (HIBRIDACIÓN PSO-ACO)</a:t>
            </a:r>
          </a:p>
          <a:p>
            <a:pPr marL="0" indent="0" algn="l">
              <a:lnSpc>
                <a:spcPts val="2500"/>
              </a:lnSpc>
              <a:buNone/>
            </a:pPr>
            <a:endParaRPr lang="es-MX" sz="2400" b="1" dirty="0">
              <a:solidFill>
                <a:srgbClr val="504C49"/>
              </a:solidFill>
              <a:latin typeface="Segoe UI Emoji" panose="020B0502040204020203" pitchFamily="34" charset="0"/>
              <a:ea typeface="Segoe UI Emoji" panose="020B0502040204020203" pitchFamily="34" charset="0"/>
              <a:cs typeface="Platypi Medium" pitchFamily="34" charset="-120"/>
            </a:endParaRPr>
          </a:p>
          <a:p>
            <a:pPr indent="0">
              <a:lnSpc>
                <a:spcPts val="2500"/>
              </a:lnSpc>
              <a:buNone/>
            </a:pPr>
            <a:r>
              <a:rPr lang="es-MX" sz="2000" dirty="0">
                <a:solidFill>
                  <a:srgbClr val="504C49"/>
                </a:solidFill>
                <a:latin typeface="Segoe UI Emoji" panose="020B0502040204020203" pitchFamily="34" charset="0"/>
                <a:ea typeface="Segoe UI Emoji" panose="020B0502040204020203" pitchFamily="34" charset="0"/>
              </a:rPr>
              <a:t>• Hormigas optimizando rutas con feromonas → Base conceptual de ACO</a:t>
            </a:r>
          </a:p>
          <a:p>
            <a:pPr indent="0">
              <a:lnSpc>
                <a:spcPts val="2500"/>
              </a:lnSpc>
              <a:buNone/>
            </a:pPr>
            <a:r>
              <a:rPr lang="es-MX" sz="2000" dirty="0">
                <a:solidFill>
                  <a:srgbClr val="504C49"/>
                </a:solidFill>
                <a:latin typeface="Segoe UI Emoji" panose="020B0502040204020203" pitchFamily="34" charset="0"/>
                <a:ea typeface="Segoe UI Emoji" panose="020B0502040204020203" pitchFamily="34" charset="0"/>
              </a:rPr>
              <a:t>  (explotación local, adaptación sin mapa global)</a:t>
            </a:r>
          </a:p>
          <a:p>
            <a:pPr indent="0">
              <a:lnSpc>
                <a:spcPts val="2500"/>
              </a:lnSpc>
              <a:buNone/>
            </a:pPr>
            <a:endParaRPr lang="es-MX" sz="2000" dirty="0">
              <a:solidFill>
                <a:srgbClr val="504C49"/>
              </a:solidFill>
              <a:latin typeface="Segoe UI Emoji" panose="020B0502040204020203" pitchFamily="34" charset="0"/>
              <a:ea typeface="Segoe UI Emoji" panose="020B0502040204020203" pitchFamily="34" charset="0"/>
            </a:endParaRPr>
          </a:p>
          <a:p>
            <a:pPr indent="0">
              <a:lnSpc>
                <a:spcPts val="2500"/>
              </a:lnSpc>
              <a:buNone/>
            </a:pPr>
            <a:r>
              <a:rPr lang="es-MX" sz="2000" dirty="0">
                <a:solidFill>
                  <a:srgbClr val="504C49"/>
                </a:solidFill>
                <a:latin typeface="Segoe UI Emoji" panose="020B0502040204020203" pitchFamily="34" charset="0"/>
                <a:ea typeface="Segoe UI Emoji" panose="020B0502040204020203" pitchFamily="34" charset="0"/>
              </a:rPr>
              <a:t>• Bandadas ajustando posiciones por interacciones simples → Base conceptual de PSO</a:t>
            </a:r>
          </a:p>
          <a:p>
            <a:pPr indent="0">
              <a:lnSpc>
                <a:spcPts val="2500"/>
              </a:lnSpc>
              <a:buNone/>
            </a:pPr>
            <a:r>
              <a:rPr lang="es-MX" sz="2000" dirty="0">
                <a:solidFill>
                  <a:srgbClr val="504C49"/>
                </a:solidFill>
                <a:latin typeface="Segoe UI Emoji" panose="020B0502040204020203" pitchFamily="34" charset="0"/>
                <a:ea typeface="Segoe UI Emoji" panose="020B0502040204020203" pitchFamily="34" charset="0"/>
              </a:rPr>
              <a:t>  (exploración rápida, convergencia guiada por vecinos)</a:t>
            </a:r>
          </a:p>
          <a:p>
            <a:pPr indent="0">
              <a:lnSpc>
                <a:spcPts val="2500"/>
              </a:lnSpc>
              <a:buNone/>
            </a:pPr>
            <a:r>
              <a:rPr lang="es-MX" sz="2000" dirty="0">
                <a:solidFill>
                  <a:srgbClr val="504C49"/>
                </a:solidFill>
                <a:latin typeface="Segoe UI Emoji" panose="020B0502040204020203" pitchFamily="34" charset="0"/>
                <a:ea typeface="Segoe UI Emoji" panose="020B0502040204020203" pitchFamily="34" charset="0"/>
              </a:rPr>
              <a:t>→ Coordinación emergente peer-</a:t>
            </a:r>
            <a:r>
              <a:rPr lang="es-MX" sz="2000" dirty="0" err="1">
                <a:solidFill>
                  <a:srgbClr val="504C49"/>
                </a:solidFill>
                <a:latin typeface="Segoe UI Emoji" panose="020B0502040204020203" pitchFamily="34" charset="0"/>
                <a:ea typeface="Segoe UI Emoji" panose="020B0502040204020203" pitchFamily="34" charset="0"/>
              </a:rPr>
              <a:t>to</a:t>
            </a:r>
            <a:r>
              <a:rPr lang="es-MX" sz="2000" dirty="0">
                <a:solidFill>
                  <a:srgbClr val="504C49"/>
                </a:solidFill>
                <a:latin typeface="Segoe UI Emoji" panose="020B0502040204020203" pitchFamily="34" charset="0"/>
                <a:ea typeface="Segoe UI Emoji" panose="020B0502040204020203" pitchFamily="34" charset="0"/>
              </a:rPr>
              <a:t>-peer: sin líder central, sin punto único de fallo</a:t>
            </a:r>
          </a:p>
        </p:txBody>
      </p:sp>
      <p:pic>
        <p:nvPicPr>
          <p:cNvPr id="23" name="Image 1" descr="preencoded.png">
            <a:extLst>
              <a:ext uri="{FF2B5EF4-FFF2-40B4-BE49-F238E27FC236}">
                <a16:creationId xmlns:a16="http://schemas.microsoft.com/office/drawing/2014/main" id="{D8D57AAD-FAF7-0502-03DC-4905EC971C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716" y="2168394"/>
            <a:ext cx="4780050" cy="4140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63775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BDEAED-3635-3DED-38EC-FCAFD821A9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08CCF12E-8152-2D6C-CD2A-7F185B730A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33" name="Rectangle 1032">
            <a:extLst>
              <a:ext uri="{FF2B5EF4-FFF2-40B4-BE49-F238E27FC236}">
                <a16:creationId xmlns:a16="http://schemas.microsoft.com/office/drawing/2014/main" id="{76F21B76-D4E9-D591-5350-22C2F410A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35" name="Rectangle 1034">
            <a:extLst>
              <a:ext uri="{FF2B5EF4-FFF2-40B4-BE49-F238E27FC236}">
                <a16:creationId xmlns:a16="http://schemas.microsoft.com/office/drawing/2014/main" id="{FD31E280-578B-E469-A130-9AFD96C794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96A4531-DFCF-698A-5974-040D54CD6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225" y="554422"/>
            <a:ext cx="10168128" cy="1179576"/>
          </a:xfrm>
        </p:spPr>
        <p:txBody>
          <a:bodyPr>
            <a:normAutofit/>
          </a:bodyPr>
          <a:lstStyle/>
          <a:p>
            <a:r>
              <a:rPr lang="es-MX" dirty="0"/>
              <a:t>INTRODUCCIÓN</a:t>
            </a:r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4962ED88-F489-85C2-71D1-27CFF64FDB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70799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DD24C22-AE09-2AE9-C9A7-7119ECB36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7</a:t>
            </a:fld>
            <a:endParaRPr lang="en-US"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9B9C448F-F3CC-3A4D-61DE-D0BDD2DBA866}"/>
              </a:ext>
            </a:extLst>
          </p:cNvPr>
          <p:cNvSpPr/>
          <p:nvPr/>
        </p:nvSpPr>
        <p:spPr>
          <a:xfrm>
            <a:off x="812423" y="1381544"/>
            <a:ext cx="7428905" cy="673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00" dirty="0">
                <a:solidFill>
                  <a:srgbClr val="3E2513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PLANTEAMIENTO DEL PROBLEMA CUANTIFICABLE</a:t>
            </a:r>
            <a:endParaRPr lang="en-US" sz="4200" dirty="0"/>
          </a:p>
        </p:txBody>
      </p:sp>
      <p:sp>
        <p:nvSpPr>
          <p:cNvPr id="26" name="Shape 8">
            <a:extLst>
              <a:ext uri="{FF2B5EF4-FFF2-40B4-BE49-F238E27FC236}">
                <a16:creationId xmlns:a16="http://schemas.microsoft.com/office/drawing/2014/main" id="{E48089D0-FD23-B1B4-C736-2972623FB243}"/>
              </a:ext>
            </a:extLst>
          </p:cNvPr>
          <p:cNvSpPr/>
          <p:nvPr/>
        </p:nvSpPr>
        <p:spPr>
          <a:xfrm>
            <a:off x="477333" y="2122938"/>
            <a:ext cx="11285002" cy="4553328"/>
          </a:xfrm>
          <a:prstGeom prst="roundRect">
            <a:avLst>
              <a:gd name="adj" fmla="val 1884"/>
            </a:avLst>
          </a:prstGeom>
          <a:solidFill>
            <a:srgbClr val="EDD5C4"/>
          </a:solidFill>
          <a:ln/>
        </p:spPr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7A45B738-D4B1-CCC6-C406-0DF1EDE78A09}"/>
              </a:ext>
            </a:extLst>
          </p:cNvPr>
          <p:cNvSpPr/>
          <p:nvPr/>
        </p:nvSpPr>
        <p:spPr>
          <a:xfrm>
            <a:off x="808901" y="2533386"/>
            <a:ext cx="10741009" cy="1546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10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¿CÓMO DISEÑAR UN ALGORITMO HÍBRIDO PSO-ACO? </a:t>
            </a:r>
            <a:br>
              <a:rPr lang="en-US" sz="2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</a:br>
            <a:r>
              <a:rPr lang="en-US" sz="2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QUE, MEDIANTE COMUNICACIÓN PEER-TO-PEER (SIN LÍDER CENTRAL), ASIGNE DINÁMICAMENTE ZONAS DE COBERTURA A 3 RPAS HETEROGÉNEOS MINIMIZANDO SIMULTÁNEAMENTE:</a:t>
            </a:r>
            <a:endParaRPr lang="en-US" sz="2100" dirty="0"/>
          </a:p>
        </p:txBody>
      </p:sp>
      <p:sp>
        <p:nvSpPr>
          <p:cNvPr id="11" name="Shape 2">
            <a:extLst>
              <a:ext uri="{FF2B5EF4-FFF2-40B4-BE49-F238E27FC236}">
                <a16:creationId xmlns:a16="http://schemas.microsoft.com/office/drawing/2014/main" id="{F66CCB79-35FF-8318-5713-8D1256EE74EA}"/>
              </a:ext>
            </a:extLst>
          </p:cNvPr>
          <p:cNvSpPr/>
          <p:nvPr/>
        </p:nvSpPr>
        <p:spPr>
          <a:xfrm>
            <a:off x="611610" y="2450585"/>
            <a:ext cx="30480" cy="1720691"/>
          </a:xfrm>
          <a:prstGeom prst="rect">
            <a:avLst/>
          </a:prstGeom>
          <a:solidFill>
            <a:srgbClr val="3E2513"/>
          </a:solidFill>
          <a:ln/>
        </p:spPr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FF17949-FD2B-6B12-2B80-C6AD26E085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9036329"/>
              </p:ext>
            </p:extLst>
          </p:nvPr>
        </p:nvGraphicFramePr>
        <p:xfrm>
          <a:off x="808901" y="4036036"/>
          <a:ext cx="8780060" cy="202184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926687">
                  <a:extLst>
                    <a:ext uri="{9D8B030D-6E8A-4147-A177-3AD203B41FA5}">
                      <a16:colId xmlns:a16="http://schemas.microsoft.com/office/drawing/2014/main" val="4145088548"/>
                    </a:ext>
                  </a:extLst>
                </a:gridCol>
                <a:gridCol w="2007572">
                  <a:extLst>
                    <a:ext uri="{9D8B030D-6E8A-4147-A177-3AD203B41FA5}">
                      <a16:colId xmlns:a16="http://schemas.microsoft.com/office/drawing/2014/main" val="263093473"/>
                    </a:ext>
                  </a:extLst>
                </a:gridCol>
                <a:gridCol w="3845801">
                  <a:extLst>
                    <a:ext uri="{9D8B030D-6E8A-4147-A177-3AD203B41FA5}">
                      <a16:colId xmlns:a16="http://schemas.microsoft.com/office/drawing/2014/main" val="36126104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MÉTRICA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s-MX" sz="1800" b="1" kern="1200" dirty="0">
                          <a:solidFill>
                            <a:schemeClr val="lt1"/>
                          </a:solidFill>
                        </a:rPr>
                        <a:t>UMBRAL</a:t>
                      </a:r>
                      <a:endParaRPr lang="es-MX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s-MX" sz="1800" b="1" kern="1200" dirty="0">
                          <a:solidFill>
                            <a:schemeClr val="lt1"/>
                          </a:solidFill>
                        </a:rPr>
                        <a:t>ORIGEN + GAP ASOCIADO</a:t>
                      </a:r>
                      <a:endParaRPr lang="es-MX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762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Tiempo cobertura (10 ha)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&lt;25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FAO 2021 + INIA</a:t>
                      </a:r>
                    </a:p>
                    <a:p>
                      <a:r>
                        <a:rPr lang="es-MX" dirty="0"/>
                        <a:t>→ Gap Práctico #P-001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40259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Consumo energético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&lt;450 </a:t>
                      </a:r>
                      <a:r>
                        <a:rPr lang="es-MX" dirty="0" err="1"/>
                        <a:t>Wh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 err="1"/>
                        <a:t>Benchmark</a:t>
                      </a:r>
                      <a:r>
                        <a:rPr lang="es-MX" dirty="0"/>
                        <a:t> agrícola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25616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Solapamiento de rutas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&lt;5%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Eficiencia operativa</a:t>
                      </a:r>
                    </a:p>
                    <a:p>
                      <a:r>
                        <a:rPr lang="es-MX" dirty="0"/>
                        <a:t>→ Gap Metodológico #M-07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5356366"/>
                  </a:ext>
                </a:extLst>
              </a:tr>
            </a:tbl>
          </a:graphicData>
        </a:graphic>
      </p:graphicFrame>
      <p:grpSp>
        <p:nvGrpSpPr>
          <p:cNvPr id="8" name="Grupo 7">
            <a:extLst>
              <a:ext uri="{FF2B5EF4-FFF2-40B4-BE49-F238E27FC236}">
                <a16:creationId xmlns:a16="http://schemas.microsoft.com/office/drawing/2014/main" id="{5BB0B7C3-EA05-FC77-CEEC-21AB4F624BF1}"/>
              </a:ext>
            </a:extLst>
          </p:cNvPr>
          <p:cNvGrpSpPr/>
          <p:nvPr/>
        </p:nvGrpSpPr>
        <p:grpSpPr>
          <a:xfrm>
            <a:off x="192718" y="6100253"/>
            <a:ext cx="10587332" cy="643238"/>
            <a:chOff x="192718" y="6100253"/>
            <a:chExt cx="10587332" cy="643238"/>
          </a:xfrm>
        </p:grpSpPr>
        <p:cxnSp>
          <p:nvCxnSpPr>
            <p:cNvPr id="9" name="Conector recto 8">
              <a:extLst>
                <a:ext uri="{FF2B5EF4-FFF2-40B4-BE49-F238E27FC236}">
                  <a16:creationId xmlns:a16="http://schemas.microsoft.com/office/drawing/2014/main" id="{D1CEC580-CF19-95A8-F68A-1252723AF9D2}"/>
                </a:ext>
              </a:extLst>
            </p:cNvPr>
            <p:cNvCxnSpPr/>
            <p:nvPr/>
          </p:nvCxnSpPr>
          <p:spPr>
            <a:xfrm>
              <a:off x="192718" y="6698870"/>
              <a:ext cx="9095145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0" name="Imagen 9">
              <a:extLst>
                <a:ext uri="{FF2B5EF4-FFF2-40B4-BE49-F238E27FC236}">
                  <a16:creationId xmlns:a16="http://schemas.microsoft.com/office/drawing/2014/main" id="{962C5590-9313-794F-B717-6A88B099C27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480581" y="6100253"/>
              <a:ext cx="1299469" cy="64323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6165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BDEAED-3635-3DED-38EC-FCAFD821A9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08CCF12E-8152-2D6C-CD2A-7F185B730A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33" name="Rectangle 1032">
            <a:extLst>
              <a:ext uri="{FF2B5EF4-FFF2-40B4-BE49-F238E27FC236}">
                <a16:creationId xmlns:a16="http://schemas.microsoft.com/office/drawing/2014/main" id="{76F21B76-D4E9-D591-5350-22C2F410A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35" name="Rectangle 1034">
            <a:extLst>
              <a:ext uri="{FF2B5EF4-FFF2-40B4-BE49-F238E27FC236}">
                <a16:creationId xmlns:a16="http://schemas.microsoft.com/office/drawing/2014/main" id="{FD31E280-578B-E469-A130-9AFD96C794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96A4531-DFCF-698A-5974-040D54CD6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225" y="554422"/>
            <a:ext cx="10168128" cy="1179576"/>
          </a:xfrm>
        </p:spPr>
        <p:txBody>
          <a:bodyPr>
            <a:normAutofit/>
          </a:bodyPr>
          <a:lstStyle/>
          <a:p>
            <a:r>
              <a:rPr lang="es-MX" dirty="0"/>
              <a:t>INTRODUCCIÓN</a:t>
            </a:r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4962ED88-F489-85C2-71D1-27CFF64FDB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70799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DD24C22-AE09-2AE9-C9A7-7119ECB36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8</a:t>
            </a:fld>
            <a:endParaRPr lang="en-US"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9B9C448F-F3CC-3A4D-61DE-D0BDD2DBA866}"/>
              </a:ext>
            </a:extLst>
          </p:cNvPr>
          <p:cNvSpPr/>
          <p:nvPr/>
        </p:nvSpPr>
        <p:spPr>
          <a:xfrm>
            <a:off x="812423" y="1381544"/>
            <a:ext cx="7428905" cy="673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00" dirty="0">
                <a:solidFill>
                  <a:srgbClr val="3E2513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PLANTEAMIENTO DEL PROBLEMA CUANTIFICABLE</a:t>
            </a:r>
            <a:endParaRPr lang="en-US" sz="4200" dirty="0"/>
          </a:p>
        </p:txBody>
      </p:sp>
      <p:sp>
        <p:nvSpPr>
          <p:cNvPr id="26" name="Shape 8">
            <a:extLst>
              <a:ext uri="{FF2B5EF4-FFF2-40B4-BE49-F238E27FC236}">
                <a16:creationId xmlns:a16="http://schemas.microsoft.com/office/drawing/2014/main" id="{E48089D0-FD23-B1B4-C736-2972623FB243}"/>
              </a:ext>
            </a:extLst>
          </p:cNvPr>
          <p:cNvSpPr/>
          <p:nvPr/>
        </p:nvSpPr>
        <p:spPr>
          <a:xfrm>
            <a:off x="477333" y="2122937"/>
            <a:ext cx="11285002" cy="4532651"/>
          </a:xfrm>
          <a:prstGeom prst="roundRect">
            <a:avLst>
              <a:gd name="adj" fmla="val 1884"/>
            </a:avLst>
          </a:prstGeom>
          <a:solidFill>
            <a:srgbClr val="EDD5C4"/>
          </a:solidFill>
          <a:ln/>
        </p:spPr>
      </p:sp>
      <p:sp>
        <p:nvSpPr>
          <p:cNvPr id="11" name="Shape 2">
            <a:extLst>
              <a:ext uri="{FF2B5EF4-FFF2-40B4-BE49-F238E27FC236}">
                <a16:creationId xmlns:a16="http://schemas.microsoft.com/office/drawing/2014/main" id="{F66CCB79-35FF-8318-5713-8D1256EE74EA}"/>
              </a:ext>
            </a:extLst>
          </p:cNvPr>
          <p:cNvSpPr/>
          <p:nvPr/>
        </p:nvSpPr>
        <p:spPr>
          <a:xfrm>
            <a:off x="611610" y="2450585"/>
            <a:ext cx="30480" cy="1720691"/>
          </a:xfrm>
          <a:prstGeom prst="rect">
            <a:avLst/>
          </a:prstGeom>
          <a:solidFill>
            <a:srgbClr val="3E2513"/>
          </a:solidFill>
          <a:ln/>
        </p:spPr>
      </p:sp>
      <p:pic>
        <p:nvPicPr>
          <p:cNvPr id="14" name="Picture 13" descr="A group of drones flying over a field&#10;&#10;AI-generated content may be incorrect.">
            <a:extLst>
              <a:ext uri="{FF2B5EF4-FFF2-40B4-BE49-F238E27FC236}">
                <a16:creationId xmlns:a16="http://schemas.microsoft.com/office/drawing/2014/main" id="{9EB90D92-2599-49D2-31BD-2EB0EB3E4E3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3296" r="14960" b="10823"/>
          <a:stretch/>
        </p:blipFill>
        <p:spPr>
          <a:xfrm>
            <a:off x="566928" y="2259475"/>
            <a:ext cx="10996458" cy="4324886"/>
          </a:xfrm>
          <a:prstGeom prst="rect">
            <a:avLst/>
          </a:prstGeom>
        </p:spPr>
      </p:pic>
      <p:grpSp>
        <p:nvGrpSpPr>
          <p:cNvPr id="8" name="Grupo 7">
            <a:extLst>
              <a:ext uri="{FF2B5EF4-FFF2-40B4-BE49-F238E27FC236}">
                <a16:creationId xmlns:a16="http://schemas.microsoft.com/office/drawing/2014/main" id="{5BB0B7C3-EA05-FC77-CEEC-21AB4F624BF1}"/>
              </a:ext>
            </a:extLst>
          </p:cNvPr>
          <p:cNvGrpSpPr/>
          <p:nvPr/>
        </p:nvGrpSpPr>
        <p:grpSpPr>
          <a:xfrm>
            <a:off x="192718" y="6100253"/>
            <a:ext cx="10587332" cy="643238"/>
            <a:chOff x="192718" y="6100253"/>
            <a:chExt cx="10587332" cy="643238"/>
          </a:xfrm>
        </p:grpSpPr>
        <p:cxnSp>
          <p:nvCxnSpPr>
            <p:cNvPr id="9" name="Conector recto 8">
              <a:extLst>
                <a:ext uri="{FF2B5EF4-FFF2-40B4-BE49-F238E27FC236}">
                  <a16:creationId xmlns:a16="http://schemas.microsoft.com/office/drawing/2014/main" id="{D1CEC580-CF19-95A8-F68A-1252723AF9D2}"/>
                </a:ext>
              </a:extLst>
            </p:cNvPr>
            <p:cNvCxnSpPr/>
            <p:nvPr/>
          </p:nvCxnSpPr>
          <p:spPr>
            <a:xfrm>
              <a:off x="192718" y="6698870"/>
              <a:ext cx="9095145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0" name="Imagen 9">
              <a:extLst>
                <a:ext uri="{FF2B5EF4-FFF2-40B4-BE49-F238E27FC236}">
                  <a16:creationId xmlns:a16="http://schemas.microsoft.com/office/drawing/2014/main" id="{962C5590-9313-794F-B717-6A88B099C27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480581" y="6100253"/>
              <a:ext cx="1299469" cy="643238"/>
            </a:xfrm>
            <a:prstGeom prst="rect">
              <a:avLst/>
            </a:prstGeom>
          </p:spPr>
        </p:pic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96B7AAD4-B6F6-B618-0443-0092AA09427B}"/>
              </a:ext>
            </a:extLst>
          </p:cNvPr>
          <p:cNvSpPr txBox="1"/>
          <p:nvPr/>
        </p:nvSpPr>
        <p:spPr>
          <a:xfrm>
            <a:off x="611610" y="2366304"/>
            <a:ext cx="5612209" cy="2062103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s-MX" sz="1600" dirty="0">
                <a:solidFill>
                  <a:schemeClr val="bg1"/>
                </a:solidFill>
              </a:rPr>
              <a:t>BAJO INCERTIDUMBRE AMBIENTAL:</a:t>
            </a:r>
          </a:p>
          <a:p>
            <a:r>
              <a:rPr lang="es-MX" sz="1600" dirty="0">
                <a:solidFill>
                  <a:schemeClr val="bg1"/>
                </a:solidFill>
              </a:rPr>
              <a:t>• Viento turbulento (&gt;5 m/s) </a:t>
            </a:r>
          </a:p>
          <a:p>
            <a:r>
              <a:rPr lang="es-MX" sz="1600" dirty="0">
                <a:solidFill>
                  <a:schemeClr val="bg1"/>
                </a:solidFill>
              </a:rPr>
              <a:t>  → Gap #T-03: "Sin modelado de viento realista"</a:t>
            </a:r>
          </a:p>
          <a:p>
            <a:r>
              <a:rPr lang="es-MX" sz="1600" dirty="0">
                <a:solidFill>
                  <a:schemeClr val="bg1"/>
                </a:solidFill>
              </a:rPr>
              <a:t>• Obstáculos dinámicos (aves, equipos agrícolas) </a:t>
            </a:r>
          </a:p>
          <a:p>
            <a:r>
              <a:rPr lang="es-MX" sz="1600" dirty="0">
                <a:solidFill>
                  <a:schemeClr val="bg1"/>
                </a:solidFill>
              </a:rPr>
              <a:t>  → Gap #P-012: "Navegación reactiva no estandarizada"</a:t>
            </a:r>
          </a:p>
          <a:p>
            <a:r>
              <a:rPr lang="es-MX" sz="1600" dirty="0">
                <a:solidFill>
                  <a:schemeClr val="bg1"/>
                </a:solidFill>
              </a:rPr>
              <a:t>• Fallo de 1 RPAS durante la misión </a:t>
            </a:r>
          </a:p>
          <a:p>
            <a:r>
              <a:rPr lang="es-MX" sz="1600" dirty="0">
                <a:solidFill>
                  <a:schemeClr val="bg1"/>
                </a:solidFill>
              </a:rPr>
              <a:t>  → Gap #M-07: "Sin métricas de resiliencia"</a:t>
            </a:r>
          </a:p>
          <a:p>
            <a:r>
              <a:rPr lang="es-MX" sz="1600" dirty="0">
                <a:solidFill>
                  <a:schemeClr val="bg1"/>
                </a:solidFill>
              </a:rPr>
              <a:t>    → Robustez objetivo: ≥90% de éxito ante fallo único</a:t>
            </a:r>
          </a:p>
        </p:txBody>
      </p:sp>
    </p:spTree>
    <p:extLst>
      <p:ext uri="{BB962C8B-B14F-4D97-AF65-F5344CB8AC3E}">
        <p14:creationId xmlns:p14="http://schemas.microsoft.com/office/powerpoint/2010/main" val="34957203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BDEAED-3635-3DED-38EC-FCAFD821A9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6A4531-DFCF-698A-5974-040D54CD6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225" y="554422"/>
            <a:ext cx="10168128" cy="1179576"/>
          </a:xfrm>
        </p:spPr>
        <p:txBody>
          <a:bodyPr>
            <a:normAutofit/>
          </a:bodyPr>
          <a:lstStyle/>
          <a:p>
            <a:r>
              <a:rPr lang="es-MX" dirty="0"/>
              <a:t>JUSTIFICACIÓN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DD24C22-AE09-2AE9-C9A7-7119ECB36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9</a:t>
            </a:fld>
            <a:endParaRPr lang="en-US"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9B9C448F-F3CC-3A4D-61DE-D0BDD2DBA866}"/>
              </a:ext>
            </a:extLst>
          </p:cNvPr>
          <p:cNvSpPr/>
          <p:nvPr/>
        </p:nvSpPr>
        <p:spPr>
          <a:xfrm>
            <a:off x="812423" y="1381544"/>
            <a:ext cx="7428905" cy="673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s-MX" sz="3200" dirty="0">
                <a:solidFill>
                  <a:srgbClr val="3E2513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DIFERENCIADA: COMPARATIVA CON ESTADO DEL ARTE</a:t>
            </a:r>
          </a:p>
        </p:txBody>
      </p:sp>
      <p:sp>
        <p:nvSpPr>
          <p:cNvPr id="26" name="Shape 8">
            <a:extLst>
              <a:ext uri="{FF2B5EF4-FFF2-40B4-BE49-F238E27FC236}">
                <a16:creationId xmlns:a16="http://schemas.microsoft.com/office/drawing/2014/main" id="{E48089D0-FD23-B1B4-C736-2972623FB243}"/>
              </a:ext>
            </a:extLst>
          </p:cNvPr>
          <p:cNvSpPr/>
          <p:nvPr/>
        </p:nvSpPr>
        <p:spPr>
          <a:xfrm>
            <a:off x="477333" y="2122938"/>
            <a:ext cx="11285002" cy="4553328"/>
          </a:xfrm>
          <a:prstGeom prst="roundRect">
            <a:avLst>
              <a:gd name="adj" fmla="val 1884"/>
            </a:avLst>
          </a:prstGeom>
          <a:solidFill>
            <a:srgbClr val="EDD5C4"/>
          </a:solidFill>
          <a:ln/>
        </p:spPr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7A45B738-D4B1-CCC6-C406-0DF1EDE78A09}"/>
              </a:ext>
            </a:extLst>
          </p:cNvPr>
          <p:cNvSpPr/>
          <p:nvPr/>
        </p:nvSpPr>
        <p:spPr>
          <a:xfrm>
            <a:off x="776367" y="2311059"/>
            <a:ext cx="10741009" cy="830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s-MX" sz="210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Contexto: PSO domina literatura (9/22 primarios, 40.9%) </a:t>
            </a:r>
          </a:p>
          <a:p>
            <a:pPr marL="0" indent="0" algn="l">
              <a:lnSpc>
                <a:spcPts val="3300"/>
              </a:lnSpc>
              <a:buNone/>
            </a:pPr>
            <a:r>
              <a:rPr lang="es-MX" sz="210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→ justifica enfoque en hibridación PSO-ACO</a:t>
            </a:r>
          </a:p>
        </p:txBody>
      </p:sp>
      <p:sp>
        <p:nvSpPr>
          <p:cNvPr id="11" name="Shape 2">
            <a:extLst>
              <a:ext uri="{FF2B5EF4-FFF2-40B4-BE49-F238E27FC236}">
                <a16:creationId xmlns:a16="http://schemas.microsoft.com/office/drawing/2014/main" id="{F66CCB79-35FF-8318-5713-8D1256EE74EA}"/>
              </a:ext>
            </a:extLst>
          </p:cNvPr>
          <p:cNvSpPr/>
          <p:nvPr/>
        </p:nvSpPr>
        <p:spPr>
          <a:xfrm>
            <a:off x="611610" y="2450585"/>
            <a:ext cx="30480" cy="1720691"/>
          </a:xfrm>
          <a:prstGeom prst="rect">
            <a:avLst/>
          </a:prstGeom>
          <a:solidFill>
            <a:srgbClr val="3E2513"/>
          </a:solidFill>
          <a:ln/>
        </p:spPr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1B736B2-FB0A-DB9A-C257-E757C1268C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7292547"/>
              </p:ext>
            </p:extLst>
          </p:nvPr>
        </p:nvGraphicFramePr>
        <p:xfrm>
          <a:off x="679690" y="3200207"/>
          <a:ext cx="10767966" cy="3054604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154057">
                  <a:extLst>
                    <a:ext uri="{9D8B030D-6E8A-4147-A177-3AD203B41FA5}">
                      <a16:colId xmlns:a16="http://schemas.microsoft.com/office/drawing/2014/main" val="1751737001"/>
                    </a:ext>
                  </a:extLst>
                </a:gridCol>
                <a:gridCol w="1469341">
                  <a:extLst>
                    <a:ext uri="{9D8B030D-6E8A-4147-A177-3AD203B41FA5}">
                      <a16:colId xmlns:a16="http://schemas.microsoft.com/office/drawing/2014/main" val="1022084780"/>
                    </a:ext>
                  </a:extLst>
                </a:gridCol>
                <a:gridCol w="3150294">
                  <a:extLst>
                    <a:ext uri="{9D8B030D-6E8A-4147-A177-3AD203B41FA5}">
                      <a16:colId xmlns:a16="http://schemas.microsoft.com/office/drawing/2014/main" val="2201455946"/>
                    </a:ext>
                  </a:extLst>
                </a:gridCol>
                <a:gridCol w="3994274">
                  <a:extLst>
                    <a:ext uri="{9D8B030D-6E8A-4147-A177-3AD203B41FA5}">
                      <a16:colId xmlns:a16="http://schemas.microsoft.com/office/drawing/2014/main" val="3855980275"/>
                    </a:ext>
                  </a:extLst>
                </a:gridCol>
              </a:tblGrid>
              <a:tr h="646684">
                <a:tc>
                  <a:txBody>
                    <a:bodyPr/>
                    <a:lstStyle/>
                    <a:p>
                      <a:r>
                        <a:rPr lang="es-MX" sz="1400"/>
                        <a:t>PAPER CLAVE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MX" sz="1400"/>
                        <a:t>ALGORITMO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MX" sz="1400"/>
                        <a:t>LIMITACIÓN IDENTIFICADA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MX" sz="1400"/>
                        <a:t>CONTRIBUCIÓN DIFERENCIADORA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3446606"/>
                  </a:ext>
                </a:extLst>
              </a:tr>
              <a:tr h="646684">
                <a:tc>
                  <a:txBody>
                    <a:bodyPr/>
                    <a:lstStyle/>
                    <a:p>
                      <a:r>
                        <a:rPr lang="es-MX" sz="1400" dirty="0"/>
                        <a:t>Chen et al. (2021)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MX" sz="1400"/>
                        <a:t>ACO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MX" sz="1400" dirty="0"/>
                        <a:t>Centralizado;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MX" sz="1400" dirty="0"/>
                        <a:t>Sin validación agrícola real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ü"/>
                      </a:pPr>
                      <a:r>
                        <a:rPr lang="es-MX" sz="1400" dirty="0"/>
                        <a:t>Descentralizado peer-</a:t>
                      </a:r>
                      <a:r>
                        <a:rPr lang="es-MX" sz="1400" dirty="0" err="1"/>
                        <a:t>to</a:t>
                      </a:r>
                      <a:r>
                        <a:rPr lang="es-MX" sz="1400" dirty="0"/>
                        <a:t>-peer; 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ü"/>
                      </a:pPr>
                      <a:r>
                        <a:rPr lang="es-MX" sz="1400" dirty="0"/>
                        <a:t>Validación con 3 </a:t>
                      </a:r>
                      <a:r>
                        <a:rPr lang="es-MX" sz="1400" dirty="0" err="1"/>
                        <a:t>UAVs</a:t>
                      </a:r>
                      <a:r>
                        <a:rPr lang="es-MX" sz="1400" dirty="0"/>
                        <a:t> reales en campo agrícola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409090"/>
                  </a:ext>
                </a:extLst>
              </a:tr>
              <a:tr h="646684">
                <a:tc>
                  <a:txBody>
                    <a:bodyPr/>
                    <a:lstStyle/>
                    <a:p>
                      <a:r>
                        <a:rPr lang="es-MX" sz="1400"/>
                        <a:t>Mathew et al. (2021)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MX" sz="1400"/>
                        <a:t>PSO-ACO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MX" sz="1400" dirty="0"/>
                        <a:t>Robot terrestre en 2D;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MX" sz="1400" dirty="0"/>
                        <a:t>Sin heterogeneidad;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MX" sz="1400" dirty="0"/>
                        <a:t>Excluido por E6*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ü"/>
                      </a:pPr>
                      <a:r>
                        <a:rPr lang="es-MX" sz="1400" dirty="0"/>
                        <a:t>Multi-RPAS heterogéneos en 3D; 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ü"/>
                      </a:pPr>
                      <a:r>
                        <a:rPr lang="es-MX" sz="1400" dirty="0" err="1"/>
                        <a:t>Setup</a:t>
                      </a:r>
                      <a:r>
                        <a:rPr lang="es-MX" sz="1400" dirty="0"/>
                        <a:t> real: agrícola + 2 pequeños </a:t>
                      </a:r>
                      <a:r>
                        <a:rPr lang="es-MX" sz="1400" dirty="0" err="1"/>
                        <a:t>Pixhawk</a:t>
                      </a:r>
                      <a:endParaRPr lang="es-MX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6479199"/>
                  </a:ext>
                </a:extLst>
              </a:tr>
              <a:tr h="646684">
                <a:tc>
                  <a:txBody>
                    <a:bodyPr/>
                    <a:lstStyle/>
                    <a:p>
                      <a:r>
                        <a:rPr lang="es-MX" sz="1400"/>
                        <a:t>Puente-Castro (2022)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MX" sz="1400"/>
                        <a:t>Review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MX" sz="1400" dirty="0"/>
                        <a:t>Falta estandarización de métricas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ü"/>
                      </a:pPr>
                      <a:r>
                        <a:rPr lang="es-MX" sz="1400" dirty="0"/>
                        <a:t>3 métricas cuantificables: </a:t>
                      </a:r>
                    </a:p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r>
                        <a:rPr lang="es-MX" sz="1400" dirty="0"/>
                        <a:t>• Tiempo cobertura </a:t>
                      </a:r>
                    </a:p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r>
                        <a:rPr lang="es-MX" sz="1400" dirty="0"/>
                        <a:t>• Consumo energético </a:t>
                      </a:r>
                    </a:p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r>
                        <a:rPr lang="es-MX" sz="1400" dirty="0"/>
                        <a:t>• Tasa éxito ante fallos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03972301"/>
                  </a:ext>
                </a:extLst>
              </a:tr>
            </a:tbl>
          </a:graphicData>
        </a:graphic>
      </p:graphicFrame>
      <p:grpSp>
        <p:nvGrpSpPr>
          <p:cNvPr id="8" name="Grupo 7">
            <a:extLst>
              <a:ext uri="{FF2B5EF4-FFF2-40B4-BE49-F238E27FC236}">
                <a16:creationId xmlns:a16="http://schemas.microsoft.com/office/drawing/2014/main" id="{5BB0B7C3-EA05-FC77-CEEC-21AB4F624BF1}"/>
              </a:ext>
            </a:extLst>
          </p:cNvPr>
          <p:cNvGrpSpPr/>
          <p:nvPr/>
        </p:nvGrpSpPr>
        <p:grpSpPr>
          <a:xfrm>
            <a:off x="192718" y="6100253"/>
            <a:ext cx="10587332" cy="643238"/>
            <a:chOff x="192718" y="6100253"/>
            <a:chExt cx="10587332" cy="643238"/>
          </a:xfrm>
        </p:grpSpPr>
        <p:cxnSp>
          <p:nvCxnSpPr>
            <p:cNvPr id="9" name="Conector recto 8">
              <a:extLst>
                <a:ext uri="{FF2B5EF4-FFF2-40B4-BE49-F238E27FC236}">
                  <a16:creationId xmlns:a16="http://schemas.microsoft.com/office/drawing/2014/main" id="{D1CEC580-CF19-95A8-F68A-1252723AF9D2}"/>
                </a:ext>
              </a:extLst>
            </p:cNvPr>
            <p:cNvCxnSpPr/>
            <p:nvPr/>
          </p:nvCxnSpPr>
          <p:spPr>
            <a:xfrm>
              <a:off x="192718" y="6698870"/>
              <a:ext cx="9095145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0" name="Imagen 9">
              <a:extLst>
                <a:ext uri="{FF2B5EF4-FFF2-40B4-BE49-F238E27FC236}">
                  <a16:creationId xmlns:a16="http://schemas.microsoft.com/office/drawing/2014/main" id="{962C5590-9313-794F-B717-6A88B099C27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480581" y="6100253"/>
              <a:ext cx="1299469" cy="643238"/>
            </a:xfrm>
            <a:prstGeom prst="rect">
              <a:avLst/>
            </a:prstGeom>
          </p:spPr>
        </p:pic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1134DBFF-E8F2-A037-F8BB-5052A9A1A62B}"/>
              </a:ext>
            </a:extLst>
          </p:cNvPr>
          <p:cNvSpPr txBox="1"/>
          <p:nvPr/>
        </p:nvSpPr>
        <p:spPr>
          <a:xfrm>
            <a:off x="602276" y="6303578"/>
            <a:ext cx="887830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600" dirty="0"/>
              <a:t>* Criterio E6: Exclusión de plataformas no-aéreas para mantener alcance UAV agrícola</a:t>
            </a:r>
          </a:p>
        </p:txBody>
      </p:sp>
    </p:spTree>
    <p:extLst>
      <p:ext uri="{BB962C8B-B14F-4D97-AF65-F5344CB8AC3E}">
        <p14:creationId xmlns:p14="http://schemas.microsoft.com/office/powerpoint/2010/main" val="5218115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BDEAED-3635-3DED-38EC-FCAFD821A9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08CCF12E-8152-2D6C-CD2A-7F185B730A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33" name="Rectangle 1032">
            <a:extLst>
              <a:ext uri="{FF2B5EF4-FFF2-40B4-BE49-F238E27FC236}">
                <a16:creationId xmlns:a16="http://schemas.microsoft.com/office/drawing/2014/main" id="{76F21B76-D4E9-D591-5350-22C2F410A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35" name="Rectangle 1034">
            <a:extLst>
              <a:ext uri="{FF2B5EF4-FFF2-40B4-BE49-F238E27FC236}">
                <a16:creationId xmlns:a16="http://schemas.microsoft.com/office/drawing/2014/main" id="{FD31E280-578B-E469-A130-9AFD96C794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96A4531-DFCF-698A-5974-040D54CD6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s-MX" sz="4000" dirty="0"/>
              <a:t>JUSTIFICACIÓN</a:t>
            </a:r>
            <a:endParaRPr lang="es-MX" dirty="0"/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4962ED88-F489-85C2-71D1-27CFF64FDB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70799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1CCD1034-6ABB-AF3F-FCCD-5C562FBF83DF}"/>
              </a:ext>
            </a:extLst>
          </p:cNvPr>
          <p:cNvSpPr/>
          <p:nvPr/>
        </p:nvSpPr>
        <p:spPr>
          <a:xfrm>
            <a:off x="558209" y="2087046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chemeClr val="accent1">
                    <a:lumMod val="75000"/>
                  </a:schemeClr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Impacto Científico</a:t>
            </a:r>
            <a:endParaRPr lang="en-US" sz="355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F88E51FB-8542-11B3-24F0-E6C598C1F5F0}"/>
              </a:ext>
            </a:extLst>
          </p:cNvPr>
          <p:cNvSpPr/>
          <p:nvPr/>
        </p:nvSpPr>
        <p:spPr>
          <a:xfrm>
            <a:off x="566928" y="2711896"/>
            <a:ext cx="11106062" cy="1730812"/>
          </a:xfrm>
          <a:prstGeom prst="roundRect">
            <a:avLst>
              <a:gd name="adj" fmla="val 8453"/>
            </a:avLst>
          </a:prstGeom>
          <a:solidFill>
            <a:srgbClr val="FFFDFA"/>
          </a:solidFill>
          <a:ln w="30480">
            <a:solidFill>
              <a:srgbClr val="DDD3BA"/>
            </a:solidFill>
            <a:prstDash val="solid"/>
          </a:ln>
        </p:spPr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AEF78F95-B526-3FCC-D9AB-906FB8464EB9}"/>
              </a:ext>
            </a:extLst>
          </p:cNvPr>
          <p:cNvSpPr/>
          <p:nvPr/>
        </p:nvSpPr>
        <p:spPr>
          <a:xfrm>
            <a:off x="536447" y="2711896"/>
            <a:ext cx="121920" cy="1730812"/>
          </a:xfrm>
          <a:prstGeom prst="roundRect">
            <a:avLst>
              <a:gd name="adj" fmla="val 78139"/>
            </a:avLst>
          </a:prstGeom>
          <a:solidFill>
            <a:srgbClr val="B88E23"/>
          </a:solidFill>
          <a:ln/>
        </p:spPr>
      </p:sp>
      <p:sp>
        <p:nvSpPr>
          <p:cNvPr id="9" name="Text 0">
            <a:extLst>
              <a:ext uri="{FF2B5EF4-FFF2-40B4-BE49-F238E27FC236}">
                <a16:creationId xmlns:a16="http://schemas.microsoft.com/office/drawing/2014/main" id="{A105F213-7A0C-3D8D-FF53-180C49C1B737}"/>
              </a:ext>
            </a:extLst>
          </p:cNvPr>
          <p:cNvSpPr/>
          <p:nvPr/>
        </p:nvSpPr>
        <p:spPr>
          <a:xfrm>
            <a:off x="536447" y="4473094"/>
            <a:ext cx="4898827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450"/>
              </a:lnSpc>
            </a:pPr>
            <a:r>
              <a:rPr lang="en-US" sz="3550" dirty="0" err="1">
                <a:solidFill>
                  <a:schemeClr val="accent1">
                    <a:lumMod val="75000"/>
                  </a:schemeClr>
                </a:solidFill>
                <a:latin typeface="Libre Baskerville" pitchFamily="34" charset="0"/>
              </a:rPr>
              <a:t>Impacto</a:t>
            </a:r>
            <a:r>
              <a:rPr lang="en-US" sz="3550" dirty="0">
                <a:solidFill>
                  <a:schemeClr val="accent1">
                    <a:lumMod val="75000"/>
                  </a:schemeClr>
                </a:solidFill>
                <a:latin typeface="Libre Baskerville" pitchFamily="34" charset="0"/>
              </a:rPr>
              <a:t> </a:t>
            </a:r>
            <a:r>
              <a:rPr lang="en-US" sz="3550" dirty="0" err="1">
                <a:solidFill>
                  <a:schemeClr val="accent1">
                    <a:lumMod val="75000"/>
                  </a:schemeClr>
                </a:solidFill>
                <a:latin typeface="Libre Baskerville" pitchFamily="34" charset="0"/>
              </a:rPr>
              <a:t>Tecnológico</a:t>
            </a:r>
            <a:endParaRPr lang="en-US" sz="3550" dirty="0">
              <a:solidFill>
                <a:schemeClr val="accent1">
                  <a:lumMod val="75000"/>
                </a:schemeClr>
              </a:solidFill>
              <a:latin typeface="Libre Baskerville" pitchFamily="34" charset="0"/>
            </a:endParaRPr>
          </a:p>
        </p:txBody>
      </p:sp>
      <p:sp>
        <p:nvSpPr>
          <p:cNvPr id="10" name="Shape 1">
            <a:extLst>
              <a:ext uri="{FF2B5EF4-FFF2-40B4-BE49-F238E27FC236}">
                <a16:creationId xmlns:a16="http://schemas.microsoft.com/office/drawing/2014/main" id="{13410344-F61B-9F66-A3F9-E4A7CAB9178A}"/>
              </a:ext>
            </a:extLst>
          </p:cNvPr>
          <p:cNvSpPr/>
          <p:nvPr/>
        </p:nvSpPr>
        <p:spPr>
          <a:xfrm>
            <a:off x="529314" y="5047899"/>
            <a:ext cx="11126239" cy="1730812"/>
          </a:xfrm>
          <a:prstGeom prst="roundRect">
            <a:avLst>
              <a:gd name="adj" fmla="val 8453"/>
            </a:avLst>
          </a:prstGeom>
          <a:solidFill>
            <a:srgbClr val="FFFDFA"/>
          </a:solidFill>
          <a:ln w="30480">
            <a:solidFill>
              <a:srgbClr val="DDD3BA"/>
            </a:solidFill>
            <a:prstDash val="solid"/>
          </a:ln>
        </p:spPr>
      </p:sp>
      <p:sp>
        <p:nvSpPr>
          <p:cNvPr id="11" name="Shape 2">
            <a:extLst>
              <a:ext uri="{FF2B5EF4-FFF2-40B4-BE49-F238E27FC236}">
                <a16:creationId xmlns:a16="http://schemas.microsoft.com/office/drawing/2014/main" id="{35787E81-7A89-83B5-43EE-126AEEC9DBBB}"/>
              </a:ext>
            </a:extLst>
          </p:cNvPr>
          <p:cNvSpPr/>
          <p:nvPr/>
        </p:nvSpPr>
        <p:spPr>
          <a:xfrm>
            <a:off x="498834" y="5047899"/>
            <a:ext cx="104004" cy="1730812"/>
          </a:xfrm>
          <a:prstGeom prst="roundRect">
            <a:avLst>
              <a:gd name="adj" fmla="val 78139"/>
            </a:avLst>
          </a:prstGeom>
          <a:solidFill>
            <a:srgbClr val="B88E23"/>
          </a:solidFill>
          <a:ln/>
        </p:spPr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B2D7A0A9-ACCD-DA39-C1FE-CE63B450D14D}"/>
              </a:ext>
            </a:extLst>
          </p:cNvPr>
          <p:cNvSpPr/>
          <p:nvPr/>
        </p:nvSpPr>
        <p:spPr>
          <a:xfrm>
            <a:off x="1221495" y="1487192"/>
            <a:ext cx="10501114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IMPACTO CIENTÍFICO/TECNOLÓGICO/SOCIOECONÓMICO</a:t>
            </a:r>
            <a:endParaRPr lang="en-US" sz="33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368CA6E-4B36-C458-DA3B-2CEBC84A9FA0}"/>
              </a:ext>
            </a:extLst>
          </p:cNvPr>
          <p:cNvSpPr txBox="1"/>
          <p:nvPr/>
        </p:nvSpPr>
        <p:spPr>
          <a:xfrm>
            <a:off x="878048" y="2700139"/>
            <a:ext cx="10747024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000" dirty="0"/>
              <a:t>Propuesta de hibridación PSO-ACO con análisis teórico de convergencia:</a:t>
            </a:r>
          </a:p>
          <a:p>
            <a:r>
              <a:rPr lang="es-MX" sz="2000" dirty="0"/>
              <a:t>• PSO: particionamiento dinámico del campo según variabilidad NDVI</a:t>
            </a:r>
          </a:p>
          <a:p>
            <a:r>
              <a:rPr lang="es-MX" sz="2000" dirty="0"/>
              <a:t>• ACO: asignación adaptativa de tareas a RPAS heterogéneos por capacidad residual</a:t>
            </a:r>
          </a:p>
          <a:p>
            <a:r>
              <a:rPr lang="es-MX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→ Gap #M-07: "Sin criterios estandarizados de convergencia en entornos dinámicos"</a:t>
            </a:r>
          </a:p>
          <a:p>
            <a:r>
              <a:rPr lang="es-MX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→ Gap #P-008: "Asignación de tareas no adaptativa a capacidades residuales"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4491E6A-352A-A629-80FD-070D22F7C1A4}"/>
              </a:ext>
            </a:extLst>
          </p:cNvPr>
          <p:cNvSpPr txBox="1"/>
          <p:nvPr/>
        </p:nvSpPr>
        <p:spPr>
          <a:xfrm>
            <a:off x="658366" y="5128573"/>
            <a:ext cx="10966705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000" dirty="0"/>
              <a:t>Framework open-</a:t>
            </a:r>
            <a:r>
              <a:rPr lang="es-MX" sz="2000" dirty="0" err="1"/>
              <a:t>source</a:t>
            </a:r>
            <a:r>
              <a:rPr lang="es-MX" sz="2000" dirty="0"/>
              <a:t> para coordinación descentralizada peer-</a:t>
            </a:r>
            <a:r>
              <a:rPr lang="es-MX" sz="2000" dirty="0" err="1"/>
              <a:t>to</a:t>
            </a:r>
            <a:r>
              <a:rPr lang="es-MX" sz="2000" dirty="0"/>
              <a:t>-peer:</a:t>
            </a:r>
          </a:p>
          <a:p>
            <a:r>
              <a:rPr lang="es-MX" sz="2000" dirty="0"/>
              <a:t>• Comunicación DDS/RTPS compatible con PX4/</a:t>
            </a:r>
            <a:r>
              <a:rPr lang="es-MX" sz="2000" dirty="0" err="1"/>
              <a:t>ArduPilot</a:t>
            </a:r>
            <a:endParaRPr lang="es-MX" sz="2000" dirty="0"/>
          </a:p>
          <a:p>
            <a:r>
              <a:rPr lang="es-MX" sz="2000" dirty="0"/>
              <a:t>• Reduce dependencia de soluciones propietarias centralizadas</a:t>
            </a:r>
          </a:p>
          <a:p>
            <a:endParaRPr lang="es-MX" sz="2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s-MX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→ Extiende </a:t>
            </a:r>
            <a:r>
              <a:rPr lang="es-MX" sz="2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AgriSwarm-Bench</a:t>
            </a:r>
            <a:r>
              <a:rPr lang="es-MX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añadiendo módulo de coordinación PSO-ACO</a:t>
            </a:r>
          </a:p>
        </p:txBody>
      </p:sp>
    </p:spTree>
    <p:extLst>
      <p:ext uri="{BB962C8B-B14F-4D97-AF65-F5344CB8AC3E}">
        <p14:creationId xmlns:p14="http://schemas.microsoft.com/office/powerpoint/2010/main" val="8920578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BDEAED-3635-3DED-38EC-FCAFD821A9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6A4531-DFCF-698A-5974-040D54CD6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s-MX" dirty="0"/>
              <a:t>JUSTIFICACIÓN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DD24C22-AE09-2AE9-C9A7-7119ECB36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11</a:t>
            </a:fld>
            <a:endParaRPr lang="en-US"/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5BB0B7C3-EA05-FC77-CEEC-21AB4F624BF1}"/>
              </a:ext>
            </a:extLst>
          </p:cNvPr>
          <p:cNvGrpSpPr/>
          <p:nvPr/>
        </p:nvGrpSpPr>
        <p:grpSpPr>
          <a:xfrm>
            <a:off x="192718" y="6100253"/>
            <a:ext cx="10587332" cy="643238"/>
            <a:chOff x="192718" y="6100253"/>
            <a:chExt cx="10587332" cy="643238"/>
          </a:xfrm>
        </p:grpSpPr>
        <p:cxnSp>
          <p:nvCxnSpPr>
            <p:cNvPr id="9" name="Conector recto 8">
              <a:extLst>
                <a:ext uri="{FF2B5EF4-FFF2-40B4-BE49-F238E27FC236}">
                  <a16:creationId xmlns:a16="http://schemas.microsoft.com/office/drawing/2014/main" id="{D1CEC580-CF19-95A8-F68A-1252723AF9D2}"/>
                </a:ext>
              </a:extLst>
            </p:cNvPr>
            <p:cNvCxnSpPr/>
            <p:nvPr/>
          </p:nvCxnSpPr>
          <p:spPr>
            <a:xfrm>
              <a:off x="192718" y="6698870"/>
              <a:ext cx="9095145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0" name="Imagen 9">
              <a:extLst>
                <a:ext uri="{FF2B5EF4-FFF2-40B4-BE49-F238E27FC236}">
                  <a16:creationId xmlns:a16="http://schemas.microsoft.com/office/drawing/2014/main" id="{962C5590-9313-794F-B717-6A88B099C27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480581" y="6100253"/>
              <a:ext cx="1299469" cy="643238"/>
            </a:xfrm>
            <a:prstGeom prst="rect">
              <a:avLst/>
            </a:prstGeom>
          </p:spPr>
        </p:pic>
      </p:grpSp>
      <p:sp>
        <p:nvSpPr>
          <p:cNvPr id="4" name="Text 4">
            <a:extLst>
              <a:ext uri="{FF2B5EF4-FFF2-40B4-BE49-F238E27FC236}">
                <a16:creationId xmlns:a16="http://schemas.microsoft.com/office/drawing/2014/main" id="{1CCD1034-6ABB-AF3F-FCCD-5C562FBF83DF}"/>
              </a:ext>
            </a:extLst>
          </p:cNvPr>
          <p:cNvSpPr/>
          <p:nvPr/>
        </p:nvSpPr>
        <p:spPr>
          <a:xfrm>
            <a:off x="558209" y="2087046"/>
            <a:ext cx="6108062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450"/>
              </a:lnSpc>
            </a:pPr>
            <a:r>
              <a:rPr lang="en-US" sz="3550" dirty="0" err="1">
                <a:solidFill>
                  <a:schemeClr val="accent1">
                    <a:lumMod val="75000"/>
                  </a:schemeClr>
                </a:solidFill>
                <a:latin typeface="Libre Baskerville" pitchFamily="34" charset="0"/>
              </a:rPr>
              <a:t>Impacto</a:t>
            </a:r>
            <a:r>
              <a:rPr lang="en-US" sz="3550" dirty="0">
                <a:solidFill>
                  <a:schemeClr val="accent1">
                    <a:lumMod val="75000"/>
                  </a:schemeClr>
                </a:solidFill>
                <a:latin typeface="Libre Baskerville" pitchFamily="34" charset="0"/>
              </a:rPr>
              <a:t> </a:t>
            </a:r>
            <a:r>
              <a:rPr lang="en-US" sz="3550" dirty="0" err="1">
                <a:solidFill>
                  <a:schemeClr val="accent1">
                    <a:lumMod val="75000"/>
                  </a:schemeClr>
                </a:solidFill>
                <a:latin typeface="Libre Baskerville" pitchFamily="34" charset="0"/>
              </a:rPr>
              <a:t>Socioeconómico</a:t>
            </a:r>
            <a:endParaRPr lang="en-US" sz="3550" dirty="0">
              <a:solidFill>
                <a:schemeClr val="accent1">
                  <a:lumMod val="75000"/>
                </a:schemeClr>
              </a:solidFill>
              <a:latin typeface="Libre Baskerville" pitchFamily="34" charset="0"/>
            </a:endParaRPr>
          </a:p>
          <a:p>
            <a:pPr>
              <a:lnSpc>
                <a:spcPts val="4450"/>
              </a:lnSpc>
            </a:pPr>
            <a:endParaRPr lang="en-US" sz="3550" dirty="0">
              <a:solidFill>
                <a:schemeClr val="accent1">
                  <a:lumMod val="75000"/>
                </a:schemeClr>
              </a:solidFill>
              <a:latin typeface="Libre Baskerville" pitchFamily="34" charset="0"/>
            </a:endParaRP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F88E51FB-8542-11B3-24F0-E6C598C1F5F0}"/>
              </a:ext>
            </a:extLst>
          </p:cNvPr>
          <p:cNvSpPr/>
          <p:nvPr/>
        </p:nvSpPr>
        <p:spPr>
          <a:xfrm>
            <a:off x="566928" y="2711896"/>
            <a:ext cx="11106062" cy="1730812"/>
          </a:xfrm>
          <a:prstGeom prst="roundRect">
            <a:avLst>
              <a:gd name="adj" fmla="val 8453"/>
            </a:avLst>
          </a:prstGeom>
          <a:solidFill>
            <a:srgbClr val="FFFDFA"/>
          </a:solidFill>
          <a:ln w="30480">
            <a:solidFill>
              <a:srgbClr val="DDD3BA"/>
            </a:solidFill>
            <a:prstDash val="solid"/>
          </a:ln>
        </p:spPr>
      </p:sp>
      <p:sp>
        <p:nvSpPr>
          <p:cNvPr id="15" name="Shape 6">
            <a:extLst>
              <a:ext uri="{FF2B5EF4-FFF2-40B4-BE49-F238E27FC236}">
                <a16:creationId xmlns:a16="http://schemas.microsoft.com/office/drawing/2014/main" id="{AEF78F95-B526-3FCC-D9AB-906FB8464EB9}"/>
              </a:ext>
            </a:extLst>
          </p:cNvPr>
          <p:cNvSpPr/>
          <p:nvPr/>
        </p:nvSpPr>
        <p:spPr>
          <a:xfrm>
            <a:off x="536447" y="2711896"/>
            <a:ext cx="121920" cy="1730812"/>
          </a:xfrm>
          <a:prstGeom prst="roundRect">
            <a:avLst>
              <a:gd name="adj" fmla="val 78139"/>
            </a:avLst>
          </a:prstGeom>
          <a:solidFill>
            <a:srgbClr val="B88E23"/>
          </a:solidFill>
          <a:ln/>
        </p:spPr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DB2B0D-B2D5-C340-1D4D-76319F081441}"/>
              </a:ext>
            </a:extLst>
          </p:cNvPr>
          <p:cNvSpPr txBox="1"/>
          <p:nvPr/>
        </p:nvSpPr>
        <p:spPr>
          <a:xfrm>
            <a:off x="792283" y="2756180"/>
            <a:ext cx="1083278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Reducción ≥25% en tiempo de monitoreo y optimización de insumos</a:t>
            </a:r>
          </a:p>
          <a:p>
            <a:r>
              <a:rPr lang="es-MX" dirty="0"/>
              <a:t>(</a:t>
            </a:r>
            <a:r>
              <a:rPr lang="es-MX" dirty="0" err="1"/>
              <a:t>benchmark</a:t>
            </a:r>
            <a:r>
              <a:rPr lang="es-MX" dirty="0"/>
              <a:t> FAO 2021 + consulta INIA)</a:t>
            </a:r>
          </a:p>
          <a:p>
            <a:endParaRPr lang="es-MX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s-MX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→ Enfoque regional: pequeños agricultores </a:t>
            </a:r>
            <a:r>
              <a:rPr lang="es-MX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LatAm</a:t>
            </a:r>
            <a:r>
              <a:rPr lang="es-MX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parcelas 5-20 ha</a:t>
            </a:r>
          </a:p>
          <a:p>
            <a:r>
              <a:rPr lang="es-MX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→ Escalabilidad: flotas de 3-10 </a:t>
            </a:r>
            <a:r>
              <a:rPr lang="es-MX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UAVs</a:t>
            </a:r>
            <a:r>
              <a:rPr lang="es-MX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en campos de 5-50 ha</a:t>
            </a:r>
          </a:p>
        </p:txBody>
      </p:sp>
      <p:sp>
        <p:nvSpPr>
          <p:cNvPr id="11" name="Text 0">
            <a:extLst>
              <a:ext uri="{FF2B5EF4-FFF2-40B4-BE49-F238E27FC236}">
                <a16:creationId xmlns:a16="http://schemas.microsoft.com/office/drawing/2014/main" id="{023A91FB-33A0-8147-CB19-91C41C74BB3A}"/>
              </a:ext>
            </a:extLst>
          </p:cNvPr>
          <p:cNvSpPr/>
          <p:nvPr/>
        </p:nvSpPr>
        <p:spPr>
          <a:xfrm>
            <a:off x="1221495" y="1487192"/>
            <a:ext cx="10501114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dirty="0">
                <a:solidFill>
                  <a:srgbClr val="201B18"/>
                </a:solidFill>
                <a:latin typeface="Aptos" panose="020B0004020202020204" pitchFamily="34" charset="0"/>
                <a:ea typeface="Platypi Medium" pitchFamily="34" charset="-122"/>
                <a:cs typeface="Platypi Medium" pitchFamily="34" charset="-120"/>
              </a:rPr>
              <a:t>IMPACTO CIENTÍFICO/TECNOLÓGICO/SOCIOECONÓMICO</a:t>
            </a:r>
            <a:endParaRPr lang="en-US" sz="33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11865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BDEAED-3635-3DED-38EC-FCAFD821A9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6A4531-DFCF-698A-5974-040D54CD6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s-MX" dirty="0"/>
              <a:t>OBJETIVOS</a:t>
            </a: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25EC809-02AA-5F49-3939-F8A18A2326BB}"/>
              </a:ext>
            </a:extLst>
          </p:cNvPr>
          <p:cNvSpPr/>
          <p:nvPr/>
        </p:nvSpPr>
        <p:spPr>
          <a:xfrm>
            <a:off x="484074" y="2167595"/>
            <a:ext cx="11270392" cy="1419582"/>
          </a:xfrm>
          <a:prstGeom prst="roundRect">
            <a:avLst>
              <a:gd name="adj" fmla="val 1917"/>
            </a:avLst>
          </a:prstGeom>
          <a:solidFill>
            <a:schemeClr val="accent6">
              <a:lumMod val="20000"/>
              <a:lumOff val="80000"/>
            </a:schemeClr>
          </a:solidFill>
          <a:ln/>
        </p:spPr>
      </p:sp>
      <p:pic>
        <p:nvPicPr>
          <p:cNvPr id="7" name="Image 0" descr="preencoded.png">
            <a:extLst>
              <a:ext uri="{FF2B5EF4-FFF2-40B4-BE49-F238E27FC236}">
                <a16:creationId xmlns:a16="http://schemas.microsoft.com/office/drawing/2014/main" id="{6167F6AC-7B96-FDFB-0322-8550D98492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524" y="2401791"/>
            <a:ext cx="340162" cy="272177"/>
          </a:xfrm>
          <a:prstGeom prst="rect">
            <a:avLst/>
          </a:prstGeom>
        </p:spPr>
      </p:pic>
      <p:sp>
        <p:nvSpPr>
          <p:cNvPr id="34" name="Shape 1">
            <a:extLst>
              <a:ext uri="{FF2B5EF4-FFF2-40B4-BE49-F238E27FC236}">
                <a16:creationId xmlns:a16="http://schemas.microsoft.com/office/drawing/2014/main" id="{BDC51903-47C0-53F3-1CEE-BE6AD07E4366}"/>
              </a:ext>
            </a:extLst>
          </p:cNvPr>
          <p:cNvSpPr/>
          <p:nvPr/>
        </p:nvSpPr>
        <p:spPr>
          <a:xfrm>
            <a:off x="484074" y="3777677"/>
            <a:ext cx="11270392" cy="1978694"/>
          </a:xfrm>
          <a:prstGeom prst="roundRect">
            <a:avLst>
              <a:gd name="adj" fmla="val 1917"/>
            </a:avLst>
          </a:prstGeom>
          <a:solidFill>
            <a:schemeClr val="bg1">
              <a:lumMod val="95000"/>
            </a:schemeClr>
          </a:solidFill>
          <a:ln/>
        </p:spPr>
      </p:sp>
      <p:pic>
        <p:nvPicPr>
          <p:cNvPr id="35" name="Image 0" descr="preencoded.png">
            <a:extLst>
              <a:ext uri="{FF2B5EF4-FFF2-40B4-BE49-F238E27FC236}">
                <a16:creationId xmlns:a16="http://schemas.microsoft.com/office/drawing/2014/main" id="{E8A3EC02-7611-FCE1-4217-CFAFBFBF70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524" y="4011873"/>
            <a:ext cx="340162" cy="272177"/>
          </a:xfrm>
          <a:prstGeom prst="rect">
            <a:avLst/>
          </a:prstGeom>
        </p:spPr>
      </p:pic>
      <p:sp>
        <p:nvSpPr>
          <p:cNvPr id="42" name="Marcador de número de diapositiva 5">
            <a:extLst>
              <a:ext uri="{FF2B5EF4-FFF2-40B4-BE49-F238E27FC236}">
                <a16:creationId xmlns:a16="http://schemas.microsoft.com/office/drawing/2014/main" id="{5FB9109B-7473-3A7B-ADF6-9E0FFAD28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12</a:t>
            </a:fld>
            <a:endParaRPr lang="en-US"/>
          </a:p>
        </p:txBody>
      </p:sp>
      <p:grpSp>
        <p:nvGrpSpPr>
          <p:cNvPr id="43" name="Grupo 7">
            <a:extLst>
              <a:ext uri="{FF2B5EF4-FFF2-40B4-BE49-F238E27FC236}">
                <a16:creationId xmlns:a16="http://schemas.microsoft.com/office/drawing/2014/main" id="{F10D34BA-ABB0-52B9-EF35-413F192E21B5}"/>
              </a:ext>
            </a:extLst>
          </p:cNvPr>
          <p:cNvGrpSpPr/>
          <p:nvPr/>
        </p:nvGrpSpPr>
        <p:grpSpPr>
          <a:xfrm>
            <a:off x="192718" y="6100253"/>
            <a:ext cx="10587332" cy="643238"/>
            <a:chOff x="192718" y="6100253"/>
            <a:chExt cx="10587332" cy="643238"/>
          </a:xfrm>
        </p:grpSpPr>
        <p:cxnSp>
          <p:nvCxnSpPr>
            <p:cNvPr id="44" name="Conector recto 8">
              <a:extLst>
                <a:ext uri="{FF2B5EF4-FFF2-40B4-BE49-F238E27FC236}">
                  <a16:creationId xmlns:a16="http://schemas.microsoft.com/office/drawing/2014/main" id="{E49DDE37-11E1-CF4B-6A28-7A17DA5C1502}"/>
                </a:ext>
              </a:extLst>
            </p:cNvPr>
            <p:cNvCxnSpPr/>
            <p:nvPr/>
          </p:nvCxnSpPr>
          <p:spPr>
            <a:xfrm>
              <a:off x="192718" y="6698870"/>
              <a:ext cx="9095145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45" name="Imagen 9">
              <a:extLst>
                <a:ext uri="{FF2B5EF4-FFF2-40B4-BE49-F238E27FC236}">
                  <a16:creationId xmlns:a16="http://schemas.microsoft.com/office/drawing/2014/main" id="{58611C06-6BC6-3CC1-B774-F9C5B1E59AC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480581" y="6100253"/>
              <a:ext cx="1299469" cy="643238"/>
            </a:xfrm>
            <a:prstGeom prst="rect">
              <a:avLst/>
            </a:prstGeom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5C497D23-7C40-006E-1C95-EB7C41DAE393}"/>
              </a:ext>
            </a:extLst>
          </p:cNvPr>
          <p:cNvSpPr txBox="1"/>
          <p:nvPr/>
        </p:nvSpPr>
        <p:spPr>
          <a:xfrm>
            <a:off x="1287890" y="2296598"/>
            <a:ext cx="1018437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OBJETIVO GENERAL</a:t>
            </a:r>
          </a:p>
          <a:p>
            <a:r>
              <a:rPr lang="es-MX" dirty="0"/>
              <a:t>Diseñar e implementar un marco de coordinación descentralizada para flotas heterogéneas </a:t>
            </a:r>
          </a:p>
          <a:p>
            <a:r>
              <a:rPr lang="es-MX" dirty="0"/>
              <a:t>de RPAS mediante hibridación PSO-ACO, aplicado a agricultura de precisión.</a:t>
            </a:r>
          </a:p>
          <a:p>
            <a:r>
              <a:rPr lang="es-MX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→ Extiende </a:t>
            </a:r>
            <a:r>
              <a:rPr lang="es-MX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AgriSwarm-Bench</a:t>
            </a:r>
            <a:r>
              <a:rPr lang="es-MX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añadiendo módulo de coordinación peer-</a:t>
            </a:r>
            <a:r>
              <a:rPr lang="es-MX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to</a:t>
            </a:r>
            <a:r>
              <a:rPr lang="es-MX" dirty="0">
                <a:solidFill>
                  <a:schemeClr val="tx1">
                    <a:lumMod val="50000"/>
                    <a:lumOff val="50000"/>
                  </a:schemeClr>
                </a:solidFill>
              </a:rPr>
              <a:t>-peer</a:t>
            </a:r>
          </a:p>
        </p:txBody>
      </p:sp>
      <p:sp>
        <p:nvSpPr>
          <p:cNvPr id="9" name="Text 0">
            <a:extLst>
              <a:ext uri="{FF2B5EF4-FFF2-40B4-BE49-F238E27FC236}">
                <a16:creationId xmlns:a16="http://schemas.microsoft.com/office/drawing/2014/main" id="{DB55AC6A-B793-174A-6633-2D654098A7E9}"/>
              </a:ext>
            </a:extLst>
          </p:cNvPr>
          <p:cNvSpPr/>
          <p:nvPr/>
        </p:nvSpPr>
        <p:spPr>
          <a:xfrm>
            <a:off x="1221495" y="1487192"/>
            <a:ext cx="10501114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dirty="0">
                <a:solidFill>
                  <a:srgbClr val="201B18"/>
                </a:solidFill>
                <a:latin typeface="Aptos" panose="020B0004020202020204" pitchFamily="34" charset="0"/>
                <a:ea typeface="Platypi Medium" pitchFamily="34" charset="-122"/>
                <a:cs typeface="Platypi Medium" pitchFamily="34" charset="-120"/>
              </a:rPr>
              <a:t>GENERAL Y ESPECÍFICOS</a:t>
            </a:r>
            <a:endParaRPr lang="en-US" sz="3300" dirty="0">
              <a:latin typeface="Aptos" panose="020B00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E7C74CE-DCC4-A78D-CD30-319C0880C8FD}"/>
              </a:ext>
            </a:extLst>
          </p:cNvPr>
          <p:cNvSpPr txBox="1"/>
          <p:nvPr/>
        </p:nvSpPr>
        <p:spPr>
          <a:xfrm>
            <a:off x="1411950" y="3925726"/>
            <a:ext cx="1011452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OBJETIVOS ESPECÍFICOS</a:t>
            </a:r>
          </a:p>
          <a:p>
            <a:endParaRPr lang="es-MX" dirty="0"/>
          </a:p>
          <a:p>
            <a:r>
              <a:rPr lang="es-MX" dirty="0"/>
              <a:t>1️⃣ Caracterizar requisitos de coordinación con agrónomos INIA</a:t>
            </a:r>
          </a:p>
          <a:p>
            <a:r>
              <a:rPr lang="es-MX" dirty="0"/>
              <a:t>   • Métricas clave: tiempo cobertura, consumo energético, robustez ante fallos</a:t>
            </a:r>
          </a:p>
          <a:p>
            <a:r>
              <a:rPr lang="es-MX" dirty="0"/>
              <a:t>   </a:t>
            </a:r>
            <a:r>
              <a:rPr lang="es-MX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→ Criterios de éxito: &lt;25 min/10 ha, &lt;450 </a:t>
            </a:r>
            <a:r>
              <a:rPr lang="es-MX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Wh</a:t>
            </a:r>
            <a:r>
              <a:rPr lang="es-MX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≥90% robustez</a:t>
            </a:r>
          </a:p>
          <a:p>
            <a:r>
              <a:rPr lang="es-MX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  → Responde a Gap Práctico #P-001: "Sin </a:t>
            </a:r>
            <a:r>
              <a:rPr lang="es-MX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benchmarks</a:t>
            </a:r>
            <a:r>
              <a:rPr lang="es-MX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agrícolas estandarizados"</a:t>
            </a:r>
          </a:p>
        </p:txBody>
      </p:sp>
    </p:spTree>
    <p:extLst>
      <p:ext uri="{BB962C8B-B14F-4D97-AF65-F5344CB8AC3E}">
        <p14:creationId xmlns:p14="http://schemas.microsoft.com/office/powerpoint/2010/main" val="3792697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BDEAED-3635-3DED-38EC-FCAFD821A9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6A4531-DFCF-698A-5974-040D54CD6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s-MX" dirty="0"/>
              <a:t>OBJETIVOS</a:t>
            </a:r>
          </a:p>
        </p:txBody>
      </p:sp>
      <p:sp>
        <p:nvSpPr>
          <p:cNvPr id="34" name="Shape 1">
            <a:extLst>
              <a:ext uri="{FF2B5EF4-FFF2-40B4-BE49-F238E27FC236}">
                <a16:creationId xmlns:a16="http://schemas.microsoft.com/office/drawing/2014/main" id="{BDC51903-47C0-53F3-1CEE-BE6AD07E4366}"/>
              </a:ext>
            </a:extLst>
          </p:cNvPr>
          <p:cNvSpPr/>
          <p:nvPr/>
        </p:nvSpPr>
        <p:spPr>
          <a:xfrm>
            <a:off x="616809" y="2346732"/>
            <a:ext cx="11270392" cy="4186803"/>
          </a:xfrm>
          <a:prstGeom prst="roundRect">
            <a:avLst>
              <a:gd name="adj" fmla="val 1917"/>
            </a:avLst>
          </a:prstGeom>
          <a:solidFill>
            <a:srgbClr val="F9F7F7"/>
          </a:solidFill>
          <a:ln/>
        </p:spPr>
      </p:sp>
      <p:pic>
        <p:nvPicPr>
          <p:cNvPr id="35" name="Image 0" descr="preencoded.png">
            <a:extLst>
              <a:ext uri="{FF2B5EF4-FFF2-40B4-BE49-F238E27FC236}">
                <a16:creationId xmlns:a16="http://schemas.microsoft.com/office/drawing/2014/main" id="{E8A3EC02-7611-FCE1-4217-CFAFBFBF70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809" y="2462942"/>
            <a:ext cx="340162" cy="272177"/>
          </a:xfrm>
          <a:prstGeom prst="rect">
            <a:avLst/>
          </a:prstGeom>
        </p:spPr>
      </p:pic>
      <p:sp>
        <p:nvSpPr>
          <p:cNvPr id="42" name="Marcador de número de diapositiva 5">
            <a:extLst>
              <a:ext uri="{FF2B5EF4-FFF2-40B4-BE49-F238E27FC236}">
                <a16:creationId xmlns:a16="http://schemas.microsoft.com/office/drawing/2014/main" id="{5FB9109B-7473-3A7B-ADF6-9E0FFAD28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13</a:t>
            </a:fld>
            <a:endParaRPr lang="en-US"/>
          </a:p>
        </p:txBody>
      </p:sp>
      <p:grpSp>
        <p:nvGrpSpPr>
          <p:cNvPr id="43" name="Grupo 7">
            <a:extLst>
              <a:ext uri="{FF2B5EF4-FFF2-40B4-BE49-F238E27FC236}">
                <a16:creationId xmlns:a16="http://schemas.microsoft.com/office/drawing/2014/main" id="{F10D34BA-ABB0-52B9-EF35-413F192E21B5}"/>
              </a:ext>
            </a:extLst>
          </p:cNvPr>
          <p:cNvGrpSpPr/>
          <p:nvPr/>
        </p:nvGrpSpPr>
        <p:grpSpPr>
          <a:xfrm>
            <a:off x="192718" y="6100253"/>
            <a:ext cx="10587332" cy="643238"/>
            <a:chOff x="192718" y="6100253"/>
            <a:chExt cx="10587332" cy="643238"/>
          </a:xfrm>
        </p:grpSpPr>
        <p:cxnSp>
          <p:nvCxnSpPr>
            <p:cNvPr id="44" name="Conector recto 8">
              <a:extLst>
                <a:ext uri="{FF2B5EF4-FFF2-40B4-BE49-F238E27FC236}">
                  <a16:creationId xmlns:a16="http://schemas.microsoft.com/office/drawing/2014/main" id="{E49DDE37-11E1-CF4B-6A28-7A17DA5C1502}"/>
                </a:ext>
              </a:extLst>
            </p:cNvPr>
            <p:cNvCxnSpPr/>
            <p:nvPr/>
          </p:nvCxnSpPr>
          <p:spPr>
            <a:xfrm>
              <a:off x="192718" y="6698870"/>
              <a:ext cx="9095145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45" name="Imagen 9">
              <a:extLst>
                <a:ext uri="{FF2B5EF4-FFF2-40B4-BE49-F238E27FC236}">
                  <a16:creationId xmlns:a16="http://schemas.microsoft.com/office/drawing/2014/main" id="{58611C06-6BC6-3CC1-B774-F9C5B1E59AC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480581" y="6100253"/>
              <a:ext cx="1299469" cy="643238"/>
            </a:xfrm>
            <a:prstGeom prst="rect">
              <a:avLst/>
            </a:prstGeom>
          </p:spPr>
        </p:pic>
      </p:grpSp>
      <p:sp>
        <p:nvSpPr>
          <p:cNvPr id="3" name="Text 0">
            <a:extLst>
              <a:ext uri="{FF2B5EF4-FFF2-40B4-BE49-F238E27FC236}">
                <a16:creationId xmlns:a16="http://schemas.microsoft.com/office/drawing/2014/main" id="{6B382A75-7075-7ECE-C4D6-27F5DBA6B999}"/>
              </a:ext>
            </a:extLst>
          </p:cNvPr>
          <p:cNvSpPr/>
          <p:nvPr/>
        </p:nvSpPr>
        <p:spPr>
          <a:xfrm>
            <a:off x="1221495" y="1487192"/>
            <a:ext cx="10501114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dirty="0">
                <a:solidFill>
                  <a:srgbClr val="201B18"/>
                </a:solidFill>
                <a:latin typeface="Aptos" panose="020B0004020202020204" pitchFamily="34" charset="0"/>
                <a:ea typeface="Platypi Medium" pitchFamily="34" charset="-122"/>
                <a:cs typeface="Platypi Medium" pitchFamily="34" charset="-120"/>
              </a:rPr>
              <a:t>ESPECÍFICOS</a:t>
            </a:r>
            <a:endParaRPr lang="en-US" sz="3300" dirty="0"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A4C89F-4504-2D6F-E86D-F24BF0A1080A}"/>
              </a:ext>
            </a:extLst>
          </p:cNvPr>
          <p:cNvSpPr txBox="1"/>
          <p:nvPr/>
        </p:nvSpPr>
        <p:spPr>
          <a:xfrm>
            <a:off x="956971" y="2451554"/>
            <a:ext cx="11076432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2️⃣ Desarrollar algoritmo híbrido PSO-ACO con análisis de convergencia</a:t>
            </a:r>
          </a:p>
          <a:p>
            <a:r>
              <a:rPr lang="es-MX" dirty="0"/>
              <a:t>   • PSO: particionamiento dinámico por NDVI</a:t>
            </a:r>
          </a:p>
          <a:p>
            <a:r>
              <a:rPr lang="es-MX" dirty="0"/>
              <a:t>   • ACO: asignación adaptativa por capacidad residual</a:t>
            </a:r>
          </a:p>
          <a:p>
            <a:r>
              <a:rPr lang="es-MX" dirty="0"/>
              <a:t>   </a:t>
            </a:r>
            <a:r>
              <a:rPr lang="es-MX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→ Responde a Gap #M-07 (convergencia) + #P-008 (asignación adaptativa)</a:t>
            </a:r>
          </a:p>
          <a:p>
            <a:endParaRPr lang="es-MX" dirty="0"/>
          </a:p>
          <a:p>
            <a:r>
              <a:rPr lang="es-MX" dirty="0"/>
              <a:t>3️⃣ Implementar en ROS 2/Gazebo con entorno agrícola realista</a:t>
            </a:r>
          </a:p>
          <a:p>
            <a:r>
              <a:rPr lang="es-MX" dirty="0"/>
              <a:t>   • Viñedo chileno, viento &gt;5 m/s, obstáculos dinámicos, DDS/RTPS peer-</a:t>
            </a:r>
            <a:r>
              <a:rPr lang="es-MX" dirty="0" err="1"/>
              <a:t>to</a:t>
            </a:r>
            <a:r>
              <a:rPr lang="es-MX" dirty="0"/>
              <a:t>-peer</a:t>
            </a:r>
          </a:p>
          <a:p>
            <a:r>
              <a:rPr lang="es-MX" dirty="0"/>
              <a:t>   • Validación con 3-4 RPAS simulados (escalabilidad a flotas de hasta 10)</a:t>
            </a:r>
          </a:p>
          <a:p>
            <a:r>
              <a:rPr lang="es-MX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  → Extiende </a:t>
            </a:r>
            <a:r>
              <a:rPr lang="es-MX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AgriSwarm-Bench</a:t>
            </a:r>
            <a:r>
              <a:rPr lang="es-MX" dirty="0">
                <a:solidFill>
                  <a:schemeClr val="tx1">
                    <a:lumMod val="50000"/>
                    <a:lumOff val="50000"/>
                  </a:schemeClr>
                </a:solidFill>
              </a:rPr>
              <a:t>: escenario "vineyard_10ha_wind" + módulo PSO-ACO</a:t>
            </a:r>
          </a:p>
          <a:p>
            <a:endParaRPr lang="es-MX" dirty="0"/>
          </a:p>
          <a:p>
            <a:r>
              <a:rPr lang="es-MX" dirty="0"/>
              <a:t>4️⃣ Demostrar transferencia tecnológica en campo controlado (INIA La Platina)</a:t>
            </a:r>
          </a:p>
          <a:p>
            <a:r>
              <a:rPr lang="es-MX" dirty="0"/>
              <a:t>   • 3 RPAS físicos: 1× DJI Agras + 2× </a:t>
            </a:r>
            <a:r>
              <a:rPr lang="es-MX" dirty="0" err="1"/>
              <a:t>Pixhawk</a:t>
            </a:r>
            <a:r>
              <a:rPr lang="es-MX" dirty="0"/>
              <a:t> </a:t>
            </a:r>
            <a:r>
              <a:rPr lang="es-MX" dirty="0" err="1"/>
              <a:t>quadcopters</a:t>
            </a:r>
            <a:endParaRPr lang="es-MX" dirty="0"/>
          </a:p>
          <a:p>
            <a:r>
              <a:rPr lang="es-MX" dirty="0"/>
              <a:t>   • Cuantificación: ahorro de insumos, detección temprana de estrés hídrico</a:t>
            </a:r>
          </a:p>
          <a:p>
            <a:r>
              <a:rPr lang="es-MX" dirty="0"/>
              <a:t>   </a:t>
            </a:r>
            <a:r>
              <a:rPr lang="es-MX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→ Criterio de éxito: ≥25% reducción tiempo monitoreo vs. </a:t>
            </a:r>
            <a:r>
              <a:rPr lang="es-MX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baseline</a:t>
            </a:r>
            <a:r>
              <a:rPr lang="es-MX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centralizado</a:t>
            </a:r>
          </a:p>
        </p:txBody>
      </p:sp>
    </p:spTree>
    <p:extLst>
      <p:ext uri="{BB962C8B-B14F-4D97-AF65-F5344CB8AC3E}">
        <p14:creationId xmlns:p14="http://schemas.microsoft.com/office/powerpoint/2010/main" val="3933251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BDEAED-3635-3DED-38EC-FCAFD821A9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6A4531-DFCF-698A-5974-040D54CD6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s-MX" dirty="0"/>
              <a:t>METODOLOGÍA</a:t>
            </a:r>
          </a:p>
        </p:txBody>
      </p:sp>
      <p:sp>
        <p:nvSpPr>
          <p:cNvPr id="34" name="Shape 1">
            <a:extLst>
              <a:ext uri="{FF2B5EF4-FFF2-40B4-BE49-F238E27FC236}">
                <a16:creationId xmlns:a16="http://schemas.microsoft.com/office/drawing/2014/main" id="{BDC51903-47C0-53F3-1CEE-BE6AD07E4366}"/>
              </a:ext>
            </a:extLst>
          </p:cNvPr>
          <p:cNvSpPr/>
          <p:nvPr/>
        </p:nvSpPr>
        <p:spPr>
          <a:xfrm>
            <a:off x="616809" y="2346732"/>
            <a:ext cx="11270392" cy="4186803"/>
          </a:xfrm>
          <a:prstGeom prst="roundRect">
            <a:avLst>
              <a:gd name="adj" fmla="val 1917"/>
            </a:avLst>
          </a:prstGeom>
          <a:solidFill>
            <a:srgbClr val="F9F7F7"/>
          </a:solidFill>
          <a:ln/>
        </p:spPr>
      </p:sp>
      <p:pic>
        <p:nvPicPr>
          <p:cNvPr id="35" name="Image 0" descr="preencoded.png">
            <a:extLst>
              <a:ext uri="{FF2B5EF4-FFF2-40B4-BE49-F238E27FC236}">
                <a16:creationId xmlns:a16="http://schemas.microsoft.com/office/drawing/2014/main" id="{E8A3EC02-7611-FCE1-4217-CFAFBFBF70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809" y="2462942"/>
            <a:ext cx="340162" cy="272177"/>
          </a:xfrm>
          <a:prstGeom prst="rect">
            <a:avLst/>
          </a:prstGeom>
        </p:spPr>
      </p:pic>
      <p:sp>
        <p:nvSpPr>
          <p:cNvPr id="42" name="Marcador de número de diapositiva 5">
            <a:extLst>
              <a:ext uri="{FF2B5EF4-FFF2-40B4-BE49-F238E27FC236}">
                <a16:creationId xmlns:a16="http://schemas.microsoft.com/office/drawing/2014/main" id="{5FB9109B-7473-3A7B-ADF6-9E0FFAD28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14</a:t>
            </a:fld>
            <a:endParaRPr lang="en-US"/>
          </a:p>
        </p:txBody>
      </p:sp>
      <p:grpSp>
        <p:nvGrpSpPr>
          <p:cNvPr id="43" name="Grupo 7">
            <a:extLst>
              <a:ext uri="{FF2B5EF4-FFF2-40B4-BE49-F238E27FC236}">
                <a16:creationId xmlns:a16="http://schemas.microsoft.com/office/drawing/2014/main" id="{F10D34BA-ABB0-52B9-EF35-413F192E21B5}"/>
              </a:ext>
            </a:extLst>
          </p:cNvPr>
          <p:cNvGrpSpPr/>
          <p:nvPr/>
        </p:nvGrpSpPr>
        <p:grpSpPr>
          <a:xfrm>
            <a:off x="192718" y="6100253"/>
            <a:ext cx="10587332" cy="643238"/>
            <a:chOff x="192718" y="6100253"/>
            <a:chExt cx="10587332" cy="643238"/>
          </a:xfrm>
        </p:grpSpPr>
        <p:cxnSp>
          <p:nvCxnSpPr>
            <p:cNvPr id="44" name="Conector recto 8">
              <a:extLst>
                <a:ext uri="{FF2B5EF4-FFF2-40B4-BE49-F238E27FC236}">
                  <a16:creationId xmlns:a16="http://schemas.microsoft.com/office/drawing/2014/main" id="{E49DDE37-11E1-CF4B-6A28-7A17DA5C1502}"/>
                </a:ext>
              </a:extLst>
            </p:cNvPr>
            <p:cNvCxnSpPr/>
            <p:nvPr/>
          </p:nvCxnSpPr>
          <p:spPr>
            <a:xfrm>
              <a:off x="192718" y="6698870"/>
              <a:ext cx="9095145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45" name="Imagen 9">
              <a:extLst>
                <a:ext uri="{FF2B5EF4-FFF2-40B4-BE49-F238E27FC236}">
                  <a16:creationId xmlns:a16="http://schemas.microsoft.com/office/drawing/2014/main" id="{58611C06-6BC6-3CC1-B774-F9C5B1E59AC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480581" y="6100253"/>
              <a:ext cx="1299469" cy="643238"/>
            </a:xfrm>
            <a:prstGeom prst="rect">
              <a:avLst/>
            </a:prstGeom>
          </p:spPr>
        </p:pic>
      </p:grpSp>
      <p:sp>
        <p:nvSpPr>
          <p:cNvPr id="3" name="Text 0">
            <a:extLst>
              <a:ext uri="{FF2B5EF4-FFF2-40B4-BE49-F238E27FC236}">
                <a16:creationId xmlns:a16="http://schemas.microsoft.com/office/drawing/2014/main" id="{6B382A75-7075-7ECE-C4D6-27F5DBA6B999}"/>
              </a:ext>
            </a:extLst>
          </p:cNvPr>
          <p:cNvSpPr/>
          <p:nvPr/>
        </p:nvSpPr>
        <p:spPr>
          <a:xfrm>
            <a:off x="1221495" y="1487192"/>
            <a:ext cx="10501114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dirty="0">
                <a:solidFill>
                  <a:srgbClr val="201B18"/>
                </a:solidFill>
                <a:latin typeface="Aptos" panose="020B0004020202020204" pitchFamily="34" charset="0"/>
                <a:ea typeface="Platypi Medium" pitchFamily="34" charset="-122"/>
                <a:cs typeface="Platypi Medium" pitchFamily="34" charset="-120"/>
              </a:rPr>
              <a:t>ROADMAP FASEADO</a:t>
            </a:r>
            <a:endParaRPr lang="en-US" sz="3300" dirty="0">
              <a:latin typeface="Aptos" panose="020B00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35CA96-94B3-5284-8F82-5FBE40B79499}"/>
              </a:ext>
            </a:extLst>
          </p:cNvPr>
          <p:cNvSpPr txBox="1"/>
          <p:nvPr/>
        </p:nvSpPr>
        <p:spPr>
          <a:xfrm>
            <a:off x="1221494" y="2552646"/>
            <a:ext cx="9766053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400" dirty="0"/>
              <a:t>FASE 1: Revisión sistemática (Meses 1-3)</a:t>
            </a:r>
          </a:p>
          <a:p>
            <a:endParaRPr lang="es-MX" sz="2400" dirty="0"/>
          </a:p>
          <a:p>
            <a:r>
              <a:rPr lang="es-MX" sz="2400" dirty="0"/>
              <a:t>• Matriz comparativa: 29 </a:t>
            </a:r>
            <a:r>
              <a:rPr lang="es-MX" sz="2400" dirty="0" err="1"/>
              <a:t>studies</a:t>
            </a:r>
            <a:r>
              <a:rPr lang="es-MX" sz="2400" dirty="0"/>
              <a:t> (22 </a:t>
            </a:r>
            <a:r>
              <a:rPr lang="es-MX" sz="2400" dirty="0" err="1"/>
              <a:t>primary</a:t>
            </a:r>
            <a:r>
              <a:rPr lang="es-MX" sz="2400" dirty="0"/>
              <a:t> + 7 </a:t>
            </a:r>
            <a:r>
              <a:rPr lang="es-MX" sz="2400" dirty="0" err="1"/>
              <a:t>reviews</a:t>
            </a:r>
            <a:r>
              <a:rPr lang="es-MX" sz="2400" dirty="0"/>
              <a:t>)</a:t>
            </a:r>
          </a:p>
          <a:p>
            <a:r>
              <a:rPr lang="es-MX" sz="2400" dirty="0"/>
              <a:t>• Encuesta a 5 agrónomos INIA + validación de brechas</a:t>
            </a:r>
          </a:p>
          <a:p>
            <a:r>
              <a:rPr lang="es-MX" sz="2400" dirty="0"/>
              <a:t>• Criterio E6 documentado: exclusión de plataformas no-aéreas</a:t>
            </a:r>
          </a:p>
          <a:p>
            <a:endParaRPr lang="es-MX" sz="2400" dirty="0"/>
          </a:p>
          <a:p>
            <a:r>
              <a:rPr lang="es-MX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→ Entregable: Brecha validada cuantitativamente</a:t>
            </a:r>
          </a:p>
          <a:p>
            <a:r>
              <a:rPr lang="es-MX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→ Herramientas: Zotero, PRISMA 2020 </a:t>
            </a:r>
            <a:r>
              <a:rPr lang="es-MX" sz="2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checklist</a:t>
            </a:r>
            <a:endParaRPr lang="es-MX" sz="2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10511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BDEAED-3635-3DED-38EC-FCAFD821A9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6A4531-DFCF-698A-5974-040D54CD6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s-MX" dirty="0"/>
              <a:t>METODOLOGÍA</a:t>
            </a:r>
          </a:p>
        </p:txBody>
      </p:sp>
      <p:sp>
        <p:nvSpPr>
          <p:cNvPr id="34" name="Shape 1">
            <a:extLst>
              <a:ext uri="{FF2B5EF4-FFF2-40B4-BE49-F238E27FC236}">
                <a16:creationId xmlns:a16="http://schemas.microsoft.com/office/drawing/2014/main" id="{BDC51903-47C0-53F3-1CEE-BE6AD07E4366}"/>
              </a:ext>
            </a:extLst>
          </p:cNvPr>
          <p:cNvSpPr/>
          <p:nvPr/>
        </p:nvSpPr>
        <p:spPr>
          <a:xfrm>
            <a:off x="616809" y="2346732"/>
            <a:ext cx="11270392" cy="4186803"/>
          </a:xfrm>
          <a:prstGeom prst="roundRect">
            <a:avLst>
              <a:gd name="adj" fmla="val 1917"/>
            </a:avLst>
          </a:prstGeom>
          <a:solidFill>
            <a:srgbClr val="F9F7F7"/>
          </a:solidFill>
          <a:ln/>
        </p:spPr>
      </p:sp>
      <p:pic>
        <p:nvPicPr>
          <p:cNvPr id="35" name="Image 0" descr="preencoded.png">
            <a:extLst>
              <a:ext uri="{FF2B5EF4-FFF2-40B4-BE49-F238E27FC236}">
                <a16:creationId xmlns:a16="http://schemas.microsoft.com/office/drawing/2014/main" id="{E8A3EC02-7611-FCE1-4217-CFAFBFBF70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809" y="2462942"/>
            <a:ext cx="340162" cy="272177"/>
          </a:xfrm>
          <a:prstGeom prst="rect">
            <a:avLst/>
          </a:prstGeom>
        </p:spPr>
      </p:pic>
      <p:sp>
        <p:nvSpPr>
          <p:cNvPr id="42" name="Marcador de número de diapositiva 5">
            <a:extLst>
              <a:ext uri="{FF2B5EF4-FFF2-40B4-BE49-F238E27FC236}">
                <a16:creationId xmlns:a16="http://schemas.microsoft.com/office/drawing/2014/main" id="{5FB9109B-7473-3A7B-ADF6-9E0FFAD28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15</a:t>
            </a:fld>
            <a:endParaRPr lang="en-US"/>
          </a:p>
        </p:txBody>
      </p:sp>
      <p:grpSp>
        <p:nvGrpSpPr>
          <p:cNvPr id="43" name="Grupo 7">
            <a:extLst>
              <a:ext uri="{FF2B5EF4-FFF2-40B4-BE49-F238E27FC236}">
                <a16:creationId xmlns:a16="http://schemas.microsoft.com/office/drawing/2014/main" id="{F10D34BA-ABB0-52B9-EF35-413F192E21B5}"/>
              </a:ext>
            </a:extLst>
          </p:cNvPr>
          <p:cNvGrpSpPr/>
          <p:nvPr/>
        </p:nvGrpSpPr>
        <p:grpSpPr>
          <a:xfrm>
            <a:off x="192718" y="6100253"/>
            <a:ext cx="10587332" cy="643238"/>
            <a:chOff x="192718" y="6100253"/>
            <a:chExt cx="10587332" cy="643238"/>
          </a:xfrm>
        </p:grpSpPr>
        <p:cxnSp>
          <p:nvCxnSpPr>
            <p:cNvPr id="44" name="Conector recto 8">
              <a:extLst>
                <a:ext uri="{FF2B5EF4-FFF2-40B4-BE49-F238E27FC236}">
                  <a16:creationId xmlns:a16="http://schemas.microsoft.com/office/drawing/2014/main" id="{E49DDE37-11E1-CF4B-6A28-7A17DA5C1502}"/>
                </a:ext>
              </a:extLst>
            </p:cNvPr>
            <p:cNvCxnSpPr/>
            <p:nvPr/>
          </p:nvCxnSpPr>
          <p:spPr>
            <a:xfrm>
              <a:off x="192718" y="6698870"/>
              <a:ext cx="9095145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45" name="Imagen 9">
              <a:extLst>
                <a:ext uri="{FF2B5EF4-FFF2-40B4-BE49-F238E27FC236}">
                  <a16:creationId xmlns:a16="http://schemas.microsoft.com/office/drawing/2014/main" id="{58611C06-6BC6-3CC1-B774-F9C5B1E59AC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480581" y="6100253"/>
              <a:ext cx="1299469" cy="643238"/>
            </a:xfrm>
            <a:prstGeom prst="rect">
              <a:avLst/>
            </a:prstGeom>
          </p:spPr>
        </p:pic>
      </p:grpSp>
      <p:sp>
        <p:nvSpPr>
          <p:cNvPr id="3" name="Text 0">
            <a:extLst>
              <a:ext uri="{FF2B5EF4-FFF2-40B4-BE49-F238E27FC236}">
                <a16:creationId xmlns:a16="http://schemas.microsoft.com/office/drawing/2014/main" id="{6B382A75-7075-7ECE-C4D6-27F5DBA6B999}"/>
              </a:ext>
            </a:extLst>
          </p:cNvPr>
          <p:cNvSpPr/>
          <p:nvPr/>
        </p:nvSpPr>
        <p:spPr>
          <a:xfrm>
            <a:off x="1221495" y="1487192"/>
            <a:ext cx="10501114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dirty="0">
                <a:solidFill>
                  <a:srgbClr val="201B18"/>
                </a:solidFill>
                <a:latin typeface="Aptos" panose="020B0004020202020204" pitchFamily="34" charset="0"/>
                <a:ea typeface="Platypi Medium" pitchFamily="34" charset="-122"/>
                <a:cs typeface="Platypi Medium" pitchFamily="34" charset="-120"/>
              </a:rPr>
              <a:t>ROADMAP FASEADO</a:t>
            </a:r>
            <a:endParaRPr lang="en-US" sz="3300" dirty="0">
              <a:latin typeface="Aptos" panose="020B00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35CA96-94B3-5284-8F82-5FBE40B79499}"/>
              </a:ext>
            </a:extLst>
          </p:cNvPr>
          <p:cNvSpPr txBox="1"/>
          <p:nvPr/>
        </p:nvSpPr>
        <p:spPr>
          <a:xfrm>
            <a:off x="1221494" y="2552646"/>
            <a:ext cx="10353697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400" dirty="0"/>
              <a:t>FASE 2: Diseño algorítmico (Meses 4-7)</a:t>
            </a:r>
          </a:p>
          <a:p>
            <a:endParaRPr lang="es-MX" sz="2400" dirty="0"/>
          </a:p>
          <a:p>
            <a:r>
              <a:rPr lang="es-MX" sz="2400" dirty="0"/>
              <a:t>• Función fitness </a:t>
            </a:r>
            <a:r>
              <a:rPr lang="es-MX" sz="2400" dirty="0" err="1"/>
              <a:t>multi-objetivo</a:t>
            </a:r>
            <a:r>
              <a:rPr lang="es-MX" sz="2400" dirty="0"/>
              <a:t>: Cobertura NDVI + Energía + Tiempo</a:t>
            </a:r>
          </a:p>
          <a:p>
            <a:r>
              <a:rPr lang="es-MX" sz="2400" dirty="0"/>
              <a:t>• Análisis </a:t>
            </a:r>
            <a:r>
              <a:rPr lang="es-MX" sz="2400" dirty="0" err="1"/>
              <a:t>Lyapunov</a:t>
            </a:r>
            <a:r>
              <a:rPr lang="es-MX" sz="2400" dirty="0"/>
              <a:t> de estabilidad para convergencia garantizada</a:t>
            </a:r>
          </a:p>
          <a:p>
            <a:endParaRPr lang="es-MX" sz="2400" dirty="0"/>
          </a:p>
          <a:p>
            <a:r>
              <a:rPr lang="es-MX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→ Entregable: Pseudocódigo + demostración teórica</a:t>
            </a:r>
          </a:p>
          <a:p>
            <a:r>
              <a:rPr lang="es-MX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→ Pub#1 objetivo: Marco teórico PSO-ACO (</a:t>
            </a:r>
            <a:r>
              <a:rPr lang="es-MX" sz="2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Swarm</a:t>
            </a:r>
            <a:r>
              <a:rPr lang="es-MX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s-MX" sz="2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Intelligence</a:t>
            </a:r>
            <a:r>
              <a:rPr lang="es-MX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s-MX" sz="2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Journal</a:t>
            </a:r>
            <a:r>
              <a:rPr lang="es-MX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)</a:t>
            </a:r>
          </a:p>
          <a:p>
            <a:endParaRPr lang="es-MX" sz="2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06321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BDEAED-3635-3DED-38EC-FCAFD821A9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6A4531-DFCF-698A-5974-040D54CD6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s-MX" dirty="0"/>
              <a:t>METODOLOGÍA</a:t>
            </a:r>
          </a:p>
        </p:txBody>
      </p:sp>
      <p:sp>
        <p:nvSpPr>
          <p:cNvPr id="34" name="Shape 1">
            <a:extLst>
              <a:ext uri="{FF2B5EF4-FFF2-40B4-BE49-F238E27FC236}">
                <a16:creationId xmlns:a16="http://schemas.microsoft.com/office/drawing/2014/main" id="{BDC51903-47C0-53F3-1CEE-BE6AD07E4366}"/>
              </a:ext>
            </a:extLst>
          </p:cNvPr>
          <p:cNvSpPr/>
          <p:nvPr/>
        </p:nvSpPr>
        <p:spPr>
          <a:xfrm>
            <a:off x="616809" y="2346732"/>
            <a:ext cx="11270392" cy="4186803"/>
          </a:xfrm>
          <a:prstGeom prst="roundRect">
            <a:avLst>
              <a:gd name="adj" fmla="val 1917"/>
            </a:avLst>
          </a:prstGeom>
          <a:solidFill>
            <a:srgbClr val="F9F7F7"/>
          </a:solidFill>
          <a:ln/>
        </p:spPr>
      </p:sp>
      <p:pic>
        <p:nvPicPr>
          <p:cNvPr id="35" name="Image 0" descr="preencoded.png">
            <a:extLst>
              <a:ext uri="{FF2B5EF4-FFF2-40B4-BE49-F238E27FC236}">
                <a16:creationId xmlns:a16="http://schemas.microsoft.com/office/drawing/2014/main" id="{E8A3EC02-7611-FCE1-4217-CFAFBFBF70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809" y="2462942"/>
            <a:ext cx="340162" cy="272177"/>
          </a:xfrm>
          <a:prstGeom prst="rect">
            <a:avLst/>
          </a:prstGeom>
        </p:spPr>
      </p:pic>
      <p:sp>
        <p:nvSpPr>
          <p:cNvPr id="42" name="Marcador de número de diapositiva 5">
            <a:extLst>
              <a:ext uri="{FF2B5EF4-FFF2-40B4-BE49-F238E27FC236}">
                <a16:creationId xmlns:a16="http://schemas.microsoft.com/office/drawing/2014/main" id="{5FB9109B-7473-3A7B-ADF6-9E0FFAD28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16</a:t>
            </a:fld>
            <a:endParaRPr lang="en-US"/>
          </a:p>
        </p:txBody>
      </p:sp>
      <p:grpSp>
        <p:nvGrpSpPr>
          <p:cNvPr id="43" name="Grupo 7">
            <a:extLst>
              <a:ext uri="{FF2B5EF4-FFF2-40B4-BE49-F238E27FC236}">
                <a16:creationId xmlns:a16="http://schemas.microsoft.com/office/drawing/2014/main" id="{F10D34BA-ABB0-52B9-EF35-413F192E21B5}"/>
              </a:ext>
            </a:extLst>
          </p:cNvPr>
          <p:cNvGrpSpPr/>
          <p:nvPr/>
        </p:nvGrpSpPr>
        <p:grpSpPr>
          <a:xfrm>
            <a:off x="192718" y="6100253"/>
            <a:ext cx="10587332" cy="643238"/>
            <a:chOff x="192718" y="6100253"/>
            <a:chExt cx="10587332" cy="643238"/>
          </a:xfrm>
        </p:grpSpPr>
        <p:cxnSp>
          <p:nvCxnSpPr>
            <p:cNvPr id="44" name="Conector recto 8">
              <a:extLst>
                <a:ext uri="{FF2B5EF4-FFF2-40B4-BE49-F238E27FC236}">
                  <a16:creationId xmlns:a16="http://schemas.microsoft.com/office/drawing/2014/main" id="{E49DDE37-11E1-CF4B-6A28-7A17DA5C1502}"/>
                </a:ext>
              </a:extLst>
            </p:cNvPr>
            <p:cNvCxnSpPr/>
            <p:nvPr/>
          </p:nvCxnSpPr>
          <p:spPr>
            <a:xfrm>
              <a:off x="192718" y="6698870"/>
              <a:ext cx="9095145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45" name="Imagen 9">
              <a:extLst>
                <a:ext uri="{FF2B5EF4-FFF2-40B4-BE49-F238E27FC236}">
                  <a16:creationId xmlns:a16="http://schemas.microsoft.com/office/drawing/2014/main" id="{58611C06-6BC6-3CC1-B774-F9C5B1E59AC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480581" y="6100253"/>
              <a:ext cx="1299469" cy="643238"/>
            </a:xfrm>
            <a:prstGeom prst="rect">
              <a:avLst/>
            </a:prstGeom>
          </p:spPr>
        </p:pic>
      </p:grpSp>
      <p:sp>
        <p:nvSpPr>
          <p:cNvPr id="3" name="Text 0">
            <a:extLst>
              <a:ext uri="{FF2B5EF4-FFF2-40B4-BE49-F238E27FC236}">
                <a16:creationId xmlns:a16="http://schemas.microsoft.com/office/drawing/2014/main" id="{6B382A75-7075-7ECE-C4D6-27F5DBA6B999}"/>
              </a:ext>
            </a:extLst>
          </p:cNvPr>
          <p:cNvSpPr/>
          <p:nvPr/>
        </p:nvSpPr>
        <p:spPr>
          <a:xfrm>
            <a:off x="1221495" y="1487192"/>
            <a:ext cx="10501114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dirty="0">
                <a:solidFill>
                  <a:srgbClr val="201B18"/>
                </a:solidFill>
                <a:latin typeface="Aptos" panose="020B0004020202020204" pitchFamily="34" charset="0"/>
                <a:ea typeface="Platypi Medium" pitchFamily="34" charset="-122"/>
                <a:cs typeface="Platypi Medium" pitchFamily="34" charset="-120"/>
              </a:rPr>
              <a:t>ROADMAP FASEADO</a:t>
            </a:r>
            <a:endParaRPr lang="en-US" sz="3300" dirty="0">
              <a:latin typeface="Aptos" panose="020B00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35CA96-94B3-5284-8F82-5FBE40B79499}"/>
              </a:ext>
            </a:extLst>
          </p:cNvPr>
          <p:cNvSpPr txBox="1"/>
          <p:nvPr/>
        </p:nvSpPr>
        <p:spPr>
          <a:xfrm>
            <a:off x="956971" y="2415838"/>
            <a:ext cx="10353697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400" dirty="0"/>
              <a:t>FASE 3: Simulación ROS 2/Gazebo (Meses 8-14)</a:t>
            </a:r>
          </a:p>
          <a:p>
            <a:endParaRPr lang="es-MX" sz="2400" dirty="0"/>
          </a:p>
          <a:p>
            <a:r>
              <a:rPr lang="es-MX" sz="2400" dirty="0"/>
              <a:t>• Entorno: Viñedo 10 ha (modelo INIA), viento &gt;5 m/s, obstáculos dinámicos</a:t>
            </a:r>
          </a:p>
          <a:p>
            <a:r>
              <a:rPr lang="es-MX" sz="2400" dirty="0"/>
              <a:t>• Comunicación: DDS/RTPS peer-</a:t>
            </a:r>
            <a:r>
              <a:rPr lang="es-MX" sz="2400" dirty="0" err="1"/>
              <a:t>to</a:t>
            </a:r>
            <a:r>
              <a:rPr lang="es-MX" sz="2400" dirty="0"/>
              <a:t>-peer, compatible con PX4/</a:t>
            </a:r>
            <a:r>
              <a:rPr lang="es-MX" sz="2400" dirty="0" err="1"/>
              <a:t>ArduPilot</a:t>
            </a:r>
            <a:endParaRPr lang="es-MX" sz="2400" dirty="0"/>
          </a:p>
          <a:p>
            <a:r>
              <a:rPr lang="es-MX" sz="2400" dirty="0"/>
              <a:t>• Validación: 3-4 RPAS simulados (escalabilidad a flotas de hasta 10)</a:t>
            </a:r>
          </a:p>
          <a:p>
            <a:endParaRPr lang="es-MX" sz="2400" dirty="0"/>
          </a:p>
          <a:p>
            <a:r>
              <a:rPr lang="es-MX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→ Extiende </a:t>
            </a:r>
            <a:r>
              <a:rPr lang="es-MX" sz="2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AgriSwarm-Bench</a:t>
            </a:r>
            <a:r>
              <a:rPr lang="es-MX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: escenario "vineyard_10ha_wind" + módulo PSO-ACO</a:t>
            </a:r>
          </a:p>
          <a:p>
            <a:r>
              <a:rPr lang="es-MX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→ Entregable: </a:t>
            </a:r>
            <a:r>
              <a:rPr lang="es-MX" sz="2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Dataset</a:t>
            </a:r>
            <a:r>
              <a:rPr lang="es-MX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público de trayectorias heterogéneas</a:t>
            </a:r>
          </a:p>
        </p:txBody>
      </p:sp>
    </p:spTree>
    <p:extLst>
      <p:ext uri="{BB962C8B-B14F-4D97-AF65-F5344CB8AC3E}">
        <p14:creationId xmlns:p14="http://schemas.microsoft.com/office/powerpoint/2010/main" val="22461899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BDEAED-3635-3DED-38EC-FCAFD821A9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6A4531-DFCF-698A-5974-040D54CD6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s-MX" dirty="0"/>
              <a:t>METODOLOGÍA</a:t>
            </a:r>
          </a:p>
        </p:txBody>
      </p:sp>
      <p:sp>
        <p:nvSpPr>
          <p:cNvPr id="34" name="Shape 1">
            <a:extLst>
              <a:ext uri="{FF2B5EF4-FFF2-40B4-BE49-F238E27FC236}">
                <a16:creationId xmlns:a16="http://schemas.microsoft.com/office/drawing/2014/main" id="{BDC51903-47C0-53F3-1CEE-BE6AD07E4366}"/>
              </a:ext>
            </a:extLst>
          </p:cNvPr>
          <p:cNvSpPr/>
          <p:nvPr/>
        </p:nvSpPr>
        <p:spPr>
          <a:xfrm>
            <a:off x="616809" y="2346732"/>
            <a:ext cx="11270392" cy="4186803"/>
          </a:xfrm>
          <a:prstGeom prst="roundRect">
            <a:avLst>
              <a:gd name="adj" fmla="val 1917"/>
            </a:avLst>
          </a:prstGeom>
          <a:solidFill>
            <a:srgbClr val="F9F7F7"/>
          </a:solidFill>
          <a:ln/>
        </p:spPr>
      </p:sp>
      <p:pic>
        <p:nvPicPr>
          <p:cNvPr id="35" name="Image 0" descr="preencoded.png">
            <a:extLst>
              <a:ext uri="{FF2B5EF4-FFF2-40B4-BE49-F238E27FC236}">
                <a16:creationId xmlns:a16="http://schemas.microsoft.com/office/drawing/2014/main" id="{E8A3EC02-7611-FCE1-4217-CFAFBFBF70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809" y="2462942"/>
            <a:ext cx="340162" cy="272177"/>
          </a:xfrm>
          <a:prstGeom prst="rect">
            <a:avLst/>
          </a:prstGeom>
        </p:spPr>
      </p:pic>
      <p:sp>
        <p:nvSpPr>
          <p:cNvPr id="42" name="Marcador de número de diapositiva 5">
            <a:extLst>
              <a:ext uri="{FF2B5EF4-FFF2-40B4-BE49-F238E27FC236}">
                <a16:creationId xmlns:a16="http://schemas.microsoft.com/office/drawing/2014/main" id="{5FB9109B-7473-3A7B-ADF6-9E0FFAD28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17</a:t>
            </a:fld>
            <a:endParaRPr lang="en-US"/>
          </a:p>
        </p:txBody>
      </p:sp>
      <p:grpSp>
        <p:nvGrpSpPr>
          <p:cNvPr id="43" name="Grupo 7">
            <a:extLst>
              <a:ext uri="{FF2B5EF4-FFF2-40B4-BE49-F238E27FC236}">
                <a16:creationId xmlns:a16="http://schemas.microsoft.com/office/drawing/2014/main" id="{F10D34BA-ABB0-52B9-EF35-413F192E21B5}"/>
              </a:ext>
            </a:extLst>
          </p:cNvPr>
          <p:cNvGrpSpPr/>
          <p:nvPr/>
        </p:nvGrpSpPr>
        <p:grpSpPr>
          <a:xfrm>
            <a:off x="192718" y="6100253"/>
            <a:ext cx="10587332" cy="643238"/>
            <a:chOff x="192718" y="6100253"/>
            <a:chExt cx="10587332" cy="643238"/>
          </a:xfrm>
        </p:grpSpPr>
        <p:cxnSp>
          <p:nvCxnSpPr>
            <p:cNvPr id="44" name="Conector recto 8">
              <a:extLst>
                <a:ext uri="{FF2B5EF4-FFF2-40B4-BE49-F238E27FC236}">
                  <a16:creationId xmlns:a16="http://schemas.microsoft.com/office/drawing/2014/main" id="{E49DDE37-11E1-CF4B-6A28-7A17DA5C1502}"/>
                </a:ext>
              </a:extLst>
            </p:cNvPr>
            <p:cNvCxnSpPr/>
            <p:nvPr/>
          </p:nvCxnSpPr>
          <p:spPr>
            <a:xfrm>
              <a:off x="192718" y="6698870"/>
              <a:ext cx="9095145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45" name="Imagen 9">
              <a:extLst>
                <a:ext uri="{FF2B5EF4-FFF2-40B4-BE49-F238E27FC236}">
                  <a16:creationId xmlns:a16="http://schemas.microsoft.com/office/drawing/2014/main" id="{58611C06-6BC6-3CC1-B774-F9C5B1E59AC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480581" y="6100253"/>
              <a:ext cx="1299469" cy="643238"/>
            </a:xfrm>
            <a:prstGeom prst="rect">
              <a:avLst/>
            </a:prstGeom>
          </p:spPr>
        </p:pic>
      </p:grpSp>
      <p:sp>
        <p:nvSpPr>
          <p:cNvPr id="3" name="Text 0">
            <a:extLst>
              <a:ext uri="{FF2B5EF4-FFF2-40B4-BE49-F238E27FC236}">
                <a16:creationId xmlns:a16="http://schemas.microsoft.com/office/drawing/2014/main" id="{6B382A75-7075-7ECE-C4D6-27F5DBA6B999}"/>
              </a:ext>
            </a:extLst>
          </p:cNvPr>
          <p:cNvSpPr/>
          <p:nvPr/>
        </p:nvSpPr>
        <p:spPr>
          <a:xfrm>
            <a:off x="1221495" y="1487192"/>
            <a:ext cx="10501114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dirty="0">
                <a:solidFill>
                  <a:srgbClr val="201B18"/>
                </a:solidFill>
                <a:latin typeface="Aptos" panose="020B0004020202020204" pitchFamily="34" charset="0"/>
                <a:ea typeface="Platypi Medium" pitchFamily="34" charset="-122"/>
                <a:cs typeface="Platypi Medium" pitchFamily="34" charset="-120"/>
              </a:rPr>
              <a:t>ROADMAP FASEADO</a:t>
            </a:r>
            <a:endParaRPr lang="en-US" sz="3300" dirty="0">
              <a:latin typeface="Aptos" panose="020B00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35CA96-94B3-5284-8F82-5FBE40B79499}"/>
              </a:ext>
            </a:extLst>
          </p:cNvPr>
          <p:cNvSpPr txBox="1"/>
          <p:nvPr/>
        </p:nvSpPr>
        <p:spPr>
          <a:xfrm>
            <a:off x="956971" y="2415838"/>
            <a:ext cx="10353697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400" dirty="0"/>
              <a:t>FASE 4: Validación estadística (Meses 15-20)</a:t>
            </a:r>
          </a:p>
          <a:p>
            <a:endParaRPr lang="es-MX" sz="2400" dirty="0"/>
          </a:p>
          <a:p>
            <a:r>
              <a:rPr lang="es-MX" sz="2400" dirty="0"/>
              <a:t>• ANOVA de 3 métricas DRS: tiempo cobertura, consumo energético, robustez ante fallos</a:t>
            </a:r>
          </a:p>
          <a:p>
            <a:r>
              <a:rPr lang="es-MX" sz="2400" dirty="0"/>
              <a:t>• Comparación vs. </a:t>
            </a:r>
            <a:r>
              <a:rPr lang="es-MX" sz="2400" dirty="0" err="1"/>
              <a:t>baselines</a:t>
            </a:r>
            <a:r>
              <a:rPr lang="es-MX" sz="2400" dirty="0"/>
              <a:t>: PSO puro, ACO puro, coordinación centralizada</a:t>
            </a:r>
          </a:p>
          <a:p>
            <a:endParaRPr lang="es-MX" sz="2400" dirty="0"/>
          </a:p>
          <a:p>
            <a:r>
              <a:rPr lang="es-MX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→ Entregable: Resultados estadísticos para Pub#2 (J. Field </a:t>
            </a:r>
            <a:r>
              <a:rPr lang="es-MX" sz="2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Robotics</a:t>
            </a:r>
            <a:r>
              <a:rPr lang="es-MX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)</a:t>
            </a:r>
          </a:p>
          <a:p>
            <a:r>
              <a:rPr lang="es-MX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→ </a:t>
            </a:r>
            <a:r>
              <a:rPr lang="es-MX" sz="2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Dataset</a:t>
            </a:r>
            <a:r>
              <a:rPr lang="es-MX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generado se integra a </a:t>
            </a:r>
            <a:r>
              <a:rPr lang="es-MX" sz="2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AgriSwarm-Bench</a:t>
            </a:r>
            <a:r>
              <a:rPr lang="es-MX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como </a:t>
            </a:r>
            <a:r>
              <a:rPr lang="es-MX" sz="2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benchmark</a:t>
            </a:r>
            <a:r>
              <a:rPr lang="es-MX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público</a:t>
            </a:r>
          </a:p>
        </p:txBody>
      </p:sp>
    </p:spTree>
    <p:extLst>
      <p:ext uri="{BB962C8B-B14F-4D97-AF65-F5344CB8AC3E}">
        <p14:creationId xmlns:p14="http://schemas.microsoft.com/office/powerpoint/2010/main" val="28337744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BDEAED-3635-3DED-38EC-FCAFD821A9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6A4531-DFCF-698A-5974-040D54CD6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s-MX" dirty="0"/>
              <a:t>METODOLOGÍA</a:t>
            </a:r>
          </a:p>
        </p:txBody>
      </p:sp>
      <p:sp>
        <p:nvSpPr>
          <p:cNvPr id="34" name="Shape 1">
            <a:extLst>
              <a:ext uri="{FF2B5EF4-FFF2-40B4-BE49-F238E27FC236}">
                <a16:creationId xmlns:a16="http://schemas.microsoft.com/office/drawing/2014/main" id="{BDC51903-47C0-53F3-1CEE-BE6AD07E4366}"/>
              </a:ext>
            </a:extLst>
          </p:cNvPr>
          <p:cNvSpPr/>
          <p:nvPr/>
        </p:nvSpPr>
        <p:spPr>
          <a:xfrm>
            <a:off x="616809" y="2346732"/>
            <a:ext cx="11270392" cy="4186803"/>
          </a:xfrm>
          <a:prstGeom prst="roundRect">
            <a:avLst>
              <a:gd name="adj" fmla="val 1917"/>
            </a:avLst>
          </a:prstGeom>
          <a:solidFill>
            <a:srgbClr val="F9F7F7"/>
          </a:solidFill>
          <a:ln/>
        </p:spPr>
      </p:sp>
      <p:pic>
        <p:nvPicPr>
          <p:cNvPr id="35" name="Image 0" descr="preencoded.png">
            <a:extLst>
              <a:ext uri="{FF2B5EF4-FFF2-40B4-BE49-F238E27FC236}">
                <a16:creationId xmlns:a16="http://schemas.microsoft.com/office/drawing/2014/main" id="{E8A3EC02-7611-FCE1-4217-CFAFBFBF70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809" y="2462942"/>
            <a:ext cx="340162" cy="272177"/>
          </a:xfrm>
          <a:prstGeom prst="rect">
            <a:avLst/>
          </a:prstGeom>
        </p:spPr>
      </p:pic>
      <p:sp>
        <p:nvSpPr>
          <p:cNvPr id="42" name="Marcador de número de diapositiva 5">
            <a:extLst>
              <a:ext uri="{FF2B5EF4-FFF2-40B4-BE49-F238E27FC236}">
                <a16:creationId xmlns:a16="http://schemas.microsoft.com/office/drawing/2014/main" id="{5FB9109B-7473-3A7B-ADF6-9E0FFAD28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18</a:t>
            </a:fld>
            <a:endParaRPr lang="en-US"/>
          </a:p>
        </p:txBody>
      </p:sp>
      <p:grpSp>
        <p:nvGrpSpPr>
          <p:cNvPr id="43" name="Grupo 7">
            <a:extLst>
              <a:ext uri="{FF2B5EF4-FFF2-40B4-BE49-F238E27FC236}">
                <a16:creationId xmlns:a16="http://schemas.microsoft.com/office/drawing/2014/main" id="{F10D34BA-ABB0-52B9-EF35-413F192E21B5}"/>
              </a:ext>
            </a:extLst>
          </p:cNvPr>
          <p:cNvGrpSpPr/>
          <p:nvPr/>
        </p:nvGrpSpPr>
        <p:grpSpPr>
          <a:xfrm>
            <a:off x="192718" y="6100253"/>
            <a:ext cx="10587332" cy="643238"/>
            <a:chOff x="192718" y="6100253"/>
            <a:chExt cx="10587332" cy="643238"/>
          </a:xfrm>
        </p:grpSpPr>
        <p:cxnSp>
          <p:nvCxnSpPr>
            <p:cNvPr id="44" name="Conector recto 8">
              <a:extLst>
                <a:ext uri="{FF2B5EF4-FFF2-40B4-BE49-F238E27FC236}">
                  <a16:creationId xmlns:a16="http://schemas.microsoft.com/office/drawing/2014/main" id="{E49DDE37-11E1-CF4B-6A28-7A17DA5C1502}"/>
                </a:ext>
              </a:extLst>
            </p:cNvPr>
            <p:cNvCxnSpPr/>
            <p:nvPr/>
          </p:nvCxnSpPr>
          <p:spPr>
            <a:xfrm>
              <a:off x="192718" y="6698870"/>
              <a:ext cx="9095145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45" name="Imagen 9">
              <a:extLst>
                <a:ext uri="{FF2B5EF4-FFF2-40B4-BE49-F238E27FC236}">
                  <a16:creationId xmlns:a16="http://schemas.microsoft.com/office/drawing/2014/main" id="{58611C06-6BC6-3CC1-B774-F9C5B1E59AC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480581" y="6100253"/>
              <a:ext cx="1299469" cy="643238"/>
            </a:xfrm>
            <a:prstGeom prst="rect">
              <a:avLst/>
            </a:prstGeom>
          </p:spPr>
        </p:pic>
      </p:grpSp>
      <p:sp>
        <p:nvSpPr>
          <p:cNvPr id="3" name="Text 0">
            <a:extLst>
              <a:ext uri="{FF2B5EF4-FFF2-40B4-BE49-F238E27FC236}">
                <a16:creationId xmlns:a16="http://schemas.microsoft.com/office/drawing/2014/main" id="{6B382A75-7075-7ECE-C4D6-27F5DBA6B999}"/>
              </a:ext>
            </a:extLst>
          </p:cNvPr>
          <p:cNvSpPr/>
          <p:nvPr/>
        </p:nvSpPr>
        <p:spPr>
          <a:xfrm>
            <a:off x="1221495" y="1487192"/>
            <a:ext cx="10501114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dirty="0">
                <a:solidFill>
                  <a:srgbClr val="201B18"/>
                </a:solidFill>
                <a:latin typeface="Aptos" panose="020B0004020202020204" pitchFamily="34" charset="0"/>
                <a:ea typeface="Platypi Medium" pitchFamily="34" charset="-122"/>
                <a:cs typeface="Platypi Medium" pitchFamily="34" charset="-120"/>
              </a:rPr>
              <a:t>ROADMAP FASEADO</a:t>
            </a:r>
            <a:endParaRPr lang="en-US" sz="3300" dirty="0">
              <a:latin typeface="Aptos" panose="020B00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35CA96-94B3-5284-8F82-5FBE40B79499}"/>
              </a:ext>
            </a:extLst>
          </p:cNvPr>
          <p:cNvSpPr txBox="1"/>
          <p:nvPr/>
        </p:nvSpPr>
        <p:spPr>
          <a:xfrm>
            <a:off x="956971" y="2415838"/>
            <a:ext cx="10765638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400" dirty="0"/>
              <a:t>FASE 5: Transferencia tecnológica (Meses 24-32)</a:t>
            </a:r>
          </a:p>
          <a:p>
            <a:endParaRPr lang="es-MX" sz="2400" dirty="0"/>
          </a:p>
          <a:p>
            <a:r>
              <a:rPr lang="es-MX" sz="2400" dirty="0"/>
              <a:t>• Ensayos: 40 m AGL, zona exclusión 50 m</a:t>
            </a:r>
          </a:p>
          <a:p>
            <a:r>
              <a:rPr lang="es-MX" sz="2400" dirty="0"/>
              <a:t>• Hardware: 1× DJI Agras + 2× </a:t>
            </a:r>
            <a:r>
              <a:rPr lang="es-MX" sz="2400" dirty="0" err="1"/>
              <a:t>Pixhawk</a:t>
            </a:r>
            <a:r>
              <a:rPr lang="es-MX" sz="2400" dirty="0"/>
              <a:t> </a:t>
            </a:r>
            <a:r>
              <a:rPr lang="es-MX" sz="2400" dirty="0" err="1"/>
              <a:t>quadcopters</a:t>
            </a:r>
            <a:r>
              <a:rPr lang="es-MX" sz="2400" dirty="0"/>
              <a:t> + sensores multiespectrales</a:t>
            </a:r>
          </a:p>
          <a:p>
            <a:r>
              <a:rPr lang="es-MX" sz="2400" dirty="0"/>
              <a:t>• Cuantificación: litros agua/fertilizante ahorrados por ha, detección temprana estrés hídrico</a:t>
            </a:r>
          </a:p>
          <a:p>
            <a:r>
              <a:rPr lang="es-MX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→ Criterio de éxito: ≥25% reducción tiempo monitoreo vs. </a:t>
            </a:r>
            <a:r>
              <a:rPr lang="es-MX" sz="2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baseline</a:t>
            </a:r>
            <a:r>
              <a:rPr lang="es-MX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centralizado</a:t>
            </a:r>
          </a:p>
          <a:p>
            <a:r>
              <a:rPr lang="es-MX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→ Entregable: Video demo + datos agronómicos para Pub#3 (</a:t>
            </a:r>
            <a:r>
              <a:rPr lang="es-MX" sz="2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Computers</a:t>
            </a:r>
            <a:r>
              <a:rPr lang="es-MX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&amp; </a:t>
            </a:r>
            <a:r>
              <a:rPr lang="es-MX" sz="2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Electronics</a:t>
            </a:r>
            <a:r>
              <a:rPr lang="es-MX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in </a:t>
            </a:r>
            <a:r>
              <a:rPr lang="es-MX" sz="2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Agriculture</a:t>
            </a:r>
            <a:r>
              <a:rPr lang="es-MX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229151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C70812-EF37-B25B-D6F9-5DFAE07C6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REFERENCIAS BIBLIOGRÁFICAS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B86B7BA-0D10-1329-762B-EDFA87C60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19</a:t>
            </a:fld>
            <a:endParaRPr lang="en-US"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459614AB-6844-B99A-A51F-5E878E80CB82}"/>
              </a:ext>
            </a:extLst>
          </p:cNvPr>
          <p:cNvSpPr/>
          <p:nvPr/>
        </p:nvSpPr>
        <p:spPr>
          <a:xfrm>
            <a:off x="1221495" y="1487192"/>
            <a:ext cx="10501114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dirty="0">
                <a:solidFill>
                  <a:srgbClr val="201B18"/>
                </a:solidFill>
                <a:latin typeface="Aptos" panose="020B0004020202020204" pitchFamily="34" charset="0"/>
                <a:ea typeface="Platypi Medium" pitchFamily="34" charset="-122"/>
                <a:cs typeface="Platypi Medium" pitchFamily="34" charset="-120"/>
              </a:rPr>
              <a:t>PILARES DEL PROTOCOLO</a:t>
            </a:r>
            <a:endParaRPr lang="en-US" sz="3300" dirty="0">
              <a:latin typeface="Aptos" panose="020B0004020202020204" pitchFamily="34" charset="0"/>
            </a:endParaRPr>
          </a:p>
        </p:txBody>
      </p:sp>
      <p:sp>
        <p:nvSpPr>
          <p:cNvPr id="12" name="Shape 1">
            <a:extLst>
              <a:ext uri="{FF2B5EF4-FFF2-40B4-BE49-F238E27FC236}">
                <a16:creationId xmlns:a16="http://schemas.microsoft.com/office/drawing/2014/main" id="{A2E3838A-91E7-E553-4E82-D5A7B405C5C6}"/>
              </a:ext>
            </a:extLst>
          </p:cNvPr>
          <p:cNvSpPr/>
          <p:nvPr/>
        </p:nvSpPr>
        <p:spPr>
          <a:xfrm>
            <a:off x="616809" y="2346732"/>
            <a:ext cx="11270392" cy="4186803"/>
          </a:xfrm>
          <a:prstGeom prst="roundRect">
            <a:avLst>
              <a:gd name="adj" fmla="val 1917"/>
            </a:avLst>
          </a:prstGeom>
          <a:solidFill>
            <a:srgbClr val="F9F7F7"/>
          </a:solidFill>
          <a:ln/>
        </p:spPr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B6E9821-0BC0-FB0F-1B0F-00A9EBC42729}"/>
              </a:ext>
            </a:extLst>
          </p:cNvPr>
          <p:cNvSpPr txBox="1"/>
          <p:nvPr/>
        </p:nvSpPr>
        <p:spPr>
          <a:xfrm>
            <a:off x="616809" y="2451554"/>
            <a:ext cx="11033762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dirty="0"/>
              <a:t>FUNDAMENTOS TEÓRICOS</a:t>
            </a:r>
          </a:p>
          <a:p>
            <a:r>
              <a:rPr lang="es-MX" dirty="0"/>
              <a:t>[2] </a:t>
            </a:r>
            <a:r>
              <a:rPr lang="es-MX" dirty="0" err="1"/>
              <a:t>Dorigo</a:t>
            </a:r>
            <a:r>
              <a:rPr lang="es-MX" dirty="0"/>
              <a:t>, M., &amp; </a:t>
            </a:r>
            <a:r>
              <a:rPr lang="es-MX" dirty="0" err="1"/>
              <a:t>Stützle</a:t>
            </a:r>
            <a:r>
              <a:rPr lang="es-MX" dirty="0"/>
              <a:t>, T. (2004). </a:t>
            </a:r>
            <a:r>
              <a:rPr lang="es-MX" dirty="0" err="1"/>
              <a:t>Ant</a:t>
            </a:r>
            <a:r>
              <a:rPr lang="es-MX" dirty="0"/>
              <a:t> </a:t>
            </a:r>
            <a:r>
              <a:rPr lang="es-MX" dirty="0" err="1"/>
              <a:t>colony</a:t>
            </a:r>
            <a:r>
              <a:rPr lang="es-MX" dirty="0"/>
              <a:t> </a:t>
            </a:r>
            <a:r>
              <a:rPr lang="es-MX" dirty="0" err="1"/>
              <a:t>optimization</a:t>
            </a:r>
            <a:r>
              <a:rPr lang="es-MX" dirty="0"/>
              <a:t>. MIT </a:t>
            </a:r>
            <a:r>
              <a:rPr lang="es-MX" dirty="0" err="1"/>
              <a:t>Press</a:t>
            </a:r>
            <a:r>
              <a:rPr lang="es-MX" dirty="0"/>
              <a:t>.</a:t>
            </a:r>
          </a:p>
          <a:p>
            <a:r>
              <a:rPr lang="es-MX" dirty="0"/>
              <a:t>[3] Kennedy, J., &amp; </a:t>
            </a:r>
            <a:r>
              <a:rPr lang="es-MX" dirty="0" err="1"/>
              <a:t>Eberhart</a:t>
            </a:r>
            <a:r>
              <a:rPr lang="es-MX" dirty="0"/>
              <a:t>, R. (1995). </a:t>
            </a:r>
            <a:r>
              <a:rPr lang="es-MX" dirty="0" err="1"/>
              <a:t>Particle</a:t>
            </a:r>
            <a:r>
              <a:rPr lang="es-MX" dirty="0"/>
              <a:t> </a:t>
            </a:r>
            <a:r>
              <a:rPr lang="es-MX" dirty="0" err="1"/>
              <a:t>swarm</a:t>
            </a:r>
            <a:r>
              <a:rPr lang="es-MX" dirty="0"/>
              <a:t> </a:t>
            </a:r>
            <a:r>
              <a:rPr lang="es-MX" dirty="0" err="1"/>
              <a:t>optimization</a:t>
            </a:r>
            <a:r>
              <a:rPr lang="es-MX" dirty="0"/>
              <a:t>. ICNN'95.</a:t>
            </a:r>
          </a:p>
          <a:p>
            <a:r>
              <a:rPr lang="es-MX" dirty="0"/>
              <a:t>[8] </a:t>
            </a:r>
            <a:r>
              <a:rPr lang="es-MX" dirty="0" err="1"/>
              <a:t>Olfati</a:t>
            </a:r>
            <a:r>
              <a:rPr lang="es-MX" dirty="0"/>
              <a:t>-Saber, R. (2006). </a:t>
            </a:r>
            <a:r>
              <a:rPr lang="es-MX" dirty="0" err="1"/>
              <a:t>Flocking</a:t>
            </a:r>
            <a:r>
              <a:rPr lang="es-MX" dirty="0"/>
              <a:t> </a:t>
            </a:r>
            <a:r>
              <a:rPr lang="es-MX" dirty="0" err="1"/>
              <a:t>for</a:t>
            </a:r>
            <a:r>
              <a:rPr lang="es-MX" dirty="0"/>
              <a:t> </a:t>
            </a:r>
            <a:r>
              <a:rPr lang="es-MX" dirty="0" err="1"/>
              <a:t>multi-agent</a:t>
            </a:r>
            <a:r>
              <a:rPr lang="es-MX" dirty="0"/>
              <a:t> </a:t>
            </a:r>
            <a:r>
              <a:rPr lang="es-MX" dirty="0" err="1"/>
              <a:t>dynamic</a:t>
            </a:r>
            <a:r>
              <a:rPr lang="es-MX" dirty="0"/>
              <a:t> </a:t>
            </a:r>
            <a:r>
              <a:rPr lang="es-MX" dirty="0" err="1"/>
              <a:t>systems</a:t>
            </a:r>
            <a:r>
              <a:rPr lang="es-MX" dirty="0"/>
              <a:t>. IEEE TAC.</a:t>
            </a:r>
          </a:p>
          <a:p>
            <a:endParaRPr lang="es-MX" dirty="0"/>
          </a:p>
          <a:p>
            <a:r>
              <a:rPr lang="es-MX" b="1" dirty="0"/>
              <a:t>ESTADO DEL ARTE: </a:t>
            </a:r>
            <a:r>
              <a:rPr lang="es-MX" b="1" dirty="0" err="1"/>
              <a:t>UAVs</a:t>
            </a:r>
            <a:r>
              <a:rPr lang="es-MX" b="1" dirty="0"/>
              <a:t> + SI</a:t>
            </a:r>
          </a:p>
          <a:p>
            <a:r>
              <a:rPr lang="es-MX" dirty="0"/>
              <a:t>[1] Chen, J., et al. (2021). </a:t>
            </a:r>
            <a:r>
              <a:rPr lang="es-MX" dirty="0" err="1"/>
              <a:t>Coverage</a:t>
            </a:r>
            <a:r>
              <a:rPr lang="es-MX" dirty="0"/>
              <a:t> </a:t>
            </a:r>
            <a:r>
              <a:rPr lang="es-MX" dirty="0" err="1"/>
              <a:t>path</a:t>
            </a:r>
            <a:r>
              <a:rPr lang="es-MX" dirty="0"/>
              <a:t> </a:t>
            </a:r>
            <a:r>
              <a:rPr lang="es-MX" dirty="0" err="1"/>
              <a:t>planning</a:t>
            </a:r>
            <a:r>
              <a:rPr lang="es-MX" dirty="0"/>
              <a:t> </a:t>
            </a:r>
            <a:r>
              <a:rPr lang="es-MX" dirty="0" err="1"/>
              <a:t>of</a:t>
            </a:r>
            <a:r>
              <a:rPr lang="es-MX" dirty="0"/>
              <a:t> </a:t>
            </a:r>
            <a:r>
              <a:rPr lang="es-MX" dirty="0" err="1"/>
              <a:t>heterogeneous</a:t>
            </a:r>
            <a:r>
              <a:rPr lang="es-MX" dirty="0"/>
              <a:t> </a:t>
            </a:r>
            <a:r>
              <a:rPr lang="es-MX" dirty="0" err="1"/>
              <a:t>UAVs</a:t>
            </a:r>
            <a:r>
              <a:rPr lang="es-MX" dirty="0"/>
              <a:t> </a:t>
            </a:r>
            <a:r>
              <a:rPr lang="es-MX" dirty="0" err="1"/>
              <a:t>based</a:t>
            </a:r>
            <a:r>
              <a:rPr lang="es-MX" dirty="0"/>
              <a:t> on ACO. </a:t>
            </a:r>
          </a:p>
          <a:p>
            <a:r>
              <a:rPr lang="es-MX" dirty="0"/>
              <a:t>    </a:t>
            </a:r>
            <a:r>
              <a:rPr lang="es-MX" dirty="0" err="1"/>
              <a:t>Swarm</a:t>
            </a:r>
            <a:r>
              <a:rPr lang="es-MX" dirty="0"/>
              <a:t> and </a:t>
            </a:r>
            <a:r>
              <a:rPr lang="es-MX" dirty="0" err="1"/>
              <a:t>Evolutionary</a:t>
            </a:r>
            <a:r>
              <a:rPr lang="es-MX" dirty="0"/>
              <a:t> </a:t>
            </a:r>
            <a:r>
              <a:rPr lang="es-MX" dirty="0" err="1"/>
              <a:t>Computation</a:t>
            </a:r>
            <a:r>
              <a:rPr lang="es-MX" dirty="0"/>
              <a:t>, 67, 101005.</a:t>
            </a:r>
          </a:p>
          <a:p>
            <a:r>
              <a:rPr lang="es-MX" dirty="0"/>
              <a:t>[4] Puente-Castro, A., et al. (2022). AI </a:t>
            </a:r>
            <a:r>
              <a:rPr lang="es-MX" dirty="0" err="1"/>
              <a:t>applied</a:t>
            </a:r>
            <a:r>
              <a:rPr lang="es-MX" dirty="0"/>
              <a:t> </a:t>
            </a:r>
            <a:r>
              <a:rPr lang="es-MX" dirty="0" err="1"/>
              <a:t>to</a:t>
            </a:r>
            <a:r>
              <a:rPr lang="es-MX" dirty="0"/>
              <a:t> </a:t>
            </a:r>
            <a:r>
              <a:rPr lang="es-MX" dirty="0" err="1"/>
              <a:t>path</a:t>
            </a:r>
            <a:r>
              <a:rPr lang="es-MX" dirty="0"/>
              <a:t> </a:t>
            </a:r>
            <a:r>
              <a:rPr lang="es-MX" dirty="0" err="1"/>
              <a:t>planning</a:t>
            </a:r>
            <a:r>
              <a:rPr lang="es-MX" dirty="0"/>
              <a:t> in UAV </a:t>
            </a:r>
            <a:r>
              <a:rPr lang="es-MX" dirty="0" err="1"/>
              <a:t>swarms</a:t>
            </a:r>
            <a:r>
              <a:rPr lang="es-MX" dirty="0"/>
              <a:t>. </a:t>
            </a:r>
          </a:p>
          <a:p>
            <a:r>
              <a:rPr lang="es-MX" dirty="0"/>
              <a:t>    Neural Computing and </a:t>
            </a:r>
            <a:r>
              <a:rPr lang="es-MX" dirty="0" err="1"/>
              <a:t>Applications</a:t>
            </a:r>
            <a:r>
              <a:rPr lang="es-MX" dirty="0"/>
              <a:t>, 34(1), 153-170.</a:t>
            </a:r>
          </a:p>
          <a:p>
            <a:r>
              <a:rPr lang="es-MX" dirty="0"/>
              <a:t>[5] </a:t>
            </a:r>
            <a:r>
              <a:rPr lang="es-MX" dirty="0" err="1"/>
              <a:t>Fevgas</a:t>
            </a:r>
            <a:r>
              <a:rPr lang="es-MX" dirty="0"/>
              <a:t>, G., et al. (2022). </a:t>
            </a:r>
            <a:r>
              <a:rPr lang="es-MX" dirty="0" err="1"/>
              <a:t>Coverage</a:t>
            </a:r>
            <a:r>
              <a:rPr lang="es-MX" dirty="0"/>
              <a:t> </a:t>
            </a:r>
            <a:r>
              <a:rPr lang="es-MX" dirty="0" err="1"/>
              <a:t>path</a:t>
            </a:r>
            <a:r>
              <a:rPr lang="es-MX" dirty="0"/>
              <a:t> </a:t>
            </a:r>
            <a:r>
              <a:rPr lang="es-MX" dirty="0" err="1"/>
              <a:t>planning</a:t>
            </a:r>
            <a:r>
              <a:rPr lang="es-MX" dirty="0"/>
              <a:t> </a:t>
            </a:r>
            <a:r>
              <a:rPr lang="es-MX" dirty="0" err="1"/>
              <a:t>for</a:t>
            </a:r>
            <a:r>
              <a:rPr lang="es-MX" dirty="0"/>
              <a:t> </a:t>
            </a:r>
            <a:r>
              <a:rPr lang="es-MX" dirty="0" err="1"/>
              <a:t>energy-efficient</a:t>
            </a:r>
            <a:r>
              <a:rPr lang="es-MX" dirty="0"/>
              <a:t> </a:t>
            </a:r>
            <a:r>
              <a:rPr lang="es-MX" dirty="0" err="1"/>
              <a:t>UAVs</a:t>
            </a:r>
            <a:r>
              <a:rPr lang="es-MX" dirty="0"/>
              <a:t>. </a:t>
            </a:r>
          </a:p>
          <a:p>
            <a:r>
              <a:rPr lang="es-MX" dirty="0"/>
              <a:t>    </a:t>
            </a:r>
            <a:r>
              <a:rPr lang="es-MX" dirty="0" err="1"/>
              <a:t>Sensors</a:t>
            </a:r>
            <a:r>
              <a:rPr lang="es-MX" dirty="0"/>
              <a:t>, 22(3), 1235.</a:t>
            </a:r>
          </a:p>
          <a:p>
            <a:r>
              <a:rPr lang="es-MX" dirty="0"/>
              <a:t>[7] Pan, N., et al. (2022). </a:t>
            </a:r>
            <a:r>
              <a:rPr lang="es-MX" dirty="0" err="1"/>
              <a:t>Border</a:t>
            </a:r>
            <a:r>
              <a:rPr lang="es-MX" dirty="0"/>
              <a:t> </a:t>
            </a:r>
            <a:r>
              <a:rPr lang="es-MX" dirty="0" err="1"/>
              <a:t>patrol</a:t>
            </a:r>
            <a:r>
              <a:rPr lang="es-MX" dirty="0"/>
              <a:t> </a:t>
            </a:r>
            <a:r>
              <a:rPr lang="es-MX" dirty="0" err="1"/>
              <a:t>with</a:t>
            </a:r>
            <a:r>
              <a:rPr lang="es-MX" dirty="0"/>
              <a:t> </a:t>
            </a:r>
            <a:r>
              <a:rPr lang="es-MX" dirty="0" err="1"/>
              <a:t>heterogeneous</a:t>
            </a:r>
            <a:r>
              <a:rPr lang="es-MX" dirty="0"/>
              <a:t> </a:t>
            </a:r>
            <a:r>
              <a:rPr lang="es-MX" dirty="0" err="1"/>
              <a:t>UAVs</a:t>
            </a:r>
            <a:r>
              <a:rPr lang="es-MX" dirty="0"/>
              <a:t> </a:t>
            </a:r>
            <a:r>
              <a:rPr lang="es-MX" dirty="0" err="1"/>
              <a:t>using</a:t>
            </a:r>
            <a:r>
              <a:rPr lang="es-MX" dirty="0"/>
              <a:t> </a:t>
            </a:r>
            <a:r>
              <a:rPr lang="es-MX" dirty="0" err="1"/>
              <a:t>swarm</a:t>
            </a:r>
            <a:r>
              <a:rPr lang="es-MX" dirty="0"/>
              <a:t> </a:t>
            </a:r>
            <a:r>
              <a:rPr lang="es-MX" dirty="0" err="1"/>
              <a:t>intelligence</a:t>
            </a:r>
            <a:r>
              <a:rPr lang="es-MX" dirty="0"/>
              <a:t>. </a:t>
            </a:r>
          </a:p>
          <a:p>
            <a:r>
              <a:rPr lang="es-MX" dirty="0"/>
              <a:t>    </a:t>
            </a:r>
            <a:r>
              <a:rPr lang="es-MX" dirty="0" err="1"/>
              <a:t>Science</a:t>
            </a:r>
            <a:r>
              <a:rPr lang="es-MX" dirty="0"/>
              <a:t> </a:t>
            </a:r>
            <a:r>
              <a:rPr lang="es-MX" dirty="0" err="1"/>
              <a:t>Progress</a:t>
            </a:r>
            <a:r>
              <a:rPr lang="es-MX" dirty="0"/>
              <a:t>, 104(4).</a:t>
            </a:r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73B6EFFE-1DF3-9C36-E944-989AB4AEE7EE}"/>
              </a:ext>
            </a:extLst>
          </p:cNvPr>
          <p:cNvGrpSpPr/>
          <p:nvPr/>
        </p:nvGrpSpPr>
        <p:grpSpPr>
          <a:xfrm>
            <a:off x="192718" y="6100253"/>
            <a:ext cx="10587332" cy="643238"/>
            <a:chOff x="192718" y="6100253"/>
            <a:chExt cx="10587332" cy="643238"/>
          </a:xfrm>
        </p:grpSpPr>
        <p:cxnSp>
          <p:nvCxnSpPr>
            <p:cNvPr id="9" name="Conector recto 8">
              <a:extLst>
                <a:ext uri="{FF2B5EF4-FFF2-40B4-BE49-F238E27FC236}">
                  <a16:creationId xmlns:a16="http://schemas.microsoft.com/office/drawing/2014/main" id="{946F0410-37AF-35B5-148A-84C9CFC73943}"/>
                </a:ext>
              </a:extLst>
            </p:cNvPr>
            <p:cNvCxnSpPr/>
            <p:nvPr/>
          </p:nvCxnSpPr>
          <p:spPr>
            <a:xfrm>
              <a:off x="192718" y="6698870"/>
              <a:ext cx="9095145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0" name="Imagen 9">
              <a:extLst>
                <a:ext uri="{FF2B5EF4-FFF2-40B4-BE49-F238E27FC236}">
                  <a16:creationId xmlns:a16="http://schemas.microsoft.com/office/drawing/2014/main" id="{0B04F532-D873-098D-FA96-D60AA9CEC1B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480581" y="6100253"/>
              <a:ext cx="1299469" cy="64323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238773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C70812-EF37-B25B-D6F9-5DFAE07C6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REFERENCIAS BIBLIOGRÁFICAS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B86B7BA-0D10-1329-762B-EDFA87C60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20</a:t>
            </a:fld>
            <a:endParaRPr lang="en-US"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459614AB-6844-B99A-A51F-5E878E80CB82}"/>
              </a:ext>
            </a:extLst>
          </p:cNvPr>
          <p:cNvSpPr/>
          <p:nvPr/>
        </p:nvSpPr>
        <p:spPr>
          <a:xfrm>
            <a:off x="1221495" y="1487192"/>
            <a:ext cx="10501114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dirty="0">
                <a:solidFill>
                  <a:srgbClr val="201B18"/>
                </a:solidFill>
                <a:latin typeface="Aptos" panose="020B0004020202020204" pitchFamily="34" charset="0"/>
                <a:ea typeface="Platypi Medium" pitchFamily="34" charset="-122"/>
                <a:cs typeface="Platypi Medium" pitchFamily="34" charset="-120"/>
              </a:rPr>
              <a:t>PILARES DEL PROTOCOLO</a:t>
            </a:r>
            <a:endParaRPr lang="en-US" sz="3300" dirty="0">
              <a:latin typeface="Aptos" panose="020B0004020202020204" pitchFamily="34" charset="0"/>
            </a:endParaRPr>
          </a:p>
        </p:txBody>
      </p:sp>
      <p:sp>
        <p:nvSpPr>
          <p:cNvPr id="12" name="Shape 1">
            <a:extLst>
              <a:ext uri="{FF2B5EF4-FFF2-40B4-BE49-F238E27FC236}">
                <a16:creationId xmlns:a16="http://schemas.microsoft.com/office/drawing/2014/main" id="{A2E3838A-91E7-E553-4E82-D5A7B405C5C6}"/>
              </a:ext>
            </a:extLst>
          </p:cNvPr>
          <p:cNvSpPr/>
          <p:nvPr/>
        </p:nvSpPr>
        <p:spPr>
          <a:xfrm>
            <a:off x="616809" y="2346732"/>
            <a:ext cx="11270392" cy="4186803"/>
          </a:xfrm>
          <a:prstGeom prst="roundRect">
            <a:avLst>
              <a:gd name="adj" fmla="val 1917"/>
            </a:avLst>
          </a:prstGeom>
          <a:solidFill>
            <a:srgbClr val="F9F7F7"/>
          </a:solidFill>
          <a:ln/>
        </p:spPr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B6E9821-0BC0-FB0F-1B0F-00A9EBC42729}"/>
              </a:ext>
            </a:extLst>
          </p:cNvPr>
          <p:cNvSpPr txBox="1"/>
          <p:nvPr/>
        </p:nvSpPr>
        <p:spPr>
          <a:xfrm>
            <a:off x="688847" y="2505862"/>
            <a:ext cx="11033762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dirty="0"/>
              <a:t>CONTEXTO AGRÍCOLA Y BENCHMARKS</a:t>
            </a:r>
          </a:p>
          <a:p>
            <a:r>
              <a:rPr lang="es-MX" dirty="0"/>
              <a:t>[9] Zhang, C., &amp; Kovacs, J. M. (2012). </a:t>
            </a:r>
            <a:r>
              <a:rPr lang="es-MX" dirty="0" err="1"/>
              <a:t>UAVs</a:t>
            </a:r>
            <a:r>
              <a:rPr lang="es-MX" dirty="0"/>
              <a:t> </a:t>
            </a:r>
            <a:r>
              <a:rPr lang="es-MX" dirty="0" err="1"/>
              <a:t>for</a:t>
            </a:r>
            <a:r>
              <a:rPr lang="es-MX" dirty="0"/>
              <a:t> </a:t>
            </a:r>
            <a:r>
              <a:rPr lang="es-MX" dirty="0" err="1"/>
              <a:t>precision</a:t>
            </a:r>
            <a:r>
              <a:rPr lang="es-MX" dirty="0"/>
              <a:t> </a:t>
            </a:r>
            <a:r>
              <a:rPr lang="es-MX" dirty="0" err="1"/>
              <a:t>agriculture</a:t>
            </a:r>
            <a:r>
              <a:rPr lang="es-MX" dirty="0"/>
              <a:t>: a </a:t>
            </a:r>
            <a:r>
              <a:rPr lang="es-MX" dirty="0" err="1"/>
              <a:t>review</a:t>
            </a:r>
            <a:r>
              <a:rPr lang="es-MX" dirty="0"/>
              <a:t>. </a:t>
            </a:r>
          </a:p>
          <a:p>
            <a:r>
              <a:rPr lang="es-MX" dirty="0"/>
              <a:t>    </a:t>
            </a:r>
            <a:r>
              <a:rPr lang="es-MX" dirty="0" err="1"/>
              <a:t>Precision</a:t>
            </a:r>
            <a:r>
              <a:rPr lang="es-MX" dirty="0"/>
              <a:t> </a:t>
            </a:r>
            <a:r>
              <a:rPr lang="es-MX" dirty="0" err="1"/>
              <a:t>Agriculture</a:t>
            </a:r>
            <a:r>
              <a:rPr lang="es-MX" dirty="0"/>
              <a:t>, 13(6), 693-712.</a:t>
            </a:r>
          </a:p>
          <a:p>
            <a:r>
              <a:rPr lang="es-MX" dirty="0"/>
              <a:t>[10] FAO. (2021). </a:t>
            </a:r>
            <a:r>
              <a:rPr lang="es-MX" dirty="0" err="1"/>
              <a:t>The</a:t>
            </a:r>
            <a:r>
              <a:rPr lang="es-MX" dirty="0"/>
              <a:t> use </a:t>
            </a:r>
            <a:r>
              <a:rPr lang="es-MX" dirty="0" err="1"/>
              <a:t>of</a:t>
            </a:r>
            <a:r>
              <a:rPr lang="es-MX" dirty="0"/>
              <a:t> drones in </a:t>
            </a:r>
            <a:r>
              <a:rPr lang="es-MX" dirty="0" err="1"/>
              <a:t>agriculture</a:t>
            </a:r>
            <a:r>
              <a:rPr lang="es-MX" dirty="0"/>
              <a:t>. FAO </a:t>
            </a:r>
            <a:r>
              <a:rPr lang="es-MX" dirty="0" err="1"/>
              <a:t>Working</a:t>
            </a:r>
            <a:r>
              <a:rPr lang="es-MX" dirty="0"/>
              <a:t> </a:t>
            </a:r>
            <a:r>
              <a:rPr lang="es-MX" dirty="0" err="1"/>
              <a:t>Paper</a:t>
            </a:r>
            <a:r>
              <a:rPr lang="es-MX" dirty="0"/>
              <a:t> No. 21-03.</a:t>
            </a:r>
          </a:p>
          <a:p>
            <a:endParaRPr lang="es-MX" dirty="0"/>
          </a:p>
          <a:p>
            <a:r>
              <a:rPr lang="es-MX" b="1" dirty="0"/>
              <a:t>COMPARACIÓN / EXCLUIDO POR CRITERIO E6</a:t>
            </a:r>
          </a:p>
          <a:p>
            <a:r>
              <a:rPr lang="es-MX" dirty="0"/>
              <a:t>[6] Mathew, A. T., et al. (2021). </a:t>
            </a:r>
            <a:r>
              <a:rPr lang="es-MX" dirty="0" err="1"/>
              <a:t>Implementation</a:t>
            </a:r>
            <a:r>
              <a:rPr lang="es-MX" dirty="0"/>
              <a:t> </a:t>
            </a:r>
            <a:r>
              <a:rPr lang="es-MX" dirty="0" err="1"/>
              <a:t>of</a:t>
            </a:r>
            <a:r>
              <a:rPr lang="es-MX" dirty="0"/>
              <a:t> </a:t>
            </a:r>
            <a:r>
              <a:rPr lang="es-MX" dirty="0" err="1"/>
              <a:t>swarm</a:t>
            </a:r>
            <a:r>
              <a:rPr lang="es-MX" dirty="0"/>
              <a:t> </a:t>
            </a:r>
            <a:r>
              <a:rPr lang="es-MX" dirty="0" err="1"/>
              <a:t>intelligence</a:t>
            </a:r>
            <a:r>
              <a:rPr lang="es-MX" dirty="0"/>
              <a:t> </a:t>
            </a:r>
            <a:r>
              <a:rPr lang="es-MX" dirty="0" err="1"/>
              <a:t>algorithms</a:t>
            </a:r>
            <a:r>
              <a:rPr lang="es-MX" dirty="0"/>
              <a:t>. </a:t>
            </a:r>
          </a:p>
          <a:p>
            <a:r>
              <a:rPr lang="es-MX" dirty="0"/>
              <a:t>    </a:t>
            </a:r>
            <a:r>
              <a:rPr lang="es-MX" dirty="0" err="1"/>
              <a:t>Journal</a:t>
            </a:r>
            <a:r>
              <a:rPr lang="es-MX" dirty="0"/>
              <a:t> </a:t>
            </a:r>
            <a:r>
              <a:rPr lang="es-MX" dirty="0" err="1"/>
              <a:t>of</a:t>
            </a:r>
            <a:r>
              <a:rPr lang="es-MX" dirty="0"/>
              <a:t> </a:t>
            </a:r>
            <a:r>
              <a:rPr lang="es-MX" dirty="0" err="1"/>
              <a:t>Physics</a:t>
            </a:r>
            <a:r>
              <a:rPr lang="es-MX" dirty="0"/>
              <a:t>: </a:t>
            </a:r>
            <a:r>
              <a:rPr lang="es-MX" dirty="0" err="1"/>
              <a:t>Conference</a:t>
            </a:r>
            <a:r>
              <a:rPr lang="es-MX" dirty="0"/>
              <a:t> Series, 1831(1), 012008.</a:t>
            </a:r>
          </a:p>
          <a:p>
            <a:r>
              <a:rPr lang="es-MX" dirty="0"/>
              <a:t>    → Excluido por E6: plataforma terrestre, no UAV agrícola</a:t>
            </a:r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73B6EFFE-1DF3-9C36-E944-989AB4AEE7EE}"/>
              </a:ext>
            </a:extLst>
          </p:cNvPr>
          <p:cNvGrpSpPr/>
          <p:nvPr/>
        </p:nvGrpSpPr>
        <p:grpSpPr>
          <a:xfrm>
            <a:off x="192718" y="6100253"/>
            <a:ext cx="10587332" cy="643238"/>
            <a:chOff x="192718" y="6100253"/>
            <a:chExt cx="10587332" cy="643238"/>
          </a:xfrm>
        </p:grpSpPr>
        <p:cxnSp>
          <p:nvCxnSpPr>
            <p:cNvPr id="9" name="Conector recto 8">
              <a:extLst>
                <a:ext uri="{FF2B5EF4-FFF2-40B4-BE49-F238E27FC236}">
                  <a16:creationId xmlns:a16="http://schemas.microsoft.com/office/drawing/2014/main" id="{946F0410-37AF-35B5-148A-84C9CFC73943}"/>
                </a:ext>
              </a:extLst>
            </p:cNvPr>
            <p:cNvCxnSpPr/>
            <p:nvPr/>
          </p:nvCxnSpPr>
          <p:spPr>
            <a:xfrm>
              <a:off x="192718" y="6698870"/>
              <a:ext cx="9095145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0" name="Imagen 9">
              <a:extLst>
                <a:ext uri="{FF2B5EF4-FFF2-40B4-BE49-F238E27FC236}">
                  <a16:creationId xmlns:a16="http://schemas.microsoft.com/office/drawing/2014/main" id="{0B04F532-D873-098D-FA96-D60AA9CEC1B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480581" y="6100253"/>
              <a:ext cx="1299469" cy="64323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740139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257CAA-3838-808C-F97C-46DB4F070A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upo 20">
            <a:extLst>
              <a:ext uri="{FF2B5EF4-FFF2-40B4-BE49-F238E27FC236}">
                <a16:creationId xmlns:a16="http://schemas.microsoft.com/office/drawing/2014/main" id="{2DE31C2A-4A74-845D-22B6-200CA6322D98}"/>
              </a:ext>
            </a:extLst>
          </p:cNvPr>
          <p:cNvGrpSpPr/>
          <p:nvPr/>
        </p:nvGrpSpPr>
        <p:grpSpPr>
          <a:xfrm>
            <a:off x="1" y="227807"/>
            <a:ext cx="12192000" cy="6630193"/>
            <a:chOff x="1" y="227807"/>
            <a:chExt cx="12192000" cy="6630193"/>
          </a:xfrm>
        </p:grpSpPr>
        <p:pic>
          <p:nvPicPr>
            <p:cNvPr id="6" name="Imagen 5">
              <a:extLst>
                <a:ext uri="{FF2B5EF4-FFF2-40B4-BE49-F238E27FC236}">
                  <a16:creationId xmlns:a16="http://schemas.microsoft.com/office/drawing/2014/main" id="{13D8EA47-66EC-8F37-E78C-2B1D32A8C30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23046" b="4033"/>
            <a:stretch>
              <a:fillRect/>
            </a:stretch>
          </p:blipFill>
          <p:spPr>
            <a:xfrm>
              <a:off x="1" y="1072968"/>
              <a:ext cx="12192000" cy="5785032"/>
            </a:xfrm>
            <a:prstGeom prst="rect">
              <a:avLst/>
            </a:prstGeom>
          </p:spPr>
        </p:pic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758DF1A3-9979-3EC8-9273-1C7AAD7536A7}"/>
                </a:ext>
              </a:extLst>
            </p:cNvPr>
            <p:cNvSpPr/>
            <p:nvPr/>
          </p:nvSpPr>
          <p:spPr>
            <a:xfrm>
              <a:off x="5791200" y="2481943"/>
              <a:ext cx="6400799" cy="1981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grpSp>
          <p:nvGrpSpPr>
            <p:cNvPr id="8" name="Grupo 7">
              <a:extLst>
                <a:ext uri="{FF2B5EF4-FFF2-40B4-BE49-F238E27FC236}">
                  <a16:creationId xmlns:a16="http://schemas.microsoft.com/office/drawing/2014/main" id="{8B159B46-0C8D-2753-3F4D-18609F5CD9DE}"/>
                </a:ext>
              </a:extLst>
            </p:cNvPr>
            <p:cNvGrpSpPr/>
            <p:nvPr/>
          </p:nvGrpSpPr>
          <p:grpSpPr>
            <a:xfrm>
              <a:off x="6004101" y="227807"/>
              <a:ext cx="5974995" cy="653936"/>
              <a:chOff x="121005" y="153829"/>
              <a:chExt cx="5974995" cy="653936"/>
            </a:xfrm>
            <a:noFill/>
          </p:grpSpPr>
          <p:pic>
            <p:nvPicPr>
              <p:cNvPr id="9" name="Imagen 8">
                <a:extLst>
                  <a:ext uri="{FF2B5EF4-FFF2-40B4-BE49-F238E27FC236}">
                    <a16:creationId xmlns:a16="http://schemas.microsoft.com/office/drawing/2014/main" id="{43E0ABB8-5477-677A-2E75-EBDA5E8A7D5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21005" y="186988"/>
                <a:ext cx="4869740" cy="609409"/>
              </a:xfrm>
              <a:prstGeom prst="rect">
                <a:avLst/>
              </a:prstGeom>
              <a:grpFill/>
            </p:spPr>
          </p:pic>
          <p:pic>
            <p:nvPicPr>
              <p:cNvPr id="10" name="Imagen 9">
                <a:extLst>
                  <a:ext uri="{FF2B5EF4-FFF2-40B4-BE49-F238E27FC236}">
                    <a16:creationId xmlns:a16="http://schemas.microsoft.com/office/drawing/2014/main" id="{4FE79585-A855-3DF6-7AE6-1BA25C26649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>
                <a:clrChange>
                  <a:clrFrom>
                    <a:srgbClr val="FBFBFB"/>
                  </a:clrFrom>
                  <a:clrTo>
                    <a:srgbClr val="FBFBFB">
                      <a:alpha val="0"/>
                    </a:srgbClr>
                  </a:clrTo>
                </a:clrChange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442064" y="153829"/>
                <a:ext cx="653936" cy="653936"/>
              </a:xfrm>
              <a:prstGeom prst="rect">
                <a:avLst/>
              </a:prstGeom>
              <a:grpFill/>
            </p:spPr>
          </p:pic>
          <p:cxnSp>
            <p:nvCxnSpPr>
              <p:cNvPr id="11" name="Conector recto 10">
                <a:extLst>
                  <a:ext uri="{FF2B5EF4-FFF2-40B4-BE49-F238E27FC236}">
                    <a16:creationId xmlns:a16="http://schemas.microsoft.com/office/drawing/2014/main" id="{6D2EDBA5-1499-435E-DFBE-3F0EFF25D3CE}"/>
                  </a:ext>
                </a:extLst>
              </p:cNvPr>
              <p:cNvCxnSpPr/>
              <p:nvPr/>
            </p:nvCxnSpPr>
            <p:spPr>
              <a:xfrm>
                <a:off x="3293806" y="273477"/>
                <a:ext cx="0" cy="414640"/>
              </a:xfrm>
              <a:prstGeom prst="line">
                <a:avLst/>
              </a:prstGeom>
              <a:grpFill/>
              <a:ln w="1905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Conector recto 11">
                <a:extLst>
                  <a:ext uri="{FF2B5EF4-FFF2-40B4-BE49-F238E27FC236}">
                    <a16:creationId xmlns:a16="http://schemas.microsoft.com/office/drawing/2014/main" id="{99206FE3-0CF8-CFD6-7227-82A6EAFC560E}"/>
                  </a:ext>
                </a:extLst>
              </p:cNvPr>
              <p:cNvCxnSpPr/>
              <p:nvPr/>
            </p:nvCxnSpPr>
            <p:spPr>
              <a:xfrm>
                <a:off x="5185554" y="268184"/>
                <a:ext cx="0" cy="414640"/>
              </a:xfrm>
              <a:prstGeom prst="line">
                <a:avLst/>
              </a:prstGeom>
              <a:grpFill/>
              <a:ln w="1905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16" name="Imagen 5">
              <a:extLst>
                <a:ext uri="{FF2B5EF4-FFF2-40B4-BE49-F238E27FC236}">
                  <a16:creationId xmlns:a16="http://schemas.microsoft.com/office/drawing/2014/main" id="{554377E9-62D4-4A73-284F-8F4C5A19304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3220" y="6027579"/>
              <a:ext cx="1028682" cy="60940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" name="Imagen 19">
              <a:extLst>
                <a:ext uri="{FF2B5EF4-FFF2-40B4-BE49-F238E27FC236}">
                  <a16:creationId xmlns:a16="http://schemas.microsoft.com/office/drawing/2014/main" id="{4A0AEE54-DCB4-CC37-20C0-11B8AC385DC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91902" y="6052737"/>
              <a:ext cx="3350810" cy="805263"/>
            </a:xfrm>
            <a:prstGeom prst="rect">
              <a:avLst/>
            </a:prstGeom>
          </p:spPr>
        </p:pic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46E3EB36-92CB-7025-44FD-40883E28FE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6114" y="1016149"/>
            <a:ext cx="10515974" cy="1020697"/>
          </a:xfrm>
        </p:spPr>
        <p:txBody>
          <a:bodyPr anchor="b">
            <a:normAutofit fontScale="90000"/>
          </a:bodyPr>
          <a:lstStyle/>
          <a:p>
            <a:pPr algn="ctr"/>
            <a:r>
              <a:rPr lang="es-MX" sz="6000" dirty="0"/>
              <a:t>AGRADEZCO SU ATENCIÓN</a:t>
            </a:r>
          </a:p>
        </p:txBody>
      </p:sp>
      <p:grpSp>
        <p:nvGrpSpPr>
          <p:cNvPr id="15" name="Grupo 14">
            <a:extLst>
              <a:ext uri="{FF2B5EF4-FFF2-40B4-BE49-F238E27FC236}">
                <a16:creationId xmlns:a16="http://schemas.microsoft.com/office/drawing/2014/main" id="{0A394CAA-D344-5F54-8BE4-3B5CF0FC5782}"/>
              </a:ext>
            </a:extLst>
          </p:cNvPr>
          <p:cNvGrpSpPr/>
          <p:nvPr/>
        </p:nvGrpSpPr>
        <p:grpSpPr>
          <a:xfrm>
            <a:off x="4742712" y="6027579"/>
            <a:ext cx="7236384" cy="643238"/>
            <a:chOff x="4742712" y="6027579"/>
            <a:chExt cx="7236384" cy="643238"/>
          </a:xfrm>
        </p:grpSpPr>
        <p:cxnSp>
          <p:nvCxnSpPr>
            <p:cNvPr id="4" name="Conector recto 3">
              <a:extLst>
                <a:ext uri="{FF2B5EF4-FFF2-40B4-BE49-F238E27FC236}">
                  <a16:creationId xmlns:a16="http://schemas.microsoft.com/office/drawing/2014/main" id="{91CF8156-2838-72F9-C90F-8AE81E26491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42712" y="6626196"/>
              <a:ext cx="5744197" cy="10792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" name="Imagen 4">
              <a:extLst>
                <a:ext uri="{FF2B5EF4-FFF2-40B4-BE49-F238E27FC236}">
                  <a16:creationId xmlns:a16="http://schemas.microsoft.com/office/drawing/2014/main" id="{3E4C566B-DB14-66EA-E390-A4BDB3DE28A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0679627" y="6027579"/>
              <a:ext cx="1299469" cy="643238"/>
            </a:xfrm>
            <a:prstGeom prst="rect">
              <a:avLst/>
            </a:prstGeom>
          </p:spPr>
        </p:pic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27214528-778E-5D70-323E-C6A14F6D72F5}"/>
              </a:ext>
            </a:extLst>
          </p:cNvPr>
          <p:cNvSpPr txBox="1"/>
          <p:nvPr/>
        </p:nvSpPr>
        <p:spPr>
          <a:xfrm>
            <a:off x="4218035" y="2213511"/>
            <a:ext cx="7908541" cy="2523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"La naturaleza no necesita un líder central para coordinar miles de agentes:</a:t>
            </a:r>
          </a:p>
          <a:p>
            <a:r>
              <a:rPr lang="es-MX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las hormigas encuentran rutas óptimas mediante feromonas locales (ACO),</a:t>
            </a:r>
          </a:p>
          <a:p>
            <a:r>
              <a:rPr lang="es-MX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y las bandadas ajustan posiciones mediante interacciones simples (PSO).</a:t>
            </a:r>
          </a:p>
          <a:p>
            <a:endParaRPr lang="es-MX" sz="20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es-MX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Esta inteligencia colectiva descentralizada es la clave para flotas de RPAS</a:t>
            </a:r>
          </a:p>
          <a:p>
            <a:r>
              <a:rPr lang="es-MX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robustas, escalables y adaptables a la agricultura de precisión."</a:t>
            </a:r>
          </a:p>
          <a:p>
            <a:endParaRPr lang="es-MX" dirty="0"/>
          </a:p>
          <a:p>
            <a:r>
              <a:rPr lang="es-MX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Inspirado en </a:t>
            </a:r>
            <a:r>
              <a:rPr lang="es-MX" sz="2000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Couzin</a:t>
            </a:r>
            <a:r>
              <a:rPr lang="es-MX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 (2005) y </a:t>
            </a:r>
            <a:r>
              <a:rPr lang="es-MX" sz="2000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Dorigo</a:t>
            </a:r>
            <a:r>
              <a:rPr lang="es-MX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 (1992).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C71AACC-8B97-39B2-D8B0-5D04B06905E9}"/>
              </a:ext>
            </a:extLst>
          </p:cNvPr>
          <p:cNvSpPr txBox="1"/>
          <p:nvPr/>
        </p:nvSpPr>
        <p:spPr>
          <a:xfrm>
            <a:off x="6402566" y="4666459"/>
            <a:ext cx="5724010" cy="20467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─────────────────────────────────────────</a:t>
            </a:r>
          </a:p>
          <a:p>
            <a:r>
              <a:rPr lang="es-MX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RECURSOS ABIERTOS Y CONTACTO</a:t>
            </a:r>
          </a:p>
          <a:p>
            <a:r>
              <a:rPr lang="es-MX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• Revisión sistemática + </a:t>
            </a:r>
            <a:r>
              <a:rPr lang="es-MX" sz="1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dataset</a:t>
            </a:r>
            <a:r>
              <a:rPr lang="es-MX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: DOI 10.17605/OSF.IO/64DQ9</a:t>
            </a:r>
          </a:p>
          <a:p>
            <a:r>
              <a:rPr lang="es-MX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• Protocolo completo + PRISMA </a:t>
            </a:r>
            <a:r>
              <a:rPr lang="es-MX" sz="1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checklist</a:t>
            </a:r>
            <a:r>
              <a:rPr lang="es-MX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: Suplemento S1</a:t>
            </a:r>
          </a:p>
          <a:p>
            <a:endParaRPr lang="es-MX" sz="1600" dirty="0">
              <a:solidFill>
                <a:schemeClr val="tx1">
                  <a:lumMod val="50000"/>
                  <a:lumOff val="50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es-MX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andres.hidalgo@tecchihuahua2.edu.mx</a:t>
            </a:r>
          </a:p>
          <a:p>
            <a:r>
              <a:rPr lang="es-MX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ORCID: 0000-0002-1074-9395</a:t>
            </a:r>
          </a:p>
          <a:p>
            <a:r>
              <a:rPr lang="es-MX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Instituto Tecnológico de Chihuahua II, TecNM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24F8A15-7F3A-433A-B010-F96A947396B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8405" y="2247380"/>
            <a:ext cx="4079628" cy="2713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5341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AccentBoxVTI">
  <a:themeElements>
    <a:clrScheme name="AccentBoxVTI">
      <a:dk1>
        <a:srgbClr val="000000"/>
      </a:dk1>
      <a:lt1>
        <a:sysClr val="window" lastClr="FFFFFF"/>
      </a:lt1>
      <a:dk2>
        <a:srgbClr val="262626"/>
      </a:dk2>
      <a:lt2>
        <a:srgbClr val="FFFFFF"/>
      </a:lt2>
      <a:accent1>
        <a:srgbClr val="F5A700"/>
      </a:accent1>
      <a:accent2>
        <a:srgbClr val="00A5AB"/>
      </a:accent2>
      <a:accent3>
        <a:srgbClr val="09963B"/>
      </a:accent3>
      <a:accent4>
        <a:srgbClr val="E64823"/>
      </a:accent4>
      <a:accent5>
        <a:srgbClr val="9C6A6A"/>
      </a:accent5>
      <a:accent6>
        <a:srgbClr val="824F8C"/>
      </a:accent6>
      <a:hlink>
        <a:srgbClr val="2998E3"/>
      </a:hlink>
      <a:folHlink>
        <a:srgbClr val="7F723D"/>
      </a:folHlink>
    </a:clrScheme>
    <a:fontScheme name="Avenir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ntBoxVTI" id="{9F778A78-DC9A-453A-A82D-A75CAD503E15}" vid="{EA961113-7CC4-4569-8A6A-7BC2C1E2F401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7397</TotalTime>
  <Words>2854</Words>
  <Application>Microsoft Office PowerPoint</Application>
  <PresentationFormat>Widescreen</PresentationFormat>
  <Paragraphs>313</Paragraphs>
  <Slides>21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2" baseType="lpstr">
      <vt:lpstr>Aptos</vt:lpstr>
      <vt:lpstr>Arial</vt:lpstr>
      <vt:lpstr>Calibri</vt:lpstr>
      <vt:lpstr>Calibri Light</vt:lpstr>
      <vt:lpstr>Libre Baskerville</vt:lpstr>
      <vt:lpstr>Neue Haas Grotesk Text Pro</vt:lpstr>
      <vt:lpstr>Platypi Medium</vt:lpstr>
      <vt:lpstr>Segoe UI Emoji</vt:lpstr>
      <vt:lpstr>Source Serif 4</vt:lpstr>
      <vt:lpstr>Wingdings</vt:lpstr>
      <vt:lpstr>AccentBoxVTI</vt:lpstr>
      <vt:lpstr>“COORDINACIÓN DESCENTRALIZADA DE FLOTAS HETEROGÉNEAS DE RPAS  MEDIANTE HIBRIDACIÓN PSO-ACO PARA AGRICULTURA DE PRECISIÓN”</vt:lpstr>
      <vt:lpstr>CONTENIDO</vt:lpstr>
      <vt:lpstr>INTRODUCCIÓN</vt:lpstr>
      <vt:lpstr>INTRODUCCIÓN</vt:lpstr>
      <vt:lpstr>INTRODUCCIÓN</vt:lpstr>
      <vt:lpstr>INTRODUCCIÓN</vt:lpstr>
      <vt:lpstr>INTRODUCCIÓN</vt:lpstr>
      <vt:lpstr>INTRODUCCIÓN</vt:lpstr>
      <vt:lpstr>JUSTIFICACIÓN</vt:lpstr>
      <vt:lpstr>JUSTIFICACIÓN</vt:lpstr>
      <vt:lpstr>JUSTIFICACIÓN</vt:lpstr>
      <vt:lpstr>OBJETIVOS</vt:lpstr>
      <vt:lpstr>OBJETIVOS</vt:lpstr>
      <vt:lpstr>METODOLOGÍA</vt:lpstr>
      <vt:lpstr>METODOLOGÍA</vt:lpstr>
      <vt:lpstr>METODOLOGÍA</vt:lpstr>
      <vt:lpstr>METODOLOGÍA</vt:lpstr>
      <vt:lpstr>METODOLOGÍA</vt:lpstr>
      <vt:lpstr>REFERENCIAS BIBLIOGRÁFICAS</vt:lpstr>
      <vt:lpstr>REFERENCIAS BIBLIOGRÁFICAS</vt:lpstr>
      <vt:lpstr>AGRADEZCO SU ATENCIÓN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MUESTREO</dc:title>
  <dc:creator>ESTEFANÍA EILEEN MENDOZA ORTEGA</dc:creator>
  <cp:lastModifiedBy>Andres Hidalgo</cp:lastModifiedBy>
  <cp:revision>151</cp:revision>
  <dcterms:created xsi:type="dcterms:W3CDTF">2024-05-13T14:06:05Z</dcterms:created>
  <dcterms:modified xsi:type="dcterms:W3CDTF">2026-04-12T05:23:37Z</dcterms:modified>
</cp:coreProperties>
</file>